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C9FF"/>
                </a:solidFill>
                <a:latin typeface="Calibri"/>
              </a:defRPr>
            </a:pPr>
            <a:r>
              <a:t>6G AI-Based Secure Channel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Calibri"/>
              </a:defRPr>
            </a:pPr>
            <a:r>
              <a:t>End-to-end implementation — dataset, multi-agent PHY intelligence,</a:t>
            </a:r>
            <a:br/>
            <a:r>
              <a:t>digital twin, attack mitigation, dashboard, and 3GPP-aligned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C451"/>
                </a:solidFill>
                <a:latin typeface="Calibri"/>
              </a:defRPr>
            </a:pPr>
            <a:r>
              <a:t>3GPP TR 38.901 · TS 38.211 · TR 38.843 · TR 38.811 · Nokia RAN1 R1-2506757 · O-RAN 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Calibri"/>
              </a:defRPr>
            </a:pPr>
            <a:r>
              <a:t>StrongHER  |  Swetha Kerahalli  |  System Architect, MI RRD AS Algo Innov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C9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Calibri"/>
              </a:defRPr>
            </a:pPr>
            <a:r>
              <a:t>1.  Problem and 3GPP-aligned opportunity</a:t>
            </a:r>
            <a:br/>
            <a:r>
              <a:t>2.  Architecture: ten agents + digital twin + O-RAN mapping</a:t>
            </a:r>
            <a:br/>
            <a:r>
              <a:t>3.  Synthetic dataset (≥60k) from CDL/TDL, NTN, THz, RIS</a:t>
            </a:r>
            <a:br/>
            <a:r>
              <a:t>4.  Train / validation / test of every model</a:t>
            </a:r>
            <a:br/>
            <a:r>
              <a:t>5.  LS vs MMSE vs AI ensemble — NMSE, BER, SE</a:t>
            </a:r>
            <a:br/>
            <a:r>
              <a:t>6.  Security classification and autonomous mitigation</a:t>
            </a:r>
            <a:br/>
            <a:r>
              <a:t>7.  Digital twin visualizations and closed loop</a:t>
            </a:r>
            <a:br/>
            <a:r>
              <a:t>8.  Dashboard, chatbot, knowledge sources,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C9FF"/>
                </a:solidFill>
                <a:latin typeface="Calibri"/>
              </a:defRPr>
            </a:pPr>
            <a:r>
              <a:t>The 6G CSI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alibri"/>
              </a:defRPr>
            </a:pPr>
            <a:r>
              <a:t>• LS/MMSE break under THz blockage, RIS, ultra-massive MIMO, NTN Doppler</a:t>
            </a:r>
            <a:br/>
            <a:r>
              <a:t>• Pilot overhead explodes as Nt × Nr and bandwidth grow</a:t>
            </a:r>
            <a:br/>
            <a:r>
              <a:t>• No native CSI prediction → reactive, not proactive RAN</a:t>
            </a:r>
            <a:br/>
            <a:r>
              <a:t>• Pilot contamination, jamming, spoofing, poisoning, adversarial CSI</a:t>
            </a:r>
            <a:br/>
            <a:r>
              <a:t>• Need an AI-native, self-securing channel intelligence plane</a:t>
            </a:r>
            <a:br/>
            <a:r>
              <a:t>  aligned with Rel-18/19/20 (TR 38.843) and 6G RAN1 studies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C9FF"/>
                </a:solidFill>
                <a:latin typeface="Calibri"/>
              </a:defRPr>
            </a:pPr>
            <a:r>
              <a:t>Multi-agent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Calibri"/>
              </a:defRPr>
            </a:pPr>
            <a:r>
              <a:t>Channel Agent     CNN+LSTM+Transformer+GNN ensemble CSI estimate</a:t>
            </a:r>
            <a:br/>
            <a:r>
              <a:t>CSI Prediction    Reduce pilots when forecast accuracy is high</a:t>
            </a:r>
            <a:br/>
            <a:r>
              <a:t>Security Agent    Multi-class attack detection (RF) + IsolationForest</a:t>
            </a:r>
            <a:br/>
            <a:r>
              <a:t>Mitigation Agent  Pilot reassign / beam switch / hop / trust / FL retrain</a:t>
            </a:r>
            <a:br/>
            <a:r>
              <a:t>Beam Agent        Spatial beam index from SNR, Doppler, array size</a:t>
            </a:r>
            <a:br/>
            <a:r>
              <a:t>Mobility Agent    Predictive handover from velocity + neighbor RSRP</a:t>
            </a:r>
            <a:br/>
            <a:r>
              <a:t>Optimization      Spectral efficiency vs pilot overhead</a:t>
            </a:r>
            <a:br/>
            <a:r>
              <a:t>Digital Twin      Fidelity-gated policy validation</a:t>
            </a:r>
            <a:br/>
            <a:r>
              <a:t>Explainability    Permutation importance for operator trust</a:t>
            </a:r>
            <a:br/>
            <a:r>
              <a:t>Orchestrator      Global policy fusion for Near-RT RIC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C9FF"/>
                </a:solidFill>
                <a:latin typeface="Calibri"/>
              </a:defRPr>
            </a:pPr>
            <a:r>
              <a:t>3GPP-aligned synthetic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5C451"/>
                </a:solidFill>
                <a:latin typeface="Calibri"/>
              </a:defRPr>
            </a:pPr>
            <a:r>
              <a:t>45500 train  ·  9750 validation  ·  9750 test   (≥ 60,000 rows)</a:t>
            </a:r>
          </a:p>
        </p:txBody>
      </p:sp>
      <p:pic>
        <p:nvPicPr>
          <p:cNvPr id="4" name="Picture 3" descr="hist_dataset_spl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338560" cy="6589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C9FF"/>
                </a:solidFill>
                <a:latin typeface="Calibri"/>
              </a:defRPr>
            </a:pPr>
            <a:r>
              <a:t>LS vs MMSE vs AI  —  test NMSE / BER / 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5C451"/>
                </a:solidFill>
                <a:latin typeface="Calibri"/>
              </a:defRPr>
            </a:pPr>
            <a:r>
              <a:t>NMSE Δ 38.24%   BER Δ 33.36%   SE Δ 9.78%</a:t>
            </a:r>
          </a:p>
        </p:txBody>
      </p:sp>
      <p:pic>
        <p:nvPicPr>
          <p:cNvPr id="4" name="Picture 3" descr="benchmark_ls_mmse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338560" cy="3773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C9FF"/>
                </a:solidFill>
                <a:latin typeface="Calibri"/>
              </a:defRPr>
            </a:pPr>
            <a:r>
              <a:t>Estimator NMSE CDFs and scenario CDFs</a:t>
            </a:r>
          </a:p>
        </p:txBody>
      </p:sp>
      <p:pic>
        <p:nvPicPr>
          <p:cNvPr id="3" name="Picture 2" descr="cdf_nmse_estim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669280" cy="3585792"/>
          </a:xfrm>
          <a:prstGeom prst="rect">
            <a:avLst/>
          </a:prstGeom>
        </p:spPr>
      </p:pic>
      <p:pic>
        <p:nvPicPr>
          <p:cNvPr id="4" name="Picture 3" descr="cdf_scenario_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822960"/>
            <a:ext cx="5852160" cy="19430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C9FF"/>
                </a:solidFill>
                <a:latin typeface="Calibri"/>
              </a:defRPr>
            </a:pPr>
            <a:r>
              <a:t>Heatmaps — correlation and scenario × profile NMSE</a:t>
            </a:r>
          </a:p>
        </p:txBody>
      </p:sp>
      <p:pic>
        <p:nvPicPr>
          <p:cNvPr id="3" name="Picture 2" descr="heatmap_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5760720" cy="4630991"/>
          </a:xfrm>
          <a:prstGeom prst="rect">
            <a:avLst/>
          </a:prstGeom>
        </p:spPr>
      </p:pic>
      <p:pic>
        <p:nvPicPr>
          <p:cNvPr id="4" name="Picture 3" descr="heatmap_scenario_profile_n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77240"/>
            <a:ext cx="5760720" cy="33474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C9FF"/>
                </a:solidFill>
                <a:latin typeface="Calibri"/>
              </a:defRPr>
            </a:pPr>
            <a:r>
              <a:t>Train / validation / test by agent</a:t>
            </a:r>
          </a:p>
        </p:txBody>
      </p:sp>
      <p:pic>
        <p:nvPicPr>
          <p:cNvPr id="3" name="Picture 2" descr="model_train_val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11338560" cy="48712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C9FF"/>
                </a:solidFill>
                <a:latin typeface="Calibri"/>
              </a:defRPr>
            </a:pPr>
            <a:r>
              <a:t>Security agent — classification, ROC, scatter</a:t>
            </a:r>
          </a:p>
        </p:txBody>
      </p:sp>
      <p:pic>
        <p:nvPicPr>
          <p:cNvPr id="3" name="Picture 2" descr="classification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77240"/>
            <a:ext cx="5852160" cy="5604079"/>
          </a:xfrm>
          <a:prstGeom prst="rect">
            <a:avLst/>
          </a:prstGeom>
        </p:spPr>
      </p:pic>
      <p:pic>
        <p:nvPicPr>
          <p:cNvPr id="4" name="Picture 3" descr="classification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77240"/>
            <a:ext cx="5669280" cy="46880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C9FF"/>
                </a:solidFill>
                <a:latin typeface="Calibri"/>
              </a:defRPr>
            </a:pPr>
            <a:r>
              <a:t>Digital twin — cell map and fidelity loop</a:t>
            </a:r>
          </a:p>
        </p:txBody>
      </p:sp>
      <p:pic>
        <p:nvPicPr>
          <p:cNvPr id="3" name="Picture 2" descr="digital_twi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5760720" cy="4970807"/>
          </a:xfrm>
          <a:prstGeom prst="rect">
            <a:avLst/>
          </a:prstGeom>
        </p:spPr>
      </p:pic>
      <p:pic>
        <p:nvPicPr>
          <p:cNvPr id="4" name="Picture 3" descr="digital_twin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77240"/>
            <a:ext cx="5760720" cy="28244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C9FF"/>
                </a:solidFill>
                <a:latin typeface="Calibri"/>
              </a:defRPr>
            </a:pPr>
            <a:r>
              <a:t>Overall architecture evaluation</a:t>
            </a:r>
          </a:p>
        </p:txBody>
      </p:sp>
      <p:pic>
        <p:nvPicPr>
          <p:cNvPr id="3" name="Picture 2" descr="architecture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5943600" cy="4296841"/>
          </a:xfrm>
          <a:prstGeom prst="rect">
            <a:avLst/>
          </a:prstGeom>
        </p:spPr>
      </p:pic>
      <p:pic>
        <p:nvPicPr>
          <p:cNvPr id="4" name="Picture 3" descr="architecture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31520"/>
            <a:ext cx="5303520" cy="4122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C9FF"/>
                </a:solidFill>
                <a:latin typeface="Calibri"/>
              </a:defRPr>
            </a:pPr>
            <a:r>
              <a:t>Knowledge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Calibri"/>
              </a:defRPr>
            </a:pPr>
            <a:r>
              <a:t>3GPP.org   TR 38.901 CDL/TDL · TS 38.211 DMRS/CSI-RS · TR 38.843 AI/ML AiF · TR 38.811 NTN</a:t>
            </a:r>
            <a:br/>
            <a:br/>
            <a:r>
              <a:t>System Insights   CFAM RP003187 DMRS channel estimation (5GMax / 5G_L1_2794)</a:t>
            </a:r>
            <a:br/>
            <a:br/>
            <a:r>
              <a:t>SharePoint   R1-2506757 6G AI/ML use cases · PHY AI radio deep dive · RAN1#126 · RAN4#120</a:t>
            </a:r>
            <a:br/>
            <a:br/>
            <a:r>
              <a:t>Confluence   EE spaces queried (NRAC, RFSW); no indexed hits on this client</a:t>
            </a:r>
            <a:br/>
            <a:br/>
            <a:r>
              <a:t>CCFK   Nokia CSF dashboard components (Autonomous RAN pattern)</a:t>
            </a:r>
            <a:br/>
            <a:br/>
            <a:r>
              <a:t>agent-shim   clone blocked on scm.cci.nokia.net auth — local shim adapter provided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C9FF"/>
                </a:solidFill>
                <a:latin typeface="Calibri"/>
              </a:defRPr>
            </a:pPr>
            <a:r>
              <a:t>Run 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Calibri"/>
              </a:defRPr>
            </a:pPr>
            <a:r>
              <a:t>cd Swetha_StrongHER_projects/6G_AI_Channel_Estimation/code</a:t>
            </a:r>
            <a:br/>
            <a:r>
              <a:t>pip install -r requirements.txt</a:t>
            </a:r>
            <a:br/>
            <a:r>
              <a:t>python scripts/run_end_to_end.py</a:t>
            </a:r>
            <a:br/>
            <a:r>
              <a:t>python scripts/run_api_server.py</a:t>
            </a:r>
            <a:br/>
            <a:br/>
            <a:r>
              <a:t>Dashboard   http://localhost:8090/dashboard</a:t>
            </a:r>
            <a:br/>
            <a:r>
              <a:t>API         http://localhost:8090/docs</a:t>
            </a:r>
            <a:br/>
            <a:r>
              <a:t>Slides      docs/6G_AI_CE_E2E_Implementation.pptx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C9FF"/>
                </a:solidFill>
                <a:latin typeface="Calibri"/>
              </a:defRPr>
            </a:pPr>
            <a:r>
              <a:t>AI-native, self-securing 6G channel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017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Calibri"/>
              </a:defRPr>
            </a:pPr>
            <a:r>
              <a:t>Accurate CSI  ·  Predicted CSI  ·  Detected attacks  ·  Mitigated threats</a:t>
            </a:r>
            <a:br/>
            <a:r>
              <a:t>Twin-validated policies  ·  O-RAN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C451"/>
                </a:solidFill>
                <a:latin typeface="Calibri"/>
              </a:defRPr>
            </a:pPr>
            <a:r>
              <a:t>Nokia confidential — StrongHER internal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