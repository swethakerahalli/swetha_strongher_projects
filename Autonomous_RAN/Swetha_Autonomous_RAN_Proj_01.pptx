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6"/>
  </p:sldMasterIdLst>
  <p:notesMasterIdLst>
    <p:notesMasterId r:id="rId54"/>
  </p:notesMasterIdLst>
  <p:handoutMasterIdLst>
    <p:handoutMasterId r:id="rId55"/>
  </p:handoutMasterIdLst>
  <p:sldIdLst>
    <p:sldId id="2147474949" r:id="rId7"/>
    <p:sldId id="2147474953" r:id="rId8"/>
    <p:sldId id="2147475009" r:id="rId9"/>
    <p:sldId id="2147475010" r:id="rId10"/>
    <p:sldId id="2147474991" r:id="rId11"/>
    <p:sldId id="2147474992" r:id="rId12"/>
    <p:sldId id="2147474993" r:id="rId13"/>
    <p:sldId id="2147474994" r:id="rId14"/>
    <p:sldId id="2147474995" r:id="rId15"/>
    <p:sldId id="2147474996" r:id="rId16"/>
    <p:sldId id="2147474997" r:id="rId17"/>
    <p:sldId id="2147474998" r:id="rId18"/>
    <p:sldId id="2147474999" r:id="rId19"/>
    <p:sldId id="2147475000" r:id="rId20"/>
    <p:sldId id="2147475001" r:id="rId21"/>
    <p:sldId id="2147475002" r:id="rId22"/>
    <p:sldId id="2147475005" r:id="rId23"/>
    <p:sldId id="2147475007" r:id="rId24"/>
    <p:sldId id="2147475008" r:id="rId25"/>
    <p:sldId id="2147474989" r:id="rId26"/>
    <p:sldId id="2147474990" r:id="rId27"/>
    <p:sldId id="2147475011" r:id="rId28"/>
    <p:sldId id="2147475012" r:id="rId29"/>
    <p:sldId id="2147475013" r:id="rId30"/>
    <p:sldId id="2147475014" r:id="rId31"/>
    <p:sldId id="2147475015" r:id="rId32"/>
    <p:sldId id="2147475016" r:id="rId33"/>
    <p:sldId id="2147475017" r:id="rId34"/>
    <p:sldId id="2147475018" r:id="rId35"/>
    <p:sldId id="2147475019" r:id="rId36"/>
    <p:sldId id="2147475020" r:id="rId37"/>
    <p:sldId id="2147475021" r:id="rId38"/>
    <p:sldId id="2147475022" r:id="rId39"/>
    <p:sldId id="2147475023" r:id="rId40"/>
    <p:sldId id="2147475024" r:id="rId41"/>
    <p:sldId id="2147475025" r:id="rId42"/>
    <p:sldId id="2147475026" r:id="rId43"/>
    <p:sldId id="2147475027" r:id="rId44"/>
    <p:sldId id="2147475028" r:id="rId45"/>
    <p:sldId id="2147475029" r:id="rId46"/>
    <p:sldId id="2147475030" r:id="rId47"/>
    <p:sldId id="2147475031" r:id="rId48"/>
    <p:sldId id="2147475032" r:id="rId49"/>
    <p:sldId id="2147475033" r:id="rId50"/>
    <p:sldId id="2134805283" r:id="rId51"/>
    <p:sldId id="270" r:id="rId52"/>
    <p:sldId id="2134805286" r:id="rId5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135"/>
    <a:srgbClr val="00000E"/>
    <a:srgbClr val="F2F2F2"/>
    <a:srgbClr val="F9F9F9"/>
    <a:srgbClr val="EBEBEB"/>
    <a:srgbClr val="CCCCCC"/>
    <a:srgbClr val="FF3154"/>
    <a:srgbClr val="001D47"/>
    <a:srgbClr val="0A0908"/>
    <a:srgbClr val="FF8B1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84" d="100"/>
          <a:sy n="84" d="100"/>
        </p:scale>
        <p:origin x="804" y="56"/>
      </p:cViewPr>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62" d="100"/>
          <a:sy n="62" d="100"/>
        </p:scale>
        <p:origin x="2357"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handoutMaster" Target="handoutMasters/handout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theme" Target="theme/theme1.xml"/><Relationship Id="rId5" Type="http://schemas.openxmlformats.org/officeDocument/2006/relationships/customXml" Target="../customXml/item5.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viewProps" Target="view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microsoft.com/office/2018/10/relationships/authors" Target="authors.xml"/></Relationships>
</file>

<file path=ppt/_rels/viewProps.xml.rels><?xml version="1.0" encoding="UTF-8" standalone="yes"?>
<Relationships xmlns="http://schemas.openxmlformats.org/package/2006/relationships"><Relationship Id="rId1"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B4792F-1C1F-0D17-7AA4-5C5020823D8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97D83F5-344D-BAE4-C8A2-71BA3CC5E41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DF5385-C229-4E76-AB53-F96E0BF89089}" type="datetimeFigureOut">
              <a:rPr lang="en-US" smtClean="0"/>
              <a:t>18-Jun-26</a:t>
            </a:fld>
            <a:endParaRPr lang="en-US"/>
          </a:p>
        </p:txBody>
      </p:sp>
      <p:sp>
        <p:nvSpPr>
          <p:cNvPr id="4" name="Footer Placeholder 3">
            <a:extLst>
              <a:ext uri="{FF2B5EF4-FFF2-40B4-BE49-F238E27FC236}">
                <a16:creationId xmlns:a16="http://schemas.microsoft.com/office/drawing/2014/main" id="{99E43308-3D00-ED32-3882-ECB453AF02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3047575-0E03-09FC-41EA-B8C221864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0760E2-E849-4EFC-A610-8FAC19CC5578}" type="slidenum">
              <a:rPr lang="en-US" smtClean="0"/>
              <a:t>‹#›</a:t>
            </a:fld>
            <a:endParaRPr lang="en-US"/>
          </a:p>
        </p:txBody>
      </p:sp>
    </p:spTree>
    <p:extLst>
      <p:ext uri="{BB962C8B-B14F-4D97-AF65-F5344CB8AC3E}">
        <p14:creationId xmlns:p14="http://schemas.microsoft.com/office/powerpoint/2010/main" val="20661069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03831C-DEBA-4A3A-8C36-FD8115E217DA}" type="datetimeFigureOut">
              <a:rPr lang="en-US" smtClean="0"/>
              <a:t>18-Jun-26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4EF5B-ECC8-43EE-A509-D601DDF42AD0}" type="slidenum">
              <a:rPr lang="en-US" smtClean="0"/>
              <a:t>‹#›</a:t>
            </a:fld>
            <a:endParaRPr lang="en-US"/>
          </a:p>
        </p:txBody>
      </p:sp>
    </p:spTree>
    <p:extLst>
      <p:ext uri="{BB962C8B-B14F-4D97-AF65-F5344CB8AC3E}">
        <p14:creationId xmlns:p14="http://schemas.microsoft.com/office/powerpoint/2010/main" val="211518043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4EF5B-ECC8-43EE-A509-D601DDF42AD0}" type="slidenum">
              <a:rPr lang="en-US" smtClean="0"/>
              <a:t>24</a:t>
            </a:fld>
            <a:endParaRPr lang="en-US"/>
          </a:p>
        </p:txBody>
      </p:sp>
    </p:spTree>
    <p:extLst>
      <p:ext uri="{BB962C8B-B14F-4D97-AF65-F5344CB8AC3E}">
        <p14:creationId xmlns:p14="http://schemas.microsoft.com/office/powerpoint/2010/main" val="2446528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4EF5B-ECC8-43EE-A509-D601DDF42AD0}" type="slidenum">
              <a:rPr lang="en-US" smtClean="0"/>
              <a:t>47</a:t>
            </a:fld>
            <a:endParaRPr lang="en-US"/>
          </a:p>
        </p:txBody>
      </p:sp>
    </p:spTree>
    <p:extLst>
      <p:ext uri="{BB962C8B-B14F-4D97-AF65-F5344CB8AC3E}">
        <p14:creationId xmlns:p14="http://schemas.microsoft.com/office/powerpoint/2010/main" val="8036932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 Blank">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D4E9A04A-3145-3809-19A7-33EF3021A9A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0FF79836-BBB3-F465-E1C5-425AB4A83E4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4" name="Straight Connector 3">
            <a:extLst>
              <a:ext uri="{FF2B5EF4-FFF2-40B4-BE49-F238E27FC236}">
                <a16:creationId xmlns:a16="http://schemas.microsoft.com/office/drawing/2014/main" id="{E5C3DF80-A3E4-DDDB-D584-7BEE3A84C96D}"/>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16E76675-E286-0D90-FB5C-6C963712349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5" name="Graphic 4" descr="Nokia Logo">
            <a:extLst>
              <a:ext uri="{FF2B5EF4-FFF2-40B4-BE49-F238E27FC236}">
                <a16:creationId xmlns:a16="http://schemas.microsoft.com/office/drawing/2014/main" id="{E5F6DF56-1BC2-2F0B-C57B-C1D817B14910}"/>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731604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 Title">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321756D8-5A9F-1C22-A89A-EF8B18E34D38}"/>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dirty="0"/>
              <a:t>Click to edit headline</a:t>
            </a:r>
          </a:p>
        </p:txBody>
      </p:sp>
      <p:sp>
        <p:nvSpPr>
          <p:cNvPr id="10" name="Text Placeholder 5">
            <a:extLst>
              <a:ext uri="{FF2B5EF4-FFF2-40B4-BE49-F238E27FC236}">
                <a16:creationId xmlns:a16="http://schemas.microsoft.com/office/drawing/2014/main" id="{1DC3DC6D-C5E2-32BD-7037-4112346E9BA5}"/>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14" name="Slide Number Placeholder 5">
            <a:extLst>
              <a:ext uri="{FF2B5EF4-FFF2-40B4-BE49-F238E27FC236}">
                <a16:creationId xmlns:a16="http://schemas.microsoft.com/office/drawing/2014/main" id="{AB509751-E824-3979-F221-A742B654E0C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3" name="TextBox 12">
            <a:extLst>
              <a:ext uri="{FF2B5EF4-FFF2-40B4-BE49-F238E27FC236}">
                <a16:creationId xmlns:a16="http://schemas.microsoft.com/office/drawing/2014/main" id="{7F7DE4C9-FBB8-8A4B-2DB4-4E815C009D5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5" name="Straight Connector 4">
            <a:extLst>
              <a:ext uri="{FF2B5EF4-FFF2-40B4-BE49-F238E27FC236}">
                <a16:creationId xmlns:a16="http://schemas.microsoft.com/office/drawing/2014/main" id="{C1EF9D7C-B9BF-ACBC-3985-F2E252AED7C1}"/>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ooter Placeholder 2">
            <a:extLst>
              <a:ext uri="{FF2B5EF4-FFF2-40B4-BE49-F238E27FC236}">
                <a16:creationId xmlns:a16="http://schemas.microsoft.com/office/drawing/2014/main" id="{EDDFD53A-DF6B-C791-DBA9-4B63437DA8D3}"/>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3" name="Graphic 2" descr="Nokia Logo">
            <a:extLst>
              <a:ext uri="{FF2B5EF4-FFF2-40B4-BE49-F238E27FC236}">
                <a16:creationId xmlns:a16="http://schemas.microsoft.com/office/drawing/2014/main" id="{4438E2DC-AC73-500B-8973-5546E8717894}"/>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16920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 Text">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66B08DCF-1DB4-720A-452A-F597CB7BA5BB}"/>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dirty="0"/>
              <a:t>Click to edit headline</a:t>
            </a:r>
          </a:p>
        </p:txBody>
      </p:sp>
      <p:sp>
        <p:nvSpPr>
          <p:cNvPr id="15" name="Text Placeholder 5">
            <a:extLst>
              <a:ext uri="{FF2B5EF4-FFF2-40B4-BE49-F238E27FC236}">
                <a16:creationId xmlns:a16="http://schemas.microsoft.com/office/drawing/2014/main" id="{710571FD-4027-76D7-14A7-8C7029D71E0D}"/>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tx1"/>
                </a:solidFill>
              </a:defRPr>
            </a:lvl1pPr>
            <a:lvl2pPr marL="180000" indent="0">
              <a:lnSpc>
                <a:spcPct val="100000"/>
              </a:lnSpc>
              <a:spcBef>
                <a:spcPts val="0"/>
              </a:spcBef>
              <a:spcAft>
                <a:spcPts val="600"/>
              </a:spcAft>
              <a:buSzPct val="70000"/>
              <a:buNone/>
              <a:defRPr sz="1200">
                <a:solidFill>
                  <a:schemeClr val="tx1"/>
                </a:solidFill>
              </a:defRPr>
            </a:lvl2pPr>
            <a:lvl3pPr marL="360000" indent="0">
              <a:lnSpc>
                <a:spcPct val="100000"/>
              </a:lnSpc>
              <a:spcBef>
                <a:spcPts val="0"/>
              </a:spcBef>
              <a:spcAft>
                <a:spcPts val="600"/>
              </a:spcAft>
              <a:buSzPct val="70000"/>
              <a:buNone/>
              <a:defRPr sz="1200">
                <a:solidFill>
                  <a:schemeClr val="tx1"/>
                </a:solidFill>
              </a:defRPr>
            </a:lvl3pPr>
            <a:lvl4pPr marL="540000" indent="0">
              <a:lnSpc>
                <a:spcPct val="100000"/>
              </a:lnSpc>
              <a:spcBef>
                <a:spcPts val="0"/>
              </a:spcBef>
              <a:spcAft>
                <a:spcPts val="600"/>
              </a:spcAft>
              <a:buSzPct val="70000"/>
              <a:buNone/>
              <a:defRPr sz="1200">
                <a:solidFill>
                  <a:schemeClr val="tx1"/>
                </a:solidFill>
              </a:defRPr>
            </a:lvl4pPr>
            <a:lvl5pPr marL="720000" indent="0">
              <a:lnSpc>
                <a:spcPct val="100000"/>
              </a:lnSpc>
              <a:spcBef>
                <a:spcPts val="0"/>
              </a:spcBef>
              <a:spcAft>
                <a:spcPts val="600"/>
              </a:spcAft>
              <a:buSzPct val="7000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FF66938-CF4B-D097-1BC6-18EB230030F4}"/>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0" name="TextBox 9">
            <a:extLst>
              <a:ext uri="{FF2B5EF4-FFF2-40B4-BE49-F238E27FC236}">
                <a16:creationId xmlns:a16="http://schemas.microsoft.com/office/drawing/2014/main" id="{D706B219-6557-5951-F467-43B768A9C96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7" name="Straight Connector 6">
            <a:extLst>
              <a:ext uri="{FF2B5EF4-FFF2-40B4-BE49-F238E27FC236}">
                <a16:creationId xmlns:a16="http://schemas.microsoft.com/office/drawing/2014/main" id="{02EA5319-09BC-9987-CAC8-EA3BDB3403DE}"/>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FEE177B5-71D7-398C-03E7-932A701525D8}"/>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96C23372-1538-FB18-2416-BA5B684987F2}"/>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95708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 Bulletpoint text 1 col">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BC890568-C3A4-9412-84D4-91BFC2DF56E3}"/>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dirty="0"/>
              <a:t>Click to edit headline</a:t>
            </a:r>
          </a:p>
        </p:txBody>
      </p:sp>
      <p:sp>
        <p:nvSpPr>
          <p:cNvPr id="15" name="Text Placeholder 5">
            <a:extLst>
              <a:ext uri="{FF2B5EF4-FFF2-40B4-BE49-F238E27FC236}">
                <a16:creationId xmlns:a16="http://schemas.microsoft.com/office/drawing/2014/main" id="{CA3227FE-6468-9FF9-286E-688D20A40EF4}"/>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C76EFBCA-F2A9-DB62-4D3E-60E897B89B5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FD95910B-6C91-D297-584C-3D1533AECBE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1" name="Straight Connector 10">
            <a:extLst>
              <a:ext uri="{FF2B5EF4-FFF2-40B4-BE49-F238E27FC236}">
                <a16:creationId xmlns:a16="http://schemas.microsoft.com/office/drawing/2014/main" id="{050898E8-3EA0-DF94-8725-EB617F3DE24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2">
            <a:extLst>
              <a:ext uri="{FF2B5EF4-FFF2-40B4-BE49-F238E27FC236}">
                <a16:creationId xmlns:a16="http://schemas.microsoft.com/office/drawing/2014/main" id="{7D61FF18-0BA2-46E4-85DF-332117D12378}"/>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10" name="Graphic 9" descr="Nokia Logo">
            <a:extLst>
              <a:ext uri="{FF2B5EF4-FFF2-40B4-BE49-F238E27FC236}">
                <a16:creationId xmlns:a16="http://schemas.microsoft.com/office/drawing/2014/main" id="{4B9A6F0D-F016-F84E-EFD2-D2B1590A8806}"/>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581054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5 Bulletpoint text 2 col">
    <p:spTree>
      <p:nvGrpSpPr>
        <p:cNvPr id="1" name=""/>
        <p:cNvGrpSpPr/>
        <p:nvPr/>
      </p:nvGrpSpPr>
      <p:grpSpPr>
        <a:xfrm>
          <a:off x="0" y="0"/>
          <a:ext cx="0" cy="0"/>
          <a:chOff x="0" y="0"/>
          <a:chExt cx="0" cy="0"/>
        </a:xfrm>
      </p:grpSpPr>
      <p:sp>
        <p:nvSpPr>
          <p:cNvPr id="15" name="Title 4">
            <a:extLst>
              <a:ext uri="{FF2B5EF4-FFF2-40B4-BE49-F238E27FC236}">
                <a16:creationId xmlns:a16="http://schemas.microsoft.com/office/drawing/2014/main" id="{3680CF7D-508D-6A1E-7BA8-455DE3AB04D1}"/>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dirty="0"/>
              <a:t>Click to edit headline</a:t>
            </a:r>
          </a:p>
        </p:txBody>
      </p:sp>
      <p:sp>
        <p:nvSpPr>
          <p:cNvPr id="16" name="Text Placeholder 5">
            <a:extLst>
              <a:ext uri="{FF2B5EF4-FFF2-40B4-BE49-F238E27FC236}">
                <a16:creationId xmlns:a16="http://schemas.microsoft.com/office/drawing/2014/main" id="{364BF77D-3FDD-4087-FCB6-140F4D1E4690}"/>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CED75580-5FAF-E6C5-DFED-1F462D82E3A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E3A67328-00EF-5713-CA06-6BF95B77591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2" name="Straight Connector 11">
            <a:extLst>
              <a:ext uri="{FF2B5EF4-FFF2-40B4-BE49-F238E27FC236}">
                <a16:creationId xmlns:a16="http://schemas.microsoft.com/office/drawing/2014/main" id="{D99270B0-8AD2-BEC7-6542-1B90E336B90E}"/>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65EB5894-B0A6-D8F1-AD97-D6E4D056DDA6}"/>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11" name="Graphic 10" descr="Nokia Logo">
            <a:extLst>
              <a:ext uri="{FF2B5EF4-FFF2-40B4-BE49-F238E27FC236}">
                <a16:creationId xmlns:a16="http://schemas.microsoft.com/office/drawing/2014/main" id="{302DAEC4-26F4-5A19-1880-D3326A33BB94}"/>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013635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6 Bulletpoint text 3 col">
    <p:spTree>
      <p:nvGrpSpPr>
        <p:cNvPr id="1" name=""/>
        <p:cNvGrpSpPr/>
        <p:nvPr/>
      </p:nvGrpSpPr>
      <p:grpSpPr>
        <a:xfrm>
          <a:off x="0" y="0"/>
          <a:ext cx="0" cy="0"/>
          <a:chOff x="0" y="0"/>
          <a:chExt cx="0" cy="0"/>
        </a:xfrm>
      </p:grpSpPr>
      <p:sp>
        <p:nvSpPr>
          <p:cNvPr id="16" name="Title 4">
            <a:extLst>
              <a:ext uri="{FF2B5EF4-FFF2-40B4-BE49-F238E27FC236}">
                <a16:creationId xmlns:a16="http://schemas.microsoft.com/office/drawing/2014/main" id="{7883FFFC-5BC6-5F4B-7D91-BA6E5A6A711C}"/>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dirty="0"/>
              <a:t>Click to edit headline</a:t>
            </a:r>
          </a:p>
        </p:txBody>
      </p:sp>
      <p:sp>
        <p:nvSpPr>
          <p:cNvPr id="17" name="Text Placeholder 5">
            <a:extLst>
              <a:ext uri="{FF2B5EF4-FFF2-40B4-BE49-F238E27FC236}">
                <a16:creationId xmlns:a16="http://schemas.microsoft.com/office/drawing/2014/main" id="{FAA3081D-6AA5-1E61-AD80-807985659C31}"/>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6CA67C43-66D6-847E-98DC-61F9029ECC0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BF8E66B8-C798-B992-2C68-B85351E1170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3" name="Straight Connector 12">
            <a:extLst>
              <a:ext uri="{FF2B5EF4-FFF2-40B4-BE49-F238E27FC236}">
                <a16:creationId xmlns:a16="http://schemas.microsoft.com/office/drawing/2014/main" id="{13541309-5DF9-5C6B-86F9-82A1DB283E6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A1277FE0-ECBC-0B62-6936-4A9C8E1CE894}"/>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12" name="Graphic 11" descr="Nokia Logo">
            <a:extLst>
              <a:ext uri="{FF2B5EF4-FFF2-40B4-BE49-F238E27FC236}">
                <a16:creationId xmlns:a16="http://schemas.microsoft.com/office/drawing/2014/main" id="{7BF24453-1D2B-0D99-269E-C4DA21527F10}"/>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149699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7 Bulletpoint text 4 col">
    <p:spTree>
      <p:nvGrpSpPr>
        <p:cNvPr id="1" name=""/>
        <p:cNvGrpSpPr/>
        <p:nvPr/>
      </p:nvGrpSpPr>
      <p:grpSpPr>
        <a:xfrm>
          <a:off x="0" y="0"/>
          <a:ext cx="0" cy="0"/>
          <a:chOff x="0" y="0"/>
          <a:chExt cx="0" cy="0"/>
        </a:xfrm>
      </p:grpSpPr>
      <p:sp>
        <p:nvSpPr>
          <p:cNvPr id="15" name="Title 4">
            <a:extLst>
              <a:ext uri="{FF2B5EF4-FFF2-40B4-BE49-F238E27FC236}">
                <a16:creationId xmlns:a16="http://schemas.microsoft.com/office/drawing/2014/main" id="{0CD56D63-9D4E-1527-F818-E9DFBC09B0C4}"/>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dirty="0"/>
              <a:t>Click to edit headline</a:t>
            </a:r>
          </a:p>
        </p:txBody>
      </p:sp>
      <p:sp>
        <p:nvSpPr>
          <p:cNvPr id="16" name="Text Placeholder 5">
            <a:extLst>
              <a:ext uri="{FF2B5EF4-FFF2-40B4-BE49-F238E27FC236}">
                <a16:creationId xmlns:a16="http://schemas.microsoft.com/office/drawing/2014/main" id="{8D38CEF1-9906-3101-607B-44C4FE0B4E16}"/>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5">
            <a:extLst>
              <a:ext uri="{FF2B5EF4-FFF2-40B4-BE49-F238E27FC236}">
                <a16:creationId xmlns:a16="http://schemas.microsoft.com/office/drawing/2014/main" id="{9115B87B-934C-0F92-5F93-D343BD44B66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93DA646D-5F97-9D8A-4598-A0C98D4634E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4" name="Straight Connector 13">
            <a:extLst>
              <a:ext uri="{FF2B5EF4-FFF2-40B4-BE49-F238E27FC236}">
                <a16:creationId xmlns:a16="http://schemas.microsoft.com/office/drawing/2014/main" id="{8A8ACD5F-A24E-63B2-613E-389C53F45207}"/>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45A16F44-B403-571B-AD0A-B6A86614B77F}"/>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13" name="Graphic 12" descr="Nokia Logo">
            <a:extLst>
              <a:ext uri="{FF2B5EF4-FFF2-40B4-BE49-F238E27FC236}">
                <a16:creationId xmlns:a16="http://schemas.microsoft.com/office/drawing/2014/main" id="{9DEAEA85-0D4F-9315-1D56-FE86EBBA726C}"/>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957851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8 Numbered text">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23ADA4B1-518E-0888-C3F9-1008EC9F4D43}"/>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dirty="0"/>
              <a:t>Click to edit headline</a:t>
            </a:r>
          </a:p>
        </p:txBody>
      </p:sp>
      <p:sp>
        <p:nvSpPr>
          <p:cNvPr id="15" name="Text Placeholder 5">
            <a:extLst>
              <a:ext uri="{FF2B5EF4-FFF2-40B4-BE49-F238E27FC236}">
                <a16:creationId xmlns:a16="http://schemas.microsoft.com/office/drawing/2014/main" id="{334500B4-C20C-4352-0862-284C02ECCA19}"/>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tx1"/>
                </a:solidFill>
              </a:defRPr>
            </a:lvl1pPr>
            <a:lvl2pPr marL="408600" indent="-228600">
              <a:lnSpc>
                <a:spcPct val="100000"/>
              </a:lnSpc>
              <a:spcBef>
                <a:spcPts val="0"/>
              </a:spcBef>
              <a:spcAft>
                <a:spcPts val="600"/>
              </a:spcAft>
              <a:buFont typeface="+mj-lt"/>
              <a:buAutoNum type="arabicPeriod" startAt="2"/>
              <a:defRPr sz="1200">
                <a:solidFill>
                  <a:schemeClr val="tx1"/>
                </a:solidFill>
              </a:defRPr>
            </a:lvl2pPr>
            <a:lvl3pPr marL="588600" indent="-228600">
              <a:lnSpc>
                <a:spcPct val="100000"/>
              </a:lnSpc>
              <a:spcBef>
                <a:spcPts val="0"/>
              </a:spcBef>
              <a:spcAft>
                <a:spcPts val="600"/>
              </a:spcAft>
              <a:buFont typeface="+mj-lt"/>
              <a:buAutoNum type="arabicPeriod" startAt="3"/>
              <a:defRPr sz="1200">
                <a:solidFill>
                  <a:schemeClr val="tx1"/>
                </a:solidFill>
              </a:defRPr>
            </a:lvl3pPr>
            <a:lvl4pPr marL="768600" indent="-228600">
              <a:lnSpc>
                <a:spcPct val="100000"/>
              </a:lnSpc>
              <a:spcBef>
                <a:spcPts val="0"/>
              </a:spcBef>
              <a:spcAft>
                <a:spcPts val="600"/>
              </a:spcAft>
              <a:buFont typeface="+mj-lt"/>
              <a:buAutoNum type="arabicPeriod" startAt="4"/>
              <a:defRPr sz="1200">
                <a:solidFill>
                  <a:schemeClr val="tx1"/>
                </a:solidFill>
              </a:defRPr>
            </a:lvl4pPr>
            <a:lvl5pPr marL="957150" indent="-228600">
              <a:lnSpc>
                <a:spcPct val="100000"/>
              </a:lnSpc>
              <a:spcBef>
                <a:spcPts val="0"/>
              </a:spcBef>
              <a:spcAft>
                <a:spcPts val="600"/>
              </a:spcAft>
              <a:buFont typeface="+mj-lt"/>
              <a:buAutoNum type="arabicPeriod" startAt="5"/>
              <a:defRPr sz="1200">
                <a:solidFill>
                  <a:schemeClr val="tx1"/>
                </a:solidFill>
              </a:defRPr>
            </a:lvl5pPr>
          </a:lstStyle>
          <a:p>
            <a:pPr lvl="0"/>
            <a:r>
              <a:rPr lang="en-US" dirty="0"/>
              <a:t>Text here</a:t>
            </a:r>
          </a:p>
          <a:p>
            <a:pPr lvl="1"/>
            <a:r>
              <a:rPr lang="en-US" dirty="0"/>
              <a:t>Text here</a:t>
            </a:r>
          </a:p>
          <a:p>
            <a:pPr lvl="2"/>
            <a:r>
              <a:rPr lang="en-US" dirty="0"/>
              <a:t>Text here</a:t>
            </a:r>
          </a:p>
          <a:p>
            <a:pPr lvl="3"/>
            <a:r>
              <a:rPr lang="en-US" dirty="0"/>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dirty="0"/>
              <a:t>Text here</a:t>
            </a:r>
          </a:p>
        </p:txBody>
      </p:sp>
      <p:sp>
        <p:nvSpPr>
          <p:cNvPr id="7" name="Slide Number Placeholder 5">
            <a:extLst>
              <a:ext uri="{FF2B5EF4-FFF2-40B4-BE49-F238E27FC236}">
                <a16:creationId xmlns:a16="http://schemas.microsoft.com/office/drawing/2014/main" id="{1AF7E5B4-21F0-0696-BF4F-8AFCA8103CD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BB696985-1EFA-02D0-106A-9F81CEBC3FA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1" name="Straight Connector 10">
            <a:extLst>
              <a:ext uri="{FF2B5EF4-FFF2-40B4-BE49-F238E27FC236}">
                <a16:creationId xmlns:a16="http://schemas.microsoft.com/office/drawing/2014/main" id="{1EA7F1A5-02F4-2D45-9BE2-4558EC7A9F75}"/>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2">
            <a:extLst>
              <a:ext uri="{FF2B5EF4-FFF2-40B4-BE49-F238E27FC236}">
                <a16:creationId xmlns:a16="http://schemas.microsoft.com/office/drawing/2014/main" id="{DDC4B182-BD0E-D0F1-793C-A6CE500EA3BD}"/>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10" name="Graphic 9" descr="Nokia Logo">
            <a:extLst>
              <a:ext uri="{FF2B5EF4-FFF2-40B4-BE49-F238E27FC236}">
                <a16:creationId xmlns:a16="http://schemas.microsoft.com/office/drawing/2014/main" id="{864C729B-A906-F3EE-CBF7-968443E2A6C5}"/>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231468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 Title sli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2ED1432-BF6A-D5A0-ADBD-AA0251CAB819}"/>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accent1"/>
                </a:solidFill>
              </a:defRPr>
            </a:lvl1pPr>
          </a:lstStyle>
          <a:p>
            <a:pPr lvl="0"/>
            <a:r>
              <a:rPr lang="en-US" dirty="0"/>
              <a:t>Click to edit headline</a:t>
            </a:r>
          </a:p>
        </p:txBody>
      </p:sp>
      <p:sp>
        <p:nvSpPr>
          <p:cNvPr id="4" name="Slide Number Placeholder 5">
            <a:extLst>
              <a:ext uri="{FF2B5EF4-FFF2-40B4-BE49-F238E27FC236}">
                <a16:creationId xmlns:a16="http://schemas.microsoft.com/office/drawing/2014/main" id="{AB1F327B-603C-86B8-9F24-AB86561B3C0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3306DFA0-C2BA-C581-C314-740F6D8A7079}"/>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9" name="Straight Connector 8">
            <a:extLst>
              <a:ext uri="{FF2B5EF4-FFF2-40B4-BE49-F238E27FC236}">
                <a16:creationId xmlns:a16="http://schemas.microsoft.com/office/drawing/2014/main" id="{82E08687-51A2-B793-017A-1768900A02E9}"/>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2">
            <a:extLst>
              <a:ext uri="{FF2B5EF4-FFF2-40B4-BE49-F238E27FC236}">
                <a16:creationId xmlns:a16="http://schemas.microsoft.com/office/drawing/2014/main" id="{5D779461-EFB5-C35B-DE08-509687C8261F}"/>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8" name="Graphic 7" descr="Nokia Logo">
            <a:extLst>
              <a:ext uri="{FF2B5EF4-FFF2-40B4-BE49-F238E27FC236}">
                <a16:creationId xmlns:a16="http://schemas.microsoft.com/office/drawing/2014/main" id="{CBC5DB55-EF7C-5450-BEBA-218F32250FCF}"/>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99022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0 Title slide with media 1">
    <p:spTree>
      <p:nvGrpSpPr>
        <p:cNvPr id="1" name=""/>
        <p:cNvGrpSpPr/>
        <p:nvPr/>
      </p:nvGrpSpPr>
      <p:grpSpPr>
        <a:xfrm>
          <a:off x="0" y="0"/>
          <a:ext cx="0" cy="0"/>
          <a:chOff x="0" y="0"/>
          <a:chExt cx="0" cy="0"/>
        </a:xfrm>
      </p:grpSpPr>
      <p:sp>
        <p:nvSpPr>
          <p:cNvPr id="3" name="Media Placeholder 6">
            <a:extLst>
              <a:ext uri="{FF2B5EF4-FFF2-40B4-BE49-F238E27FC236}">
                <a16:creationId xmlns:a16="http://schemas.microsoft.com/office/drawing/2014/main" id="{BB2531A6-B2AF-8CE3-D4E6-FFA2A6F43CBA}"/>
              </a:ext>
              <a:ext uri="{C183D7F6-B498-43B3-948B-1728B52AA6E4}">
                <adec:decorative xmlns:adec="http://schemas.microsoft.com/office/drawing/2017/decorative" val="1"/>
              </a:ext>
            </a:extLst>
          </p:cNvPr>
          <p:cNvSpPr>
            <a:spLocks noGrp="1"/>
          </p:cNvSpPr>
          <p:nvPr>
            <p:ph type="media" sz="quarter" idx="12"/>
          </p:nvPr>
        </p:nvSpPr>
        <p:spPr>
          <a:xfrm>
            <a:off x="0" y="0"/>
            <a:ext cx="9144000" cy="5143500"/>
          </a:xfrm>
          <a:prstGeom prst="rect">
            <a:avLst/>
          </a:prstGeom>
        </p:spPr>
        <p:txBody>
          <a:bodyPr/>
          <a:lstStyle>
            <a:lvl1pPr marL="0" indent="0">
              <a:buNone/>
              <a:defRPr>
                <a:solidFill>
                  <a:schemeClr val="accent4"/>
                </a:solidFill>
              </a:defRPr>
            </a:lvl1pPr>
          </a:lstStyle>
          <a:p>
            <a:r>
              <a:rPr lang="en-US"/>
              <a:t>Click icon to add media</a:t>
            </a:r>
          </a:p>
        </p:txBody>
      </p:sp>
      <p:sp>
        <p:nvSpPr>
          <p:cNvPr id="14" name="Text Placeholder 42">
            <a:extLst>
              <a:ext uri="{FF2B5EF4-FFF2-40B4-BE49-F238E27FC236}">
                <a16:creationId xmlns:a16="http://schemas.microsoft.com/office/drawing/2014/main" id="{294B94FF-B007-7648-0008-A471B34C4CB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lnSpc>
                <a:spcPct val="100000"/>
              </a:lnSpc>
              <a:spcBef>
                <a:spcPts val="0"/>
              </a:spcBef>
              <a:buNone/>
              <a:defRPr sz="4400" baseline="0">
                <a:solidFill>
                  <a:schemeClr val="accent1"/>
                </a:solidFill>
                <a:latin typeface="Nokia Pure Headline Light" panose="020B0304020202020204" pitchFamily="34" charset="0"/>
              </a:defRPr>
            </a:lvl1pPr>
          </a:lstStyle>
          <a:p>
            <a:pPr lvl="0"/>
            <a:r>
              <a:rPr lang="en-US" dirty="0"/>
              <a:t>Click to edit headline</a:t>
            </a:r>
          </a:p>
        </p:txBody>
      </p:sp>
      <p:sp>
        <p:nvSpPr>
          <p:cNvPr id="5" name="Slide Number Placeholder 5">
            <a:extLst>
              <a:ext uri="{FF2B5EF4-FFF2-40B4-BE49-F238E27FC236}">
                <a16:creationId xmlns:a16="http://schemas.microsoft.com/office/drawing/2014/main" id="{2218EC66-6293-FC0C-C8AC-A21153E5703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4C9BA26F-4B98-6DDA-4965-A8BCB0A90C5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9" name="Straight Connector 8">
            <a:extLst>
              <a:ext uri="{FF2B5EF4-FFF2-40B4-BE49-F238E27FC236}">
                <a16:creationId xmlns:a16="http://schemas.microsoft.com/office/drawing/2014/main" id="{6ED056D0-758C-4B0A-A11D-C3F14EBC07FA}"/>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2">
            <a:extLst>
              <a:ext uri="{FF2B5EF4-FFF2-40B4-BE49-F238E27FC236}">
                <a16:creationId xmlns:a16="http://schemas.microsoft.com/office/drawing/2014/main" id="{A535B119-5E07-6658-028F-A2E92F84E1E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8" name="Graphic 7" descr="Nokia Logo">
            <a:extLst>
              <a:ext uri="{FF2B5EF4-FFF2-40B4-BE49-F238E27FC236}">
                <a16:creationId xmlns:a16="http://schemas.microsoft.com/office/drawing/2014/main" id="{40EEEA9E-29A8-ACBE-9469-BF192E01BA76}"/>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00080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2 Title slide with media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 uri="{C183D7F6-B498-43B3-948B-1728B52AA6E4}">
                <adec:decorative xmlns:adec="http://schemas.microsoft.com/office/drawing/2017/decorative" val="1"/>
              </a:ext>
            </a:extLst>
          </p:cNvPr>
          <p:cNvSpPr>
            <a:spLocks noGrp="1"/>
          </p:cNvSpPr>
          <p:nvPr>
            <p:ph type="pic" sz="quarter" idx="15" hasCustomPrompt="1"/>
          </p:nvPr>
        </p:nvSpPr>
        <p:spPr>
          <a:xfrm>
            <a:off x="5031315" y="0"/>
            <a:ext cx="4114800"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sp>
        <p:nvSpPr>
          <p:cNvPr id="15" name="Title 4">
            <a:extLst>
              <a:ext uri="{FF2B5EF4-FFF2-40B4-BE49-F238E27FC236}">
                <a16:creationId xmlns:a16="http://schemas.microsoft.com/office/drawing/2014/main" id="{84BEAA91-498E-6921-E58A-76A8294949D1}"/>
              </a:ext>
            </a:extLst>
          </p:cNvPr>
          <p:cNvSpPr>
            <a:spLocks noGrp="1"/>
          </p:cNvSpPr>
          <p:nvPr>
            <p:ph type="title" hasCustomPrompt="1"/>
          </p:nvPr>
        </p:nvSpPr>
        <p:spPr>
          <a:xfrm>
            <a:off x="417531" y="396000"/>
            <a:ext cx="42516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dirty="0"/>
              <a:t>Click to edit headline</a:t>
            </a:r>
          </a:p>
        </p:txBody>
      </p:sp>
      <p:sp>
        <p:nvSpPr>
          <p:cNvPr id="16" name="Text Placeholder 5">
            <a:extLst>
              <a:ext uri="{FF2B5EF4-FFF2-40B4-BE49-F238E27FC236}">
                <a16:creationId xmlns:a16="http://schemas.microsoft.com/office/drawing/2014/main" id="{57819689-B73E-EF57-A36D-895DE38DCDCB}"/>
              </a:ext>
            </a:extLst>
          </p:cNvPr>
          <p:cNvSpPr>
            <a:spLocks noGrp="1"/>
          </p:cNvSpPr>
          <p:nvPr>
            <p:ph type="body" sz="quarter" idx="10" hasCustomPrompt="1"/>
          </p:nvPr>
        </p:nvSpPr>
        <p:spPr>
          <a:xfrm>
            <a:off x="417599" y="763200"/>
            <a:ext cx="42516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14" name="Text Placeholder 12">
            <a:extLst>
              <a:ext uri="{FF2B5EF4-FFF2-40B4-BE49-F238E27FC236}">
                <a16:creationId xmlns:a16="http://schemas.microsoft.com/office/drawing/2014/main" id="{9DF4C5A3-99E0-4CE6-0E6B-A5B2B4C2E12B}"/>
              </a:ext>
            </a:extLst>
          </p:cNvPr>
          <p:cNvSpPr>
            <a:spLocks noGrp="1"/>
          </p:cNvSpPr>
          <p:nvPr>
            <p:ph type="body" sz="quarter" idx="16"/>
          </p:nvPr>
        </p:nvSpPr>
        <p:spPr>
          <a:xfrm>
            <a:off x="417338" y="1260000"/>
            <a:ext cx="42516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0F2544C4-9B73-80CB-B1AE-384180132B7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TextBox 4">
            <a:extLst>
              <a:ext uri="{FF2B5EF4-FFF2-40B4-BE49-F238E27FC236}">
                <a16:creationId xmlns:a16="http://schemas.microsoft.com/office/drawing/2014/main" id="{44F7A0E6-27FB-B6FF-2E31-5A6107DF4D1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1" name="Straight Connector 10">
            <a:extLst>
              <a:ext uri="{FF2B5EF4-FFF2-40B4-BE49-F238E27FC236}">
                <a16:creationId xmlns:a16="http://schemas.microsoft.com/office/drawing/2014/main" id="{65896BA6-2208-A431-822A-895CB2B7CC2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ECE578A4-6CB9-C574-603A-6A6E64EB1499}"/>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459A0509-67CF-F982-C358-C433F16CD83E}"/>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812813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3 Title slide with media 3">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1E7BA896-DC3C-C861-6C89-0401950D7446}"/>
              </a:ext>
              <a:ext uri="{C183D7F6-B498-43B3-948B-1728B52AA6E4}">
                <adec:decorative xmlns:adec="http://schemas.microsoft.com/office/drawing/2017/decorative" val="1"/>
              </a:ext>
            </a:extLst>
          </p:cNvPr>
          <p:cNvSpPr>
            <a:spLocks noGrp="1"/>
          </p:cNvSpPr>
          <p:nvPr>
            <p:ph type="pic" sz="quarter" idx="15" hasCustomPrompt="1"/>
          </p:nvPr>
        </p:nvSpPr>
        <p:spPr>
          <a:xfrm>
            <a:off x="4114800" y="0"/>
            <a:ext cx="5029200"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sp>
        <p:nvSpPr>
          <p:cNvPr id="15" name="Title 4">
            <a:extLst>
              <a:ext uri="{FF2B5EF4-FFF2-40B4-BE49-F238E27FC236}">
                <a16:creationId xmlns:a16="http://schemas.microsoft.com/office/drawing/2014/main" id="{50967DD7-EB0D-8CFD-B25F-584621A8CECC}"/>
              </a:ext>
            </a:extLst>
          </p:cNvPr>
          <p:cNvSpPr>
            <a:spLocks noGrp="1"/>
          </p:cNvSpPr>
          <p:nvPr>
            <p:ph type="title" hasCustomPrompt="1"/>
          </p:nvPr>
        </p:nvSpPr>
        <p:spPr>
          <a:xfrm>
            <a:off x="417531" y="396000"/>
            <a:ext cx="34164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dirty="0"/>
              <a:t>Click to edit headline</a:t>
            </a:r>
          </a:p>
        </p:txBody>
      </p:sp>
      <p:sp>
        <p:nvSpPr>
          <p:cNvPr id="16" name="Text Placeholder 5">
            <a:extLst>
              <a:ext uri="{FF2B5EF4-FFF2-40B4-BE49-F238E27FC236}">
                <a16:creationId xmlns:a16="http://schemas.microsoft.com/office/drawing/2014/main" id="{2FD81C1F-AA93-00BC-AF25-C11C8DBE21DC}"/>
              </a:ext>
            </a:extLst>
          </p:cNvPr>
          <p:cNvSpPr>
            <a:spLocks noGrp="1"/>
          </p:cNvSpPr>
          <p:nvPr>
            <p:ph type="body" sz="quarter" idx="10" hasCustomPrompt="1"/>
          </p:nvPr>
        </p:nvSpPr>
        <p:spPr>
          <a:xfrm>
            <a:off x="417599" y="763200"/>
            <a:ext cx="34164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9" name="Text Placeholder 12">
            <a:extLst>
              <a:ext uri="{FF2B5EF4-FFF2-40B4-BE49-F238E27FC236}">
                <a16:creationId xmlns:a16="http://schemas.microsoft.com/office/drawing/2014/main" id="{3C877456-8A32-3828-EB27-AC4CF98B98F8}"/>
              </a:ext>
            </a:extLst>
          </p:cNvPr>
          <p:cNvSpPr>
            <a:spLocks noGrp="1"/>
          </p:cNvSpPr>
          <p:nvPr>
            <p:ph type="body" sz="quarter" idx="16"/>
          </p:nvPr>
        </p:nvSpPr>
        <p:spPr>
          <a:xfrm>
            <a:off x="417338" y="1260000"/>
            <a:ext cx="34164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4CA45A5E-8155-944F-17C0-E8C2DF0291B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DD05DD94-B1D7-AF62-87C9-7EF3B816BC5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2" name="Straight Connector 11">
            <a:extLst>
              <a:ext uri="{FF2B5EF4-FFF2-40B4-BE49-F238E27FC236}">
                <a16:creationId xmlns:a16="http://schemas.microsoft.com/office/drawing/2014/main" id="{BDB7061F-0A55-1A03-A699-500055D8065D}"/>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2">
            <a:extLst>
              <a:ext uri="{FF2B5EF4-FFF2-40B4-BE49-F238E27FC236}">
                <a16:creationId xmlns:a16="http://schemas.microsoft.com/office/drawing/2014/main" id="{9FEC4AEB-8265-3816-B1A7-81B4297B51B5}"/>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11" name="Graphic 10" descr="Nokia logo">
            <a:extLst>
              <a:ext uri="{FF2B5EF4-FFF2-40B4-BE49-F238E27FC236}">
                <a16:creationId xmlns:a16="http://schemas.microsoft.com/office/drawing/2014/main" id="{DDAE5CAB-3826-E8DA-788D-488B7B7DEEF5}"/>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225536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4 Title slide with media 4">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663BDD0-396A-C130-FA04-231CB3C74388}"/>
              </a:ext>
              <a:ext uri="{C183D7F6-B498-43B3-948B-1728B52AA6E4}">
                <adec:decorative xmlns:adec="http://schemas.microsoft.com/office/drawing/2017/decorative" val="1"/>
              </a:ext>
            </a:extLst>
          </p:cNvPr>
          <p:cNvSpPr>
            <a:spLocks noGrp="1"/>
          </p:cNvSpPr>
          <p:nvPr>
            <p:ph type="pic" sz="quarter" idx="16" hasCustomPrompt="1"/>
          </p:nvPr>
        </p:nvSpPr>
        <p:spPr>
          <a:xfrm>
            <a:off x="3200400" y="0"/>
            <a:ext cx="5943600"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sp>
        <p:nvSpPr>
          <p:cNvPr id="5" name="Title 4">
            <a:extLst>
              <a:ext uri="{FF2B5EF4-FFF2-40B4-BE49-F238E27FC236}">
                <a16:creationId xmlns:a16="http://schemas.microsoft.com/office/drawing/2014/main" id="{82563EBA-CD06-501C-B361-CE925FCE7452}"/>
              </a:ext>
            </a:extLst>
          </p:cNvPr>
          <p:cNvSpPr>
            <a:spLocks noGrp="1"/>
          </p:cNvSpPr>
          <p:nvPr>
            <p:ph type="title"/>
          </p:nvPr>
        </p:nvSpPr>
        <p:spPr>
          <a:xfrm>
            <a:off x="417531" y="396000"/>
            <a:ext cx="24696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accent1"/>
                </a:solidFill>
                <a:latin typeface="+mj-lt"/>
                <a:ea typeface="+mn-ea"/>
                <a:cs typeface="+mn-cs"/>
              </a:defRPr>
            </a:lvl1pPr>
          </a:lstStyle>
          <a:p>
            <a:r>
              <a:rPr lang="en-US"/>
              <a:t>Click to edit Master title style</a:t>
            </a:r>
            <a:endParaRPr lang="en-US" dirty="0"/>
          </a:p>
        </p:txBody>
      </p:sp>
      <p:sp>
        <p:nvSpPr>
          <p:cNvPr id="7" name="Text Placeholder 5">
            <a:extLst>
              <a:ext uri="{FF2B5EF4-FFF2-40B4-BE49-F238E27FC236}">
                <a16:creationId xmlns:a16="http://schemas.microsoft.com/office/drawing/2014/main" id="{900175A1-ED29-01C4-7FD7-F30E409E2DCF}"/>
              </a:ext>
            </a:extLst>
          </p:cNvPr>
          <p:cNvSpPr>
            <a:spLocks noGrp="1"/>
          </p:cNvSpPr>
          <p:nvPr>
            <p:ph type="body" sz="quarter" idx="10" hasCustomPrompt="1"/>
          </p:nvPr>
        </p:nvSpPr>
        <p:spPr>
          <a:xfrm>
            <a:off x="417599" y="763200"/>
            <a:ext cx="2469600" cy="342000"/>
          </a:xfrm>
          <a:prstGeom prst="rect">
            <a:avLst/>
          </a:prstGeom>
        </p:spPr>
        <p:txBody>
          <a:bodyPr lIns="0" tIns="0" rIns="0" bIns="0"/>
          <a:lstStyle>
            <a:lvl1pPr marL="0" indent="0">
              <a:lnSpc>
                <a:spcPct val="100000"/>
              </a:lnSpc>
              <a:spcBef>
                <a:spcPts val="0"/>
              </a:spcBef>
              <a:buNone/>
              <a:defRPr sz="1800">
                <a:solidFill>
                  <a:schemeClr val="tx1"/>
                </a:solidFill>
                <a:latin typeface="+mj-lt"/>
              </a:defRPr>
            </a:lvl1pPr>
          </a:lstStyle>
          <a:p>
            <a:pPr lvl="0"/>
            <a:r>
              <a:rPr lang="en-US" dirty="0"/>
              <a:t>Click to edit Sub headline</a:t>
            </a:r>
          </a:p>
        </p:txBody>
      </p:sp>
      <p:sp>
        <p:nvSpPr>
          <p:cNvPr id="2" name="Text Placeholder 12">
            <a:extLst>
              <a:ext uri="{FF2B5EF4-FFF2-40B4-BE49-F238E27FC236}">
                <a16:creationId xmlns:a16="http://schemas.microsoft.com/office/drawing/2014/main" id="{7412F25F-3E46-83B5-71D3-ADFFD1463A31}"/>
              </a:ext>
            </a:extLst>
          </p:cNvPr>
          <p:cNvSpPr>
            <a:spLocks noGrp="1"/>
          </p:cNvSpPr>
          <p:nvPr>
            <p:ph type="body" sz="quarter" idx="15"/>
          </p:nvPr>
        </p:nvSpPr>
        <p:spPr>
          <a:xfrm>
            <a:off x="417338" y="1260000"/>
            <a:ext cx="24696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1"/>
                </a:solidFill>
              </a:defRPr>
            </a:lvl1pPr>
            <a:lvl2pPr marL="360000" indent="-180000">
              <a:lnSpc>
                <a:spcPct val="100000"/>
              </a:lnSpc>
              <a:spcBef>
                <a:spcPts val="0"/>
              </a:spcBef>
              <a:spcAft>
                <a:spcPts val="600"/>
              </a:spcAft>
              <a:buSzPct val="70000"/>
              <a:defRPr sz="1200">
                <a:solidFill>
                  <a:schemeClr val="tx1"/>
                </a:solidFill>
              </a:defRPr>
            </a:lvl2pPr>
            <a:lvl3pPr marL="540000" indent="-180000">
              <a:lnSpc>
                <a:spcPct val="100000"/>
              </a:lnSpc>
              <a:spcBef>
                <a:spcPts val="0"/>
              </a:spcBef>
              <a:spcAft>
                <a:spcPts val="600"/>
              </a:spcAft>
              <a:buSzPct val="70000"/>
              <a:defRPr sz="1200">
                <a:solidFill>
                  <a:schemeClr val="tx1"/>
                </a:solidFill>
              </a:defRPr>
            </a:lvl3pPr>
            <a:lvl4pPr marL="720000" indent="-180000">
              <a:lnSpc>
                <a:spcPct val="100000"/>
              </a:lnSpc>
              <a:spcBef>
                <a:spcPts val="0"/>
              </a:spcBef>
              <a:spcAft>
                <a:spcPts val="600"/>
              </a:spcAft>
              <a:buSzPct val="70000"/>
              <a:defRPr lang="en-US" sz="1200" kern="1200" dirty="0">
                <a:solidFill>
                  <a:schemeClr val="tx1"/>
                </a:solidFill>
                <a:latin typeface="+mn-lt"/>
                <a:ea typeface="+mn-ea"/>
                <a:cs typeface="+mn-cs"/>
              </a:defRPr>
            </a:lvl4pPr>
            <a:lvl5pPr marL="900000" indent="-180000">
              <a:lnSpc>
                <a:spcPct val="100000"/>
              </a:lnSpc>
              <a:spcBef>
                <a:spcPts val="0"/>
              </a:spcBef>
              <a:spcAft>
                <a:spcPts val="600"/>
              </a:spcAft>
              <a:buSzPct val="70000"/>
              <a:defRPr sz="1200">
                <a:solidFill>
                  <a:schemeClr val="tx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E3B783F8-E852-2880-7AC7-93C221C8FF1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2069DAC9-98D0-DE29-0854-C322936DF8E9}"/>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2" name="Straight Connector 11">
            <a:extLst>
              <a:ext uri="{FF2B5EF4-FFF2-40B4-BE49-F238E27FC236}">
                <a16:creationId xmlns:a16="http://schemas.microsoft.com/office/drawing/2014/main" id="{380CD787-7ACF-66CF-A555-070E4E9CE9AA}"/>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2">
            <a:extLst>
              <a:ext uri="{FF2B5EF4-FFF2-40B4-BE49-F238E27FC236}">
                <a16:creationId xmlns:a16="http://schemas.microsoft.com/office/drawing/2014/main" id="{5F00D657-7150-C4CD-A10F-64140FBB30BD}"/>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pic>
        <p:nvPicPr>
          <p:cNvPr id="11" name="Graphic 10" descr="Nokia logo">
            <a:extLst>
              <a:ext uri="{FF2B5EF4-FFF2-40B4-BE49-F238E27FC236}">
                <a16:creationId xmlns:a16="http://schemas.microsoft.com/office/drawing/2014/main" id="{597F3582-E64D-A921-75B4-391A00930544}"/>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159015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1 Blank dark">
    <p:bg>
      <p:bgPr>
        <a:solidFill>
          <a:schemeClr val="tx1"/>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A0EFD0E-73A9-D773-3F8A-B9B78A9503C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BB2D48F3-5FAB-7137-F8DD-66420388FAC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6" name="Straight Connector 5">
            <a:extLst>
              <a:ext uri="{FF2B5EF4-FFF2-40B4-BE49-F238E27FC236}">
                <a16:creationId xmlns:a16="http://schemas.microsoft.com/office/drawing/2014/main" id="{76A6D2F2-826D-28EB-9DAD-3942D586B302}"/>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2">
            <a:extLst>
              <a:ext uri="{FF2B5EF4-FFF2-40B4-BE49-F238E27FC236}">
                <a16:creationId xmlns:a16="http://schemas.microsoft.com/office/drawing/2014/main" id="{C021FBAF-6C06-6FF4-B424-967A0139D27B}"/>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7CA3991F-2F28-C804-8C14-05F1D720B715}"/>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938668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2 Title dark">
    <p:bg>
      <p:bgPr>
        <a:solidFill>
          <a:schemeClr val="tx1"/>
        </a:solidFill>
        <a:effectLst/>
      </p:bgPr>
    </p:bg>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3F610624-27D3-5359-FFFC-D7E326DE60DF}"/>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11" name="Text Placeholder 5">
            <a:extLst>
              <a:ext uri="{FF2B5EF4-FFF2-40B4-BE49-F238E27FC236}">
                <a16:creationId xmlns:a16="http://schemas.microsoft.com/office/drawing/2014/main" id="{B634223B-F986-07AA-CBE2-6EF6BD27C3A5}"/>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7" name="Slide Number Placeholder 5">
            <a:extLst>
              <a:ext uri="{FF2B5EF4-FFF2-40B4-BE49-F238E27FC236}">
                <a16:creationId xmlns:a16="http://schemas.microsoft.com/office/drawing/2014/main" id="{68BF3F94-260D-91AB-AFD5-771888AB1171}"/>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TextBox 4">
            <a:extLst>
              <a:ext uri="{FF2B5EF4-FFF2-40B4-BE49-F238E27FC236}">
                <a16:creationId xmlns:a16="http://schemas.microsoft.com/office/drawing/2014/main" id="{1559A584-CCB0-5173-FFC9-AEB0F836BD39}"/>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9" name="Straight Connector 8">
            <a:extLst>
              <a:ext uri="{FF2B5EF4-FFF2-40B4-BE49-F238E27FC236}">
                <a16:creationId xmlns:a16="http://schemas.microsoft.com/office/drawing/2014/main" id="{091FF5EE-EE66-EA07-E293-2859E8F3C4ED}"/>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Footer Placeholder 2">
            <a:extLst>
              <a:ext uri="{FF2B5EF4-FFF2-40B4-BE49-F238E27FC236}">
                <a16:creationId xmlns:a16="http://schemas.microsoft.com/office/drawing/2014/main" id="{0F66E100-BF7D-D207-D6A5-EB6CBB5DFF34}"/>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0E72FD2C-139D-1E81-B0B0-9A43BDF6E15A}"/>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351688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3 Text dark">
    <p:bg>
      <p:bgPr>
        <a:solidFill>
          <a:schemeClr val="tx1"/>
        </a:solidFill>
        <a:effectLst/>
      </p:bgPr>
    </p:bg>
    <p:spTree>
      <p:nvGrpSpPr>
        <p:cNvPr id="1" name=""/>
        <p:cNvGrpSpPr/>
        <p:nvPr/>
      </p:nvGrpSpPr>
      <p:grpSpPr>
        <a:xfrm>
          <a:off x="0" y="0"/>
          <a:ext cx="0" cy="0"/>
          <a:chOff x="0" y="0"/>
          <a:chExt cx="0" cy="0"/>
        </a:xfrm>
      </p:grpSpPr>
      <p:sp>
        <p:nvSpPr>
          <p:cNvPr id="11" name="Title 4">
            <a:extLst>
              <a:ext uri="{FF2B5EF4-FFF2-40B4-BE49-F238E27FC236}">
                <a16:creationId xmlns:a16="http://schemas.microsoft.com/office/drawing/2014/main" id="{5931780A-C656-32C1-4F7B-3ABC88B4253E}"/>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12" name="Text Placeholder 5">
            <a:extLst>
              <a:ext uri="{FF2B5EF4-FFF2-40B4-BE49-F238E27FC236}">
                <a16:creationId xmlns:a16="http://schemas.microsoft.com/office/drawing/2014/main" id="{404DBDA7-953B-D3E1-9591-5887247995B1}"/>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bg1"/>
                </a:solidFill>
              </a:defRPr>
            </a:lvl1pPr>
            <a:lvl2pPr marL="180000" indent="0">
              <a:lnSpc>
                <a:spcPct val="100000"/>
              </a:lnSpc>
              <a:spcBef>
                <a:spcPts val="0"/>
              </a:spcBef>
              <a:spcAft>
                <a:spcPts val="600"/>
              </a:spcAft>
              <a:buSzPct val="70000"/>
              <a:buNone/>
              <a:defRPr sz="1200">
                <a:solidFill>
                  <a:schemeClr val="bg1"/>
                </a:solidFill>
              </a:defRPr>
            </a:lvl2pPr>
            <a:lvl3pPr marL="360000" indent="0">
              <a:lnSpc>
                <a:spcPct val="100000"/>
              </a:lnSpc>
              <a:spcBef>
                <a:spcPts val="0"/>
              </a:spcBef>
              <a:spcAft>
                <a:spcPts val="600"/>
              </a:spcAft>
              <a:buSzPct val="70000"/>
              <a:buNone/>
              <a:defRPr sz="1200">
                <a:solidFill>
                  <a:schemeClr val="bg1"/>
                </a:solidFill>
              </a:defRPr>
            </a:lvl3pPr>
            <a:lvl4pPr marL="540000" indent="0">
              <a:lnSpc>
                <a:spcPct val="100000"/>
              </a:lnSpc>
              <a:spcBef>
                <a:spcPts val="0"/>
              </a:spcBef>
              <a:spcAft>
                <a:spcPts val="600"/>
              </a:spcAft>
              <a:buSzPct val="70000"/>
              <a:buNone/>
              <a:defRPr sz="1200">
                <a:solidFill>
                  <a:schemeClr val="bg1"/>
                </a:solidFill>
              </a:defRPr>
            </a:lvl4pPr>
            <a:lvl5pPr marL="720000" indent="0">
              <a:lnSpc>
                <a:spcPct val="100000"/>
              </a:lnSpc>
              <a:spcBef>
                <a:spcPts val="0"/>
              </a:spcBef>
              <a:spcAft>
                <a:spcPts val="600"/>
              </a:spcAft>
              <a:buSzPct val="70000"/>
              <a:buNone/>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CFE394A0-1BF5-A207-62B2-624B902703E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EA8F815C-F7BD-B743-55F1-819C90566A6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0" name="Straight Connector 9">
            <a:extLst>
              <a:ext uri="{FF2B5EF4-FFF2-40B4-BE49-F238E27FC236}">
                <a16:creationId xmlns:a16="http://schemas.microsoft.com/office/drawing/2014/main" id="{9E2F7BD4-C9BA-1341-6E3D-2351FE00709E}"/>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F362F7ED-C2A3-E1DD-8729-A9B3A26605A2}"/>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3" name="Graphic 2" descr="Nokia logo">
            <a:extLst>
              <a:ext uri="{FF2B5EF4-FFF2-40B4-BE49-F238E27FC236}">
                <a16:creationId xmlns:a16="http://schemas.microsoft.com/office/drawing/2014/main" id="{2385D46B-EEC6-C84B-3B2D-CF2F4D759F7F}"/>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2028513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4 Bulletpoint text 1 col dark">
    <p:bg>
      <p:bgPr>
        <a:solidFill>
          <a:schemeClr val="tx1"/>
        </a:solidFill>
        <a:effectLst/>
      </p:bgPr>
    </p:bg>
    <p:spTree>
      <p:nvGrpSpPr>
        <p:cNvPr id="1" name=""/>
        <p:cNvGrpSpPr/>
        <p:nvPr/>
      </p:nvGrpSpPr>
      <p:grpSpPr>
        <a:xfrm>
          <a:off x="0" y="0"/>
          <a:ext cx="0" cy="0"/>
          <a:chOff x="0" y="0"/>
          <a:chExt cx="0" cy="0"/>
        </a:xfrm>
      </p:grpSpPr>
      <p:sp>
        <p:nvSpPr>
          <p:cNvPr id="12" name="Title 4">
            <a:extLst>
              <a:ext uri="{FF2B5EF4-FFF2-40B4-BE49-F238E27FC236}">
                <a16:creationId xmlns:a16="http://schemas.microsoft.com/office/drawing/2014/main" id="{743D81ED-DDBE-A99B-BD4B-7277B049F511}"/>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13" name="Text Placeholder 5">
            <a:extLst>
              <a:ext uri="{FF2B5EF4-FFF2-40B4-BE49-F238E27FC236}">
                <a16:creationId xmlns:a16="http://schemas.microsoft.com/office/drawing/2014/main" id="{40C63C5E-DBE9-8287-CD3F-76398F5E9A13}"/>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CC281E37-10DE-9743-87A9-A079EEC7D36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9F4D957F-E5DE-27F8-AACE-C02FAE5A425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1" name="Straight Connector 10">
            <a:extLst>
              <a:ext uri="{FF2B5EF4-FFF2-40B4-BE49-F238E27FC236}">
                <a16:creationId xmlns:a16="http://schemas.microsoft.com/office/drawing/2014/main" id="{E691BB5A-2185-A4D8-A4DC-15A08501FAEA}"/>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2">
            <a:extLst>
              <a:ext uri="{FF2B5EF4-FFF2-40B4-BE49-F238E27FC236}">
                <a16:creationId xmlns:a16="http://schemas.microsoft.com/office/drawing/2014/main" id="{50701039-6E84-E6CE-7E91-BAB5836AA8DF}"/>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10" name="Graphic 9" descr="Nokia logo">
            <a:extLst>
              <a:ext uri="{FF2B5EF4-FFF2-40B4-BE49-F238E27FC236}">
                <a16:creationId xmlns:a16="http://schemas.microsoft.com/office/drawing/2014/main" id="{A0E9EB38-7E20-0C4F-3C98-F16CA8AE9713}"/>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7592877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5 Bulletpoint text 2 col dark">
    <p:bg>
      <p:bgPr>
        <a:solidFill>
          <a:schemeClr val="tx1"/>
        </a:solid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86FF3B09-9F03-F0B8-C544-B1FF2E642A94}"/>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14" name="Text Placeholder 5">
            <a:extLst>
              <a:ext uri="{FF2B5EF4-FFF2-40B4-BE49-F238E27FC236}">
                <a16:creationId xmlns:a16="http://schemas.microsoft.com/office/drawing/2014/main" id="{213A9A1B-80B7-326D-75D5-CD9E713352B7}"/>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DA31894B-2ADC-F353-515E-61B978FE204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BAB1039B-CAD1-E7A1-9A8E-421F00BB27A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2" name="Straight Connector 11">
            <a:extLst>
              <a:ext uri="{FF2B5EF4-FFF2-40B4-BE49-F238E27FC236}">
                <a16:creationId xmlns:a16="http://schemas.microsoft.com/office/drawing/2014/main" id="{B7CAE2D1-1434-8F6A-0189-9BCF633F46B6}"/>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C5176F92-BBFE-DBC8-EAB4-685F805E3A22}"/>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11" name="Graphic 10" descr="Nokia logo">
            <a:extLst>
              <a:ext uri="{FF2B5EF4-FFF2-40B4-BE49-F238E27FC236}">
                <a16:creationId xmlns:a16="http://schemas.microsoft.com/office/drawing/2014/main" id="{677D79E4-7DD3-8340-C2E1-7861565F8A4B}"/>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9720140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6 Bulletpoint text 3 col dark">
    <p:bg>
      <p:bgPr>
        <a:solidFill>
          <a:schemeClr val="tx1"/>
        </a:solid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69BAFA85-BC0C-65CB-664C-099FF70B5117}"/>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14" name="Text Placeholder 5">
            <a:extLst>
              <a:ext uri="{FF2B5EF4-FFF2-40B4-BE49-F238E27FC236}">
                <a16:creationId xmlns:a16="http://schemas.microsoft.com/office/drawing/2014/main" id="{A60874E9-82D7-4D6B-56F2-6CC35DB55D72}"/>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5">
            <a:extLst>
              <a:ext uri="{FF2B5EF4-FFF2-40B4-BE49-F238E27FC236}">
                <a16:creationId xmlns:a16="http://schemas.microsoft.com/office/drawing/2014/main" id="{2FBD0FB5-5841-7798-81F7-03203504ECC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4FFAD2D5-5981-9B4A-69C8-3901DF8F846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2" name="Straight Connector 11">
            <a:extLst>
              <a:ext uri="{FF2B5EF4-FFF2-40B4-BE49-F238E27FC236}">
                <a16:creationId xmlns:a16="http://schemas.microsoft.com/office/drawing/2014/main" id="{E59A3DAE-2325-5601-A916-159A31E7FB3B}"/>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2">
            <a:extLst>
              <a:ext uri="{FF2B5EF4-FFF2-40B4-BE49-F238E27FC236}">
                <a16:creationId xmlns:a16="http://schemas.microsoft.com/office/drawing/2014/main" id="{9024A70A-45FE-D443-B1F3-C03BAFA27BD1}"/>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7" name="Graphic 6" descr="Nokia logo">
            <a:extLst>
              <a:ext uri="{FF2B5EF4-FFF2-40B4-BE49-F238E27FC236}">
                <a16:creationId xmlns:a16="http://schemas.microsoft.com/office/drawing/2014/main" id="{CE884058-E3A4-33F2-BB69-812C29026304}"/>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89495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7 Bulletpoint text 4 col dark">
    <p:bg>
      <p:bgPr>
        <a:solidFill>
          <a:schemeClr val="tx1"/>
        </a:solidFill>
        <a:effectLst/>
      </p:bgPr>
    </p:bg>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D8F5E3A3-C38C-2B3C-E5F3-EE4797DBE0E8}"/>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15" name="Text Placeholder 5">
            <a:extLst>
              <a:ext uri="{FF2B5EF4-FFF2-40B4-BE49-F238E27FC236}">
                <a16:creationId xmlns:a16="http://schemas.microsoft.com/office/drawing/2014/main" id="{30EFF901-B8B0-63EA-7977-1632AF437E8E}"/>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AC92C61F-FD93-073C-AFAA-3629762CCB45}"/>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0" name="TextBox 9">
            <a:extLst>
              <a:ext uri="{FF2B5EF4-FFF2-40B4-BE49-F238E27FC236}">
                <a16:creationId xmlns:a16="http://schemas.microsoft.com/office/drawing/2014/main" id="{DCEB6067-6AAF-DE7E-E481-757CDC1CC59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3" name="Straight Connector 12">
            <a:extLst>
              <a:ext uri="{FF2B5EF4-FFF2-40B4-BE49-F238E27FC236}">
                <a16:creationId xmlns:a16="http://schemas.microsoft.com/office/drawing/2014/main" id="{06F744C7-8724-A6C8-F281-79A62704901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Footer Placeholder 2">
            <a:extLst>
              <a:ext uri="{FF2B5EF4-FFF2-40B4-BE49-F238E27FC236}">
                <a16:creationId xmlns:a16="http://schemas.microsoft.com/office/drawing/2014/main" id="{422E3335-8FF0-0584-6655-EE052F07292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7" name="Graphic 6" descr="Nokia logo">
            <a:extLst>
              <a:ext uri="{FF2B5EF4-FFF2-40B4-BE49-F238E27FC236}">
                <a16:creationId xmlns:a16="http://schemas.microsoft.com/office/drawing/2014/main" id="{A69D4396-D116-A4A8-BAE4-A8563FCA4EC2}"/>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4244245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8 Numbered text dark">
    <p:bg>
      <p:bgPr>
        <a:solidFill>
          <a:schemeClr val="tx1"/>
        </a:solidFill>
        <a:effectLst/>
      </p:bgPr>
    </p:bg>
    <p:spTree>
      <p:nvGrpSpPr>
        <p:cNvPr id="1" name=""/>
        <p:cNvGrpSpPr/>
        <p:nvPr/>
      </p:nvGrpSpPr>
      <p:grpSpPr>
        <a:xfrm>
          <a:off x="0" y="0"/>
          <a:ext cx="0" cy="0"/>
          <a:chOff x="0" y="0"/>
          <a:chExt cx="0" cy="0"/>
        </a:xfrm>
      </p:grpSpPr>
      <p:sp>
        <p:nvSpPr>
          <p:cNvPr id="11" name="Title 4">
            <a:extLst>
              <a:ext uri="{FF2B5EF4-FFF2-40B4-BE49-F238E27FC236}">
                <a16:creationId xmlns:a16="http://schemas.microsoft.com/office/drawing/2014/main" id="{A478F3F7-D492-7A0A-5EB5-96B2BB6072F3}"/>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12" name="Text Placeholder 5">
            <a:extLst>
              <a:ext uri="{FF2B5EF4-FFF2-40B4-BE49-F238E27FC236}">
                <a16:creationId xmlns:a16="http://schemas.microsoft.com/office/drawing/2014/main" id="{7BC36E61-4BDE-52AD-30A3-9203DBC02921}"/>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bg1"/>
                </a:solidFill>
              </a:defRPr>
            </a:lvl1pPr>
            <a:lvl2pPr marL="408600" indent="-228600">
              <a:lnSpc>
                <a:spcPct val="100000"/>
              </a:lnSpc>
              <a:spcBef>
                <a:spcPts val="0"/>
              </a:spcBef>
              <a:spcAft>
                <a:spcPts val="600"/>
              </a:spcAft>
              <a:buFont typeface="+mj-lt"/>
              <a:buAutoNum type="arabicPeriod" startAt="2"/>
              <a:defRPr sz="1200">
                <a:solidFill>
                  <a:schemeClr val="bg1"/>
                </a:solidFill>
              </a:defRPr>
            </a:lvl2pPr>
            <a:lvl3pPr marL="588600" indent="-228600">
              <a:lnSpc>
                <a:spcPct val="100000"/>
              </a:lnSpc>
              <a:spcBef>
                <a:spcPts val="0"/>
              </a:spcBef>
              <a:spcAft>
                <a:spcPts val="600"/>
              </a:spcAft>
              <a:buFont typeface="+mj-lt"/>
              <a:buAutoNum type="arabicPeriod" startAt="3"/>
              <a:defRPr sz="1200">
                <a:solidFill>
                  <a:schemeClr val="bg1"/>
                </a:solidFill>
              </a:defRPr>
            </a:lvl3pPr>
            <a:lvl4pPr marL="768600" indent="-228600">
              <a:lnSpc>
                <a:spcPct val="100000"/>
              </a:lnSpc>
              <a:spcBef>
                <a:spcPts val="0"/>
              </a:spcBef>
              <a:spcAft>
                <a:spcPts val="600"/>
              </a:spcAft>
              <a:buFont typeface="+mj-lt"/>
              <a:buAutoNum type="arabicPeriod" startAt="4"/>
              <a:defRPr sz="1200">
                <a:solidFill>
                  <a:schemeClr val="bg1"/>
                </a:solidFill>
              </a:defRPr>
            </a:lvl4pPr>
            <a:lvl5pPr marL="957150" indent="-228600">
              <a:lnSpc>
                <a:spcPct val="100000"/>
              </a:lnSpc>
              <a:spcBef>
                <a:spcPts val="0"/>
              </a:spcBef>
              <a:spcAft>
                <a:spcPts val="600"/>
              </a:spcAft>
              <a:buFont typeface="+mj-lt"/>
              <a:buAutoNum type="arabicPeriod" startAt="5"/>
              <a:defRPr sz="1200">
                <a:solidFill>
                  <a:schemeClr val="bg1"/>
                </a:solidFill>
              </a:defRPr>
            </a:lvl5pPr>
          </a:lstStyle>
          <a:p>
            <a:pPr lvl="0"/>
            <a:r>
              <a:rPr lang="en-US" dirty="0"/>
              <a:t>Text here</a:t>
            </a:r>
          </a:p>
          <a:p>
            <a:pPr lvl="1"/>
            <a:r>
              <a:rPr lang="en-US" dirty="0"/>
              <a:t>Text here</a:t>
            </a:r>
          </a:p>
          <a:p>
            <a:pPr lvl="2"/>
            <a:r>
              <a:rPr lang="en-US" dirty="0"/>
              <a:t>Text here</a:t>
            </a:r>
          </a:p>
          <a:p>
            <a:pPr lvl="3"/>
            <a:r>
              <a:rPr lang="en-US" dirty="0"/>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dirty="0"/>
              <a:t>Text here</a:t>
            </a:r>
          </a:p>
        </p:txBody>
      </p:sp>
      <p:sp>
        <p:nvSpPr>
          <p:cNvPr id="8" name="Slide Number Placeholder 5">
            <a:extLst>
              <a:ext uri="{FF2B5EF4-FFF2-40B4-BE49-F238E27FC236}">
                <a16:creationId xmlns:a16="http://schemas.microsoft.com/office/drawing/2014/main" id="{99F8CB66-4F0D-7F21-56F6-56AAA5C0222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8A8B0B3F-161E-8508-3B23-007FE162435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0" name="Straight Connector 9">
            <a:extLst>
              <a:ext uri="{FF2B5EF4-FFF2-40B4-BE49-F238E27FC236}">
                <a16:creationId xmlns:a16="http://schemas.microsoft.com/office/drawing/2014/main" id="{B31F0F32-90A5-E024-3CA1-4EAFC5F204A8}"/>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DD20D035-9F8D-A232-B41B-0EC79F1159BB}"/>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5" name="Graphic 4" descr="Nokia logo">
            <a:extLst>
              <a:ext uri="{FF2B5EF4-FFF2-40B4-BE49-F238E27FC236}">
                <a16:creationId xmlns:a16="http://schemas.microsoft.com/office/drawing/2014/main" id="{852C7036-9FCE-2E79-7ACE-4445688EAF5F}"/>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20321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9 Title slide dark">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AC17C7C-48EB-5E02-E836-536FA92F14F8}"/>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dirty="0"/>
              <a:t>Click to edit headline</a:t>
            </a:r>
          </a:p>
        </p:txBody>
      </p:sp>
      <p:sp>
        <p:nvSpPr>
          <p:cNvPr id="6" name="Slide Number Placeholder 5">
            <a:extLst>
              <a:ext uri="{FF2B5EF4-FFF2-40B4-BE49-F238E27FC236}">
                <a16:creationId xmlns:a16="http://schemas.microsoft.com/office/drawing/2014/main" id="{A66624C8-71C7-7928-25B9-5352C8FD2EB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3BAD1F5B-D865-3F9F-4D96-58C6DD62ECD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5" name="Straight Connector 4">
            <a:extLst>
              <a:ext uri="{FF2B5EF4-FFF2-40B4-BE49-F238E27FC236}">
                <a16:creationId xmlns:a16="http://schemas.microsoft.com/office/drawing/2014/main" id="{89A710F4-454B-9280-0454-7D5D36E2EA04}"/>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34E36D38-263C-DBB6-A0D4-5E9785455C47}"/>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DB4B9A7C-8EE7-E5F6-0712-2CEF04F54077}"/>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0623146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0 Title slide with media 1 dark">
    <p:bg>
      <p:bgPr>
        <a:solidFill>
          <a:schemeClr val="tx1"/>
        </a:solidFill>
        <a:effectLst/>
      </p:bgPr>
    </p:bg>
    <p:spTree>
      <p:nvGrpSpPr>
        <p:cNvPr id="1" name=""/>
        <p:cNvGrpSpPr/>
        <p:nvPr/>
      </p:nvGrpSpPr>
      <p:grpSpPr>
        <a:xfrm>
          <a:off x="0" y="0"/>
          <a:ext cx="0" cy="0"/>
          <a:chOff x="0" y="0"/>
          <a:chExt cx="0" cy="0"/>
        </a:xfrm>
      </p:grpSpPr>
      <p:sp>
        <p:nvSpPr>
          <p:cNvPr id="3" name="Media Placeholder 6">
            <a:extLst>
              <a:ext uri="{FF2B5EF4-FFF2-40B4-BE49-F238E27FC236}">
                <a16:creationId xmlns:a16="http://schemas.microsoft.com/office/drawing/2014/main" id="{BB2531A6-B2AF-8CE3-D4E6-FFA2A6F43CBA}"/>
              </a:ext>
            </a:extLst>
          </p:cNvPr>
          <p:cNvSpPr>
            <a:spLocks noGrp="1"/>
          </p:cNvSpPr>
          <p:nvPr>
            <p:ph type="media" sz="quarter" idx="12"/>
          </p:nvPr>
        </p:nvSpPr>
        <p:spPr>
          <a:xfrm>
            <a:off x="0" y="0"/>
            <a:ext cx="9144000" cy="5143500"/>
          </a:xfrm>
          <a:prstGeom prst="rect">
            <a:avLst/>
          </a:prstGeom>
        </p:spPr>
        <p:txBody>
          <a:bodyPr/>
          <a:lstStyle>
            <a:lvl1pPr marL="0" indent="0">
              <a:buNone/>
              <a:defRPr>
                <a:solidFill>
                  <a:schemeClr val="bg1"/>
                </a:solidFill>
              </a:defRPr>
            </a:lvl1pPr>
          </a:lstStyle>
          <a:p>
            <a:r>
              <a:rPr lang="en-US"/>
              <a:t>Click icon to add media</a:t>
            </a:r>
          </a:p>
        </p:txBody>
      </p:sp>
      <p:sp>
        <p:nvSpPr>
          <p:cNvPr id="15" name="Text Placeholder 42">
            <a:extLst>
              <a:ext uri="{FF2B5EF4-FFF2-40B4-BE49-F238E27FC236}">
                <a16:creationId xmlns:a16="http://schemas.microsoft.com/office/drawing/2014/main" id="{4F756C8B-0244-6A11-8EC3-4A1D203CDD66}"/>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lnSpc>
                <a:spcPct val="100000"/>
              </a:lnSpc>
              <a:spcBef>
                <a:spcPts val="0"/>
              </a:spcBef>
              <a:buNone/>
              <a:defRPr sz="4400" baseline="0">
                <a:solidFill>
                  <a:schemeClr val="bg1"/>
                </a:solidFill>
                <a:latin typeface="Nokia Pure Headline Light" panose="020B0304020202020204" pitchFamily="34" charset="0"/>
              </a:defRPr>
            </a:lvl1pPr>
          </a:lstStyle>
          <a:p>
            <a:pPr lvl="0"/>
            <a:r>
              <a:rPr lang="en-US" dirty="0"/>
              <a:t>Click to edit headline</a:t>
            </a:r>
          </a:p>
        </p:txBody>
      </p:sp>
      <p:sp>
        <p:nvSpPr>
          <p:cNvPr id="7" name="Slide Number Placeholder 5">
            <a:extLst>
              <a:ext uri="{FF2B5EF4-FFF2-40B4-BE49-F238E27FC236}">
                <a16:creationId xmlns:a16="http://schemas.microsoft.com/office/drawing/2014/main" id="{A40A76AB-576F-2C48-7ED4-0E98A54B99A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BD759CC4-69C8-613F-E557-4E2AEE7B75E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5" name="Straight Connector 4">
            <a:extLst>
              <a:ext uri="{FF2B5EF4-FFF2-40B4-BE49-F238E27FC236}">
                <a16:creationId xmlns:a16="http://schemas.microsoft.com/office/drawing/2014/main" id="{0DCE9648-B624-3DC8-627D-87061FBB1FCA}"/>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0DC17B7D-4E9B-5FAC-1228-C97FB1CFC5AF}"/>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6F2AB971-B4DD-59FD-C268-1BB0A62D8391}"/>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8044308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11 Title slide with media 2 dark">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 uri="{C183D7F6-B498-43B3-948B-1728B52AA6E4}">
                <adec:decorative xmlns:adec="http://schemas.microsoft.com/office/drawing/2017/decorative" val="1"/>
              </a:ext>
            </a:extLst>
          </p:cNvPr>
          <p:cNvSpPr>
            <a:spLocks noGrp="1"/>
          </p:cNvSpPr>
          <p:nvPr>
            <p:ph type="pic" sz="quarter" idx="15" hasCustomPrompt="1"/>
          </p:nvPr>
        </p:nvSpPr>
        <p:spPr>
          <a:xfrm>
            <a:off x="5031315" y="0"/>
            <a:ext cx="4114800"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sp>
        <p:nvSpPr>
          <p:cNvPr id="5" name="Title 4">
            <a:extLst>
              <a:ext uri="{FF2B5EF4-FFF2-40B4-BE49-F238E27FC236}">
                <a16:creationId xmlns:a16="http://schemas.microsoft.com/office/drawing/2014/main" id="{351E46E0-0E1B-8CAF-D631-7703C8A769CB}"/>
              </a:ext>
            </a:extLst>
          </p:cNvPr>
          <p:cNvSpPr>
            <a:spLocks noGrp="1"/>
          </p:cNvSpPr>
          <p:nvPr>
            <p:ph type="title" hasCustomPrompt="1"/>
          </p:nvPr>
        </p:nvSpPr>
        <p:spPr>
          <a:xfrm>
            <a:off x="417531" y="396000"/>
            <a:ext cx="42516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6" name="Text Placeholder 5">
            <a:extLst>
              <a:ext uri="{FF2B5EF4-FFF2-40B4-BE49-F238E27FC236}">
                <a16:creationId xmlns:a16="http://schemas.microsoft.com/office/drawing/2014/main" id="{F299F8D9-4963-D188-F8EE-27DB6017B235}"/>
              </a:ext>
            </a:extLst>
          </p:cNvPr>
          <p:cNvSpPr>
            <a:spLocks noGrp="1"/>
          </p:cNvSpPr>
          <p:nvPr>
            <p:ph type="body" sz="quarter" idx="10" hasCustomPrompt="1"/>
          </p:nvPr>
        </p:nvSpPr>
        <p:spPr>
          <a:xfrm>
            <a:off x="417599" y="763200"/>
            <a:ext cx="42516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4" name="Text Placeholder 12">
            <a:extLst>
              <a:ext uri="{FF2B5EF4-FFF2-40B4-BE49-F238E27FC236}">
                <a16:creationId xmlns:a16="http://schemas.microsoft.com/office/drawing/2014/main" id="{75569BCB-A411-0457-2706-5BDA5870D8B5}"/>
              </a:ext>
            </a:extLst>
          </p:cNvPr>
          <p:cNvSpPr>
            <a:spLocks noGrp="1"/>
          </p:cNvSpPr>
          <p:nvPr>
            <p:ph type="body" sz="quarter" idx="16"/>
          </p:nvPr>
        </p:nvSpPr>
        <p:spPr>
          <a:xfrm>
            <a:off x="417338" y="1260000"/>
            <a:ext cx="42516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02B48A79-625E-B973-DCD8-533E86F25072}"/>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27418BB1-0E7E-AAD3-AD71-82204464918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1" name="Straight Connector 10">
            <a:extLst>
              <a:ext uri="{FF2B5EF4-FFF2-40B4-BE49-F238E27FC236}">
                <a16:creationId xmlns:a16="http://schemas.microsoft.com/office/drawing/2014/main" id="{962696BC-FF96-7C90-2879-6CEC41EF0698}"/>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742AC6DC-CFBE-F98E-4CC4-2390702BA655}"/>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7E7E3C71-A7E6-4837-47D4-F29F0703D0ED}"/>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5629432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12 Title slide with media 3 dark">
    <p:bg>
      <p:bgPr>
        <a:solidFill>
          <a:schemeClr val="tx1"/>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1E7BA896-DC3C-C861-6C89-0401950D7446}"/>
              </a:ext>
              <a:ext uri="{C183D7F6-B498-43B3-948B-1728B52AA6E4}">
                <adec:decorative xmlns:adec="http://schemas.microsoft.com/office/drawing/2017/decorative" val="1"/>
              </a:ext>
            </a:extLst>
          </p:cNvPr>
          <p:cNvSpPr>
            <a:spLocks noGrp="1"/>
          </p:cNvSpPr>
          <p:nvPr>
            <p:ph type="pic" sz="quarter" idx="15" hasCustomPrompt="1"/>
          </p:nvPr>
        </p:nvSpPr>
        <p:spPr>
          <a:xfrm>
            <a:off x="4114800" y="0"/>
            <a:ext cx="5029200"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sp>
        <p:nvSpPr>
          <p:cNvPr id="4" name="Title 4">
            <a:extLst>
              <a:ext uri="{FF2B5EF4-FFF2-40B4-BE49-F238E27FC236}">
                <a16:creationId xmlns:a16="http://schemas.microsoft.com/office/drawing/2014/main" id="{F8719083-E8AC-0E0F-B2A0-40CE46066CE9}"/>
              </a:ext>
            </a:extLst>
          </p:cNvPr>
          <p:cNvSpPr>
            <a:spLocks noGrp="1"/>
          </p:cNvSpPr>
          <p:nvPr>
            <p:ph type="title" hasCustomPrompt="1"/>
          </p:nvPr>
        </p:nvSpPr>
        <p:spPr>
          <a:xfrm>
            <a:off x="417531" y="396000"/>
            <a:ext cx="34164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8" name="Text Placeholder 5">
            <a:extLst>
              <a:ext uri="{FF2B5EF4-FFF2-40B4-BE49-F238E27FC236}">
                <a16:creationId xmlns:a16="http://schemas.microsoft.com/office/drawing/2014/main" id="{F3565AE2-44FB-6E3F-4CD5-D32177BD94BA}"/>
              </a:ext>
            </a:extLst>
          </p:cNvPr>
          <p:cNvSpPr>
            <a:spLocks noGrp="1"/>
          </p:cNvSpPr>
          <p:nvPr>
            <p:ph type="body" sz="quarter" idx="10" hasCustomPrompt="1"/>
          </p:nvPr>
        </p:nvSpPr>
        <p:spPr>
          <a:xfrm>
            <a:off x="417599" y="763200"/>
            <a:ext cx="34164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3" name="Text Placeholder 12">
            <a:extLst>
              <a:ext uri="{FF2B5EF4-FFF2-40B4-BE49-F238E27FC236}">
                <a16:creationId xmlns:a16="http://schemas.microsoft.com/office/drawing/2014/main" id="{368EB97E-538F-D25F-E38A-7F89D40173CA}"/>
              </a:ext>
            </a:extLst>
          </p:cNvPr>
          <p:cNvSpPr>
            <a:spLocks noGrp="1"/>
          </p:cNvSpPr>
          <p:nvPr>
            <p:ph type="body" sz="quarter" idx="16"/>
          </p:nvPr>
        </p:nvSpPr>
        <p:spPr>
          <a:xfrm>
            <a:off x="417338" y="1260000"/>
            <a:ext cx="34164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1DBEFAD-5693-7A1A-A64F-C540D390A0B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TextBox 4">
            <a:extLst>
              <a:ext uri="{FF2B5EF4-FFF2-40B4-BE49-F238E27FC236}">
                <a16:creationId xmlns:a16="http://schemas.microsoft.com/office/drawing/2014/main" id="{B6681D21-FC7E-7F82-9685-4F1EF53B236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2" name="Straight Connector 11">
            <a:extLst>
              <a:ext uri="{FF2B5EF4-FFF2-40B4-BE49-F238E27FC236}">
                <a16:creationId xmlns:a16="http://schemas.microsoft.com/office/drawing/2014/main" id="{145F777C-D535-AFCB-20A5-43068DA8FF0E}"/>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DDEF2D02-B6B9-E747-F0EA-9ED48DC28C93}"/>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7" name="Graphic 6" descr="Nokia logo">
            <a:extLst>
              <a:ext uri="{FF2B5EF4-FFF2-40B4-BE49-F238E27FC236}">
                <a16:creationId xmlns:a16="http://schemas.microsoft.com/office/drawing/2014/main" id="{FEE42485-0093-9AEA-D095-FDAA8291CA5E}"/>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79992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3 Title slide with media 4 dark">
    <p:bg>
      <p:bgPr>
        <a:solidFill>
          <a:schemeClr val="tx1"/>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663BDD0-396A-C130-FA04-231CB3C74388}"/>
              </a:ext>
              <a:ext uri="{C183D7F6-B498-43B3-948B-1728B52AA6E4}">
                <adec:decorative xmlns:adec="http://schemas.microsoft.com/office/drawing/2017/decorative" val="1"/>
              </a:ext>
            </a:extLst>
          </p:cNvPr>
          <p:cNvSpPr>
            <a:spLocks noGrp="1"/>
          </p:cNvSpPr>
          <p:nvPr>
            <p:ph type="pic" sz="quarter" idx="16" hasCustomPrompt="1"/>
          </p:nvPr>
        </p:nvSpPr>
        <p:spPr>
          <a:xfrm>
            <a:off x="3200400" y="0"/>
            <a:ext cx="5943600" cy="5143500"/>
          </a:xfrm>
          <a:prstGeom prst="rect">
            <a:avLst/>
          </a:prstGeom>
          <a:solidFill>
            <a:schemeClr val="tx2"/>
          </a:solidFill>
        </p:spPr>
        <p:txBody>
          <a:bodyPr/>
          <a:lstStyle>
            <a:lvl1pPr marL="0" indent="0">
              <a:buNone/>
              <a:defRPr sz="1000">
                <a:solidFill>
                  <a:schemeClr val="bg1"/>
                </a:solidFill>
              </a:defRPr>
            </a:lvl1pPr>
          </a:lstStyle>
          <a:p>
            <a:r>
              <a:rPr lang="en-US"/>
              <a:t>Click to add picture</a:t>
            </a:r>
          </a:p>
        </p:txBody>
      </p:sp>
      <p:sp>
        <p:nvSpPr>
          <p:cNvPr id="5" name="Title 4">
            <a:extLst>
              <a:ext uri="{FF2B5EF4-FFF2-40B4-BE49-F238E27FC236}">
                <a16:creationId xmlns:a16="http://schemas.microsoft.com/office/drawing/2014/main" id="{3D915D93-3D42-065E-5889-D6512FC04D07}"/>
              </a:ext>
            </a:extLst>
          </p:cNvPr>
          <p:cNvSpPr>
            <a:spLocks noGrp="1"/>
          </p:cNvSpPr>
          <p:nvPr>
            <p:ph type="title"/>
          </p:nvPr>
        </p:nvSpPr>
        <p:spPr>
          <a:xfrm>
            <a:off x="417531" y="396000"/>
            <a:ext cx="24696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a:t>Click to edit Master title style</a:t>
            </a:r>
            <a:endParaRPr lang="en-US" dirty="0"/>
          </a:p>
        </p:txBody>
      </p:sp>
      <p:sp>
        <p:nvSpPr>
          <p:cNvPr id="7" name="Text Placeholder 5">
            <a:extLst>
              <a:ext uri="{FF2B5EF4-FFF2-40B4-BE49-F238E27FC236}">
                <a16:creationId xmlns:a16="http://schemas.microsoft.com/office/drawing/2014/main" id="{22DA7900-C799-86E9-E337-DD7F16C91B75}"/>
              </a:ext>
            </a:extLst>
          </p:cNvPr>
          <p:cNvSpPr>
            <a:spLocks noGrp="1"/>
          </p:cNvSpPr>
          <p:nvPr>
            <p:ph type="body" sz="quarter" idx="10" hasCustomPrompt="1"/>
          </p:nvPr>
        </p:nvSpPr>
        <p:spPr>
          <a:xfrm>
            <a:off x="417599" y="763200"/>
            <a:ext cx="24696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3" name="Text Placeholder 12">
            <a:extLst>
              <a:ext uri="{FF2B5EF4-FFF2-40B4-BE49-F238E27FC236}">
                <a16:creationId xmlns:a16="http://schemas.microsoft.com/office/drawing/2014/main" id="{A60CF481-C9D5-F170-D944-99D1ADA24E37}"/>
              </a:ext>
            </a:extLst>
          </p:cNvPr>
          <p:cNvSpPr>
            <a:spLocks noGrp="1"/>
          </p:cNvSpPr>
          <p:nvPr>
            <p:ph type="body" sz="quarter" idx="15"/>
          </p:nvPr>
        </p:nvSpPr>
        <p:spPr>
          <a:xfrm>
            <a:off x="417338" y="1260000"/>
            <a:ext cx="24696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3F76E50B-EEF8-724F-1802-0488D70A46F4}"/>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2108539B-21D0-85E7-AB77-143ABD40EEB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12" name="Straight Connector 11">
            <a:extLst>
              <a:ext uri="{FF2B5EF4-FFF2-40B4-BE49-F238E27FC236}">
                <a16:creationId xmlns:a16="http://schemas.microsoft.com/office/drawing/2014/main" id="{E33787D7-2EEE-AEBC-7FAF-892EC0B312DC}"/>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0CF5A558-51C2-73A4-9D8C-5A3B7422BE46}"/>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pic>
        <p:nvPicPr>
          <p:cNvPr id="2" name="Graphic 1" descr="Nokia logo">
            <a:extLst>
              <a:ext uri="{FF2B5EF4-FFF2-40B4-BE49-F238E27FC236}">
                <a16:creationId xmlns:a16="http://schemas.microsoft.com/office/drawing/2014/main" id="{C31BECE7-632F-A19D-3778-9775805B791E}"/>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5965720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N Blue gr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7BECFD-8EA7-0689-338E-FF79734814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6" name="Graphic 5">
            <a:extLst>
              <a:ext uri="{FF2B5EF4-FFF2-40B4-BE49-F238E27FC236}">
                <a16:creationId xmlns:a16="http://schemas.microsoft.com/office/drawing/2014/main" id="{B8976C7B-2688-70F3-77A4-4D1113FB54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5144400" cy="5144400"/>
          </a:xfrm>
          <a:prstGeom prst="rect">
            <a:avLst/>
          </a:prstGeom>
        </p:spPr>
      </p:pic>
      <p:sp>
        <p:nvSpPr>
          <p:cNvPr id="5" name="Title 4">
            <a:extLst>
              <a:ext uri="{FF2B5EF4-FFF2-40B4-BE49-F238E27FC236}">
                <a16:creationId xmlns:a16="http://schemas.microsoft.com/office/drawing/2014/main" id="{1EF87F37-41EC-F109-B4C3-D44EE53A0A05}"/>
              </a:ext>
            </a:extLst>
          </p:cNvPr>
          <p:cNvSpPr>
            <a:spLocks noGrp="1"/>
          </p:cNvSpPr>
          <p:nvPr>
            <p:ph type="title" hasCustomPrompt="1"/>
          </p:nvPr>
        </p:nvSpPr>
        <p:spPr>
          <a:xfrm>
            <a:off x="3830398" y="719799"/>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dirty="0"/>
              <a:t>Presentation</a:t>
            </a:r>
            <a:br>
              <a:rPr lang="en-US" noProof="0" dirty="0"/>
            </a:br>
            <a:r>
              <a:rPr lang="en-US" noProof="0" dirty="0"/>
              <a:t>Title (2 lines)</a:t>
            </a:r>
          </a:p>
        </p:txBody>
      </p:sp>
      <p:sp>
        <p:nvSpPr>
          <p:cNvPr id="7" name="Text Placeholder 3">
            <a:extLst>
              <a:ext uri="{FF2B5EF4-FFF2-40B4-BE49-F238E27FC236}">
                <a16:creationId xmlns:a16="http://schemas.microsoft.com/office/drawing/2014/main" id="{3D32AC0D-5511-1F2D-2A28-C259AC8BC58A}"/>
              </a:ext>
            </a:extLst>
          </p:cNvPr>
          <p:cNvSpPr>
            <a:spLocks noGrp="1"/>
          </p:cNvSpPr>
          <p:nvPr>
            <p:ph type="body" sz="quarter" idx="12" hasCustomPrompt="1"/>
          </p:nvPr>
        </p:nvSpPr>
        <p:spPr>
          <a:xfrm>
            <a:off x="3830399" y="2126098"/>
            <a:ext cx="4896000"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pic>
        <p:nvPicPr>
          <p:cNvPr id="3" name="Graphic 2" descr="Nokia logo">
            <a:extLst>
              <a:ext uri="{FF2B5EF4-FFF2-40B4-BE49-F238E27FC236}">
                <a16:creationId xmlns:a16="http://schemas.microsoft.com/office/drawing/2014/main" id="{09469116-FBE9-F1CA-AA9E-3840A8AFBA62}"/>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7478" y="4472616"/>
            <a:ext cx="1368000" cy="308246"/>
          </a:xfrm>
          <a:prstGeom prst="rect">
            <a:avLst/>
          </a:prstGeom>
        </p:spPr>
      </p:pic>
      <p:sp>
        <p:nvSpPr>
          <p:cNvPr id="19" name="Slide Number Placeholder 5">
            <a:extLst>
              <a:ext uri="{FF2B5EF4-FFF2-40B4-BE49-F238E27FC236}">
                <a16:creationId xmlns:a16="http://schemas.microsoft.com/office/drawing/2014/main" id="{0AAD2976-396D-426A-A7C0-2D53F71491E3}"/>
              </a:ext>
            </a:extLst>
          </p:cNvPr>
          <p:cNvSpPr txBox="1">
            <a:spLocks/>
          </p:cNvSpPr>
          <p:nvPr userDrawn="1"/>
        </p:nvSpPr>
        <p:spPr>
          <a:xfrm>
            <a:off x="7833889"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TextBox 17">
            <a:extLst>
              <a:ext uri="{FF2B5EF4-FFF2-40B4-BE49-F238E27FC236}">
                <a16:creationId xmlns:a16="http://schemas.microsoft.com/office/drawing/2014/main" id="{3CB10A0F-2286-895A-B579-CB5D4386A2B7}"/>
              </a:ext>
            </a:extLst>
          </p:cNvPr>
          <p:cNvSpPr txBox="1"/>
          <p:nvPr userDrawn="1"/>
        </p:nvSpPr>
        <p:spPr>
          <a:xfrm>
            <a:off x="8094815"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2" name="Straight Connector 1">
            <a:extLst>
              <a:ext uri="{FF2B5EF4-FFF2-40B4-BE49-F238E27FC236}">
                <a16:creationId xmlns:a16="http://schemas.microsoft.com/office/drawing/2014/main" id="{DB9D0FD3-4F3E-5B54-794B-C1086A882A63}"/>
              </a:ext>
              <a:ext uri="{C183D7F6-B498-43B3-948B-1728B52AA6E4}">
                <adec:decorative xmlns:adec="http://schemas.microsoft.com/office/drawing/2017/decorative" val="1"/>
              </a:ext>
            </a:extLst>
          </p:cNvPr>
          <p:cNvCxnSpPr>
            <a:cxnSpLocks/>
          </p:cNvCxnSpPr>
          <p:nvPr userDrawn="1"/>
        </p:nvCxnSpPr>
        <p:spPr>
          <a:xfrm>
            <a:off x="773269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Footer Placeholder 2">
            <a:extLst>
              <a:ext uri="{FF2B5EF4-FFF2-40B4-BE49-F238E27FC236}">
                <a16:creationId xmlns:a16="http://schemas.microsoft.com/office/drawing/2014/main" id="{48039461-1E88-020F-5465-572B01F83560}"/>
              </a:ext>
            </a:extLst>
          </p:cNvPr>
          <p:cNvSpPr>
            <a:spLocks noGrp="1"/>
          </p:cNvSpPr>
          <p:nvPr>
            <p:ph type="ftr" sz="quarter" idx="3"/>
          </p:nvPr>
        </p:nvSpPr>
        <p:spPr>
          <a:xfrm>
            <a:off x="6024404" y="4860000"/>
            <a:ext cx="1584000" cy="122400"/>
          </a:xfrm>
          <a:prstGeom prst="rect">
            <a:avLst/>
          </a:prstGeom>
        </p:spPr>
        <p:txBody>
          <a:bodyPr vert="horz" lIns="0" tIns="0" rIns="0" bIns="0" rtlCol="0" anchor="b"/>
          <a:lstStyle>
            <a:lvl1pPr algn="r">
              <a:defRPr sz="800">
                <a:solidFill>
                  <a:schemeClr val="bg1"/>
                </a:solidFill>
              </a:defRPr>
            </a:lvl1pPr>
          </a:lstStyle>
          <a:p>
            <a:r>
              <a:rPr lang="en-US"/>
              <a:t>Apply a document ID (if applicable).</a:t>
            </a:r>
            <a:endParaRPr lang="en-US" dirty="0"/>
          </a:p>
        </p:txBody>
      </p:sp>
    </p:spTree>
    <p:extLst>
      <p:ext uri="{BB962C8B-B14F-4D97-AF65-F5344CB8AC3E}">
        <p14:creationId xmlns:p14="http://schemas.microsoft.com/office/powerpoint/2010/main" val="25509633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N Purple blu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1E104F6-2E1E-CFDD-A69D-C115384F159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5" name="Graphic 4">
            <a:extLst>
              <a:ext uri="{FF2B5EF4-FFF2-40B4-BE49-F238E27FC236}">
                <a16:creationId xmlns:a16="http://schemas.microsoft.com/office/drawing/2014/main" id="{0E27FD93-255E-C585-12C2-E99681C9BE5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900"/>
            <a:ext cx="5144400" cy="5144400"/>
          </a:xfrm>
          <a:prstGeom prst="rect">
            <a:avLst/>
          </a:prstGeom>
        </p:spPr>
      </p:pic>
      <p:sp>
        <p:nvSpPr>
          <p:cNvPr id="17" name="Title 4">
            <a:extLst>
              <a:ext uri="{FF2B5EF4-FFF2-40B4-BE49-F238E27FC236}">
                <a16:creationId xmlns:a16="http://schemas.microsoft.com/office/drawing/2014/main" id="{A1D3EB5E-6B70-AA5A-4340-53F0E0A0646D}"/>
              </a:ext>
            </a:extLst>
          </p:cNvPr>
          <p:cNvSpPr>
            <a:spLocks noGrp="1"/>
          </p:cNvSpPr>
          <p:nvPr>
            <p:ph type="title" hasCustomPrompt="1"/>
          </p:nvPr>
        </p:nvSpPr>
        <p:spPr>
          <a:xfrm>
            <a:off x="3830398" y="719799"/>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dirty="0"/>
              <a:t>Presentation</a:t>
            </a:r>
            <a:br>
              <a:rPr lang="en-US" noProof="0" dirty="0"/>
            </a:br>
            <a:r>
              <a:rPr lang="en-US" noProof="0" dirty="0"/>
              <a:t>Title (2 lines)</a:t>
            </a:r>
          </a:p>
        </p:txBody>
      </p:sp>
      <p:sp>
        <p:nvSpPr>
          <p:cNvPr id="18" name="Text Placeholder 3">
            <a:extLst>
              <a:ext uri="{FF2B5EF4-FFF2-40B4-BE49-F238E27FC236}">
                <a16:creationId xmlns:a16="http://schemas.microsoft.com/office/drawing/2014/main" id="{0AF9AF4C-BE87-2184-CAE5-F141A4F930B6}"/>
              </a:ext>
            </a:extLst>
          </p:cNvPr>
          <p:cNvSpPr>
            <a:spLocks noGrp="1"/>
          </p:cNvSpPr>
          <p:nvPr>
            <p:ph type="body" sz="quarter" idx="12" hasCustomPrompt="1"/>
          </p:nvPr>
        </p:nvSpPr>
        <p:spPr>
          <a:xfrm>
            <a:off x="3830399" y="2126098"/>
            <a:ext cx="4896000"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pic>
        <p:nvPicPr>
          <p:cNvPr id="7" name="Graphic 6" descr="Nokia logo">
            <a:extLst>
              <a:ext uri="{FF2B5EF4-FFF2-40B4-BE49-F238E27FC236}">
                <a16:creationId xmlns:a16="http://schemas.microsoft.com/office/drawing/2014/main" id="{6473A8D9-1E1F-2E3A-7D9E-D4269FE0E856}"/>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7478" y="4472616"/>
            <a:ext cx="1368000" cy="308246"/>
          </a:xfrm>
          <a:prstGeom prst="rect">
            <a:avLst/>
          </a:prstGeom>
        </p:spPr>
      </p:pic>
      <p:sp>
        <p:nvSpPr>
          <p:cNvPr id="2" name="Slide Number Placeholder 5">
            <a:extLst>
              <a:ext uri="{FF2B5EF4-FFF2-40B4-BE49-F238E27FC236}">
                <a16:creationId xmlns:a16="http://schemas.microsoft.com/office/drawing/2014/main" id="{3E000902-5E79-68DD-EDE6-D1CCC1EB987A}"/>
              </a:ext>
            </a:extLst>
          </p:cNvPr>
          <p:cNvSpPr txBox="1">
            <a:spLocks/>
          </p:cNvSpPr>
          <p:nvPr userDrawn="1"/>
        </p:nvSpPr>
        <p:spPr>
          <a:xfrm>
            <a:off x="7833889"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294AF00F-299D-DCF3-444D-7E48FA2060FD}"/>
              </a:ext>
            </a:extLst>
          </p:cNvPr>
          <p:cNvSpPr txBox="1"/>
          <p:nvPr userDrawn="1"/>
        </p:nvSpPr>
        <p:spPr>
          <a:xfrm>
            <a:off x="8094815"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4" name="Straight Connector 3">
            <a:extLst>
              <a:ext uri="{FF2B5EF4-FFF2-40B4-BE49-F238E27FC236}">
                <a16:creationId xmlns:a16="http://schemas.microsoft.com/office/drawing/2014/main" id="{A7997C35-F6E6-E03D-A775-D21FBE1A50E3}"/>
              </a:ext>
              <a:ext uri="{C183D7F6-B498-43B3-948B-1728B52AA6E4}">
                <adec:decorative xmlns:adec="http://schemas.microsoft.com/office/drawing/2017/decorative" val="1"/>
              </a:ext>
            </a:extLst>
          </p:cNvPr>
          <p:cNvCxnSpPr>
            <a:cxnSpLocks/>
          </p:cNvCxnSpPr>
          <p:nvPr userDrawn="1"/>
        </p:nvCxnSpPr>
        <p:spPr>
          <a:xfrm>
            <a:off x="773269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2">
            <a:extLst>
              <a:ext uri="{FF2B5EF4-FFF2-40B4-BE49-F238E27FC236}">
                <a16:creationId xmlns:a16="http://schemas.microsoft.com/office/drawing/2014/main" id="{6122F36E-DBFF-3D65-481E-C07DA1F05047}"/>
              </a:ext>
            </a:extLst>
          </p:cNvPr>
          <p:cNvSpPr>
            <a:spLocks noGrp="1"/>
          </p:cNvSpPr>
          <p:nvPr>
            <p:ph type="ftr" sz="quarter" idx="3"/>
          </p:nvPr>
        </p:nvSpPr>
        <p:spPr>
          <a:xfrm>
            <a:off x="6024404" y="4860000"/>
            <a:ext cx="1584000" cy="122400"/>
          </a:xfrm>
          <a:prstGeom prst="rect">
            <a:avLst/>
          </a:prstGeom>
        </p:spPr>
        <p:txBody>
          <a:bodyPr vert="horz" lIns="0" tIns="0" rIns="0" bIns="0" rtlCol="0" anchor="b"/>
          <a:lstStyle>
            <a:lvl1pPr algn="r">
              <a:defRPr sz="800">
                <a:solidFill>
                  <a:schemeClr val="bg1"/>
                </a:solidFill>
              </a:defRPr>
            </a:lvl1pPr>
          </a:lstStyle>
          <a:p>
            <a:r>
              <a:rPr lang="en-US"/>
              <a:t>Apply a document ID (if applicable).</a:t>
            </a:r>
            <a:endParaRPr lang="en-US" dirty="0"/>
          </a:p>
        </p:txBody>
      </p:sp>
    </p:spTree>
    <p:extLst>
      <p:ext uri="{BB962C8B-B14F-4D97-AF65-F5344CB8AC3E}">
        <p14:creationId xmlns:p14="http://schemas.microsoft.com/office/powerpoint/2010/main" val="19109734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N Pink">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C7D16BB-9265-7D3A-E136-8F028A9F864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20" name="Graphic 19">
            <a:extLst>
              <a:ext uri="{FF2B5EF4-FFF2-40B4-BE49-F238E27FC236}">
                <a16:creationId xmlns:a16="http://schemas.microsoft.com/office/drawing/2014/main" id="{A7536232-7B28-DCFA-37A3-EEBA7365A53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5144400" cy="5144400"/>
          </a:xfrm>
          <a:prstGeom prst="rect">
            <a:avLst/>
          </a:prstGeom>
        </p:spPr>
      </p:pic>
      <p:sp>
        <p:nvSpPr>
          <p:cNvPr id="21" name="Title 4">
            <a:extLst>
              <a:ext uri="{FF2B5EF4-FFF2-40B4-BE49-F238E27FC236}">
                <a16:creationId xmlns:a16="http://schemas.microsoft.com/office/drawing/2014/main" id="{F0180981-7B7F-4D9A-87AD-960857227942}"/>
              </a:ext>
            </a:extLst>
          </p:cNvPr>
          <p:cNvSpPr>
            <a:spLocks noGrp="1"/>
          </p:cNvSpPr>
          <p:nvPr>
            <p:ph type="title" hasCustomPrompt="1"/>
          </p:nvPr>
        </p:nvSpPr>
        <p:spPr>
          <a:xfrm>
            <a:off x="3830398" y="719799"/>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22" name="Text Placeholder 3">
            <a:extLst>
              <a:ext uri="{FF2B5EF4-FFF2-40B4-BE49-F238E27FC236}">
                <a16:creationId xmlns:a16="http://schemas.microsoft.com/office/drawing/2014/main" id="{5C555545-3487-5A2F-B887-81AE17C8067F}"/>
              </a:ext>
            </a:extLst>
          </p:cNvPr>
          <p:cNvSpPr>
            <a:spLocks noGrp="1"/>
          </p:cNvSpPr>
          <p:nvPr>
            <p:ph type="body" sz="quarter" idx="12" hasCustomPrompt="1"/>
          </p:nvPr>
        </p:nvSpPr>
        <p:spPr>
          <a:xfrm>
            <a:off x="3830399" y="2126098"/>
            <a:ext cx="4896000"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pic>
        <p:nvPicPr>
          <p:cNvPr id="8" name="Graphic 7" descr="Nokia logo">
            <a:extLst>
              <a:ext uri="{FF2B5EF4-FFF2-40B4-BE49-F238E27FC236}">
                <a16:creationId xmlns:a16="http://schemas.microsoft.com/office/drawing/2014/main" id="{E38B61BF-D739-BBD9-DF1D-6287976FB4E6}"/>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7478" y="4472616"/>
            <a:ext cx="1368000" cy="308246"/>
          </a:xfrm>
          <a:prstGeom prst="rect">
            <a:avLst/>
          </a:prstGeom>
        </p:spPr>
      </p:pic>
      <p:sp>
        <p:nvSpPr>
          <p:cNvPr id="2" name="Slide Number Placeholder 5">
            <a:extLst>
              <a:ext uri="{FF2B5EF4-FFF2-40B4-BE49-F238E27FC236}">
                <a16:creationId xmlns:a16="http://schemas.microsoft.com/office/drawing/2014/main" id="{D3B6AB73-247C-7753-E70A-46F30BB122CA}"/>
              </a:ext>
            </a:extLst>
          </p:cNvPr>
          <p:cNvSpPr txBox="1">
            <a:spLocks/>
          </p:cNvSpPr>
          <p:nvPr userDrawn="1"/>
        </p:nvSpPr>
        <p:spPr>
          <a:xfrm>
            <a:off x="7833889"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70405E22-E788-A068-7D1B-4691E27CC0C7}"/>
              </a:ext>
            </a:extLst>
          </p:cNvPr>
          <p:cNvSpPr txBox="1"/>
          <p:nvPr userDrawn="1"/>
        </p:nvSpPr>
        <p:spPr>
          <a:xfrm>
            <a:off x="8094815"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4" name="Straight Connector 3">
            <a:extLst>
              <a:ext uri="{FF2B5EF4-FFF2-40B4-BE49-F238E27FC236}">
                <a16:creationId xmlns:a16="http://schemas.microsoft.com/office/drawing/2014/main" id="{39737F70-793C-7B7A-6B94-2C17E590D17C}"/>
              </a:ext>
              <a:ext uri="{C183D7F6-B498-43B3-948B-1728B52AA6E4}">
                <adec:decorative xmlns:adec="http://schemas.microsoft.com/office/drawing/2017/decorative" val="1"/>
              </a:ext>
            </a:extLst>
          </p:cNvPr>
          <p:cNvCxnSpPr>
            <a:cxnSpLocks/>
          </p:cNvCxnSpPr>
          <p:nvPr userDrawn="1"/>
        </p:nvCxnSpPr>
        <p:spPr>
          <a:xfrm>
            <a:off x="773269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24FA11AC-1A20-7042-E171-134BF6BA9D5E}"/>
              </a:ext>
            </a:extLst>
          </p:cNvPr>
          <p:cNvSpPr>
            <a:spLocks noGrp="1"/>
          </p:cNvSpPr>
          <p:nvPr>
            <p:ph type="ftr" sz="quarter" idx="3"/>
          </p:nvPr>
        </p:nvSpPr>
        <p:spPr>
          <a:xfrm>
            <a:off x="6024404" y="4860000"/>
            <a:ext cx="1584000" cy="122400"/>
          </a:xfrm>
          <a:prstGeom prst="rect">
            <a:avLst/>
          </a:prstGeom>
        </p:spPr>
        <p:txBody>
          <a:bodyPr vert="horz" lIns="0" tIns="0" rIns="0" bIns="0" rtlCol="0" anchor="b"/>
          <a:lstStyle>
            <a:lvl1pPr algn="r">
              <a:defRPr sz="800">
                <a:solidFill>
                  <a:schemeClr val="bg1"/>
                </a:solidFill>
              </a:defRPr>
            </a:lvl1pPr>
          </a:lstStyle>
          <a:p>
            <a:r>
              <a:rPr lang="en-US"/>
              <a:t>Apply a document ID (if applicable).</a:t>
            </a:r>
            <a:endParaRPr lang="en-US" dirty="0"/>
          </a:p>
        </p:txBody>
      </p:sp>
    </p:spTree>
    <p:extLst>
      <p:ext uri="{BB962C8B-B14F-4D97-AF65-F5344CB8AC3E}">
        <p14:creationId xmlns:p14="http://schemas.microsoft.com/office/powerpoint/2010/main" val="41548159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N White">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6585F427-7AA2-BA79-9FAB-3B20B348D66A}"/>
              </a:ext>
              <a:ext uri="{C183D7F6-B498-43B3-948B-1728B52AA6E4}">
                <adec:decorative xmlns:adec="http://schemas.microsoft.com/office/drawing/2017/decorative" val="1"/>
              </a:ext>
            </a:extLst>
          </p:cNvPr>
          <p:cNvSpPr/>
          <p:nvPr userDrawn="1"/>
        </p:nvSpPr>
        <p:spPr>
          <a:xfrm>
            <a:off x="0" y="-900"/>
            <a:ext cx="5144400" cy="51444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a:p>
        </p:txBody>
      </p:sp>
      <p:sp>
        <p:nvSpPr>
          <p:cNvPr id="21" name="Title 4">
            <a:extLst>
              <a:ext uri="{FF2B5EF4-FFF2-40B4-BE49-F238E27FC236}">
                <a16:creationId xmlns:a16="http://schemas.microsoft.com/office/drawing/2014/main" id="{D3CDCE65-9D09-8014-E0D4-FA37C5A40921}"/>
              </a:ext>
            </a:extLst>
          </p:cNvPr>
          <p:cNvSpPr>
            <a:spLocks noGrp="1"/>
          </p:cNvSpPr>
          <p:nvPr>
            <p:ph type="title" hasCustomPrompt="1"/>
          </p:nvPr>
        </p:nvSpPr>
        <p:spPr>
          <a:xfrm>
            <a:off x="3830398" y="719799"/>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US" noProof="0"/>
              <a:t>Presentation</a:t>
            </a:r>
            <a:br>
              <a:rPr lang="en-US" noProof="0"/>
            </a:br>
            <a:r>
              <a:rPr lang="en-US" noProof="0"/>
              <a:t>Title (2 lines)</a:t>
            </a:r>
          </a:p>
        </p:txBody>
      </p:sp>
      <p:sp>
        <p:nvSpPr>
          <p:cNvPr id="22" name="Text Placeholder 3">
            <a:extLst>
              <a:ext uri="{FF2B5EF4-FFF2-40B4-BE49-F238E27FC236}">
                <a16:creationId xmlns:a16="http://schemas.microsoft.com/office/drawing/2014/main" id="{450AD0AE-26A9-7041-BAC9-7726260DC45A}"/>
              </a:ext>
            </a:extLst>
          </p:cNvPr>
          <p:cNvSpPr>
            <a:spLocks noGrp="1"/>
          </p:cNvSpPr>
          <p:nvPr>
            <p:ph type="body" sz="quarter" idx="12" hasCustomPrompt="1"/>
          </p:nvPr>
        </p:nvSpPr>
        <p:spPr>
          <a:xfrm>
            <a:off x="3830399" y="2126098"/>
            <a:ext cx="4896000"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pic>
        <p:nvPicPr>
          <p:cNvPr id="10" name="Graphic 9" descr="Nokia logo">
            <a:extLst>
              <a:ext uri="{FF2B5EF4-FFF2-40B4-BE49-F238E27FC236}">
                <a16:creationId xmlns:a16="http://schemas.microsoft.com/office/drawing/2014/main" id="{B1A59803-7A75-C0A5-6357-07B64397DE31}"/>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37478" y="4472616"/>
            <a:ext cx="1368000" cy="308246"/>
          </a:xfrm>
          <a:prstGeom prst="rect">
            <a:avLst/>
          </a:prstGeom>
        </p:spPr>
      </p:pic>
      <p:sp>
        <p:nvSpPr>
          <p:cNvPr id="2" name="Slide Number Placeholder 5">
            <a:extLst>
              <a:ext uri="{FF2B5EF4-FFF2-40B4-BE49-F238E27FC236}">
                <a16:creationId xmlns:a16="http://schemas.microsoft.com/office/drawing/2014/main" id="{2D1F1ACA-B2CC-6213-A64C-F1F4C921EA09}"/>
              </a:ext>
            </a:extLst>
          </p:cNvPr>
          <p:cNvSpPr txBox="1">
            <a:spLocks/>
          </p:cNvSpPr>
          <p:nvPr userDrawn="1"/>
        </p:nvSpPr>
        <p:spPr>
          <a:xfrm>
            <a:off x="7833889"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7CF6261D-7C39-8E1B-28A1-AB06D9EF560C}"/>
              </a:ext>
            </a:extLst>
          </p:cNvPr>
          <p:cNvSpPr txBox="1"/>
          <p:nvPr userDrawn="1"/>
        </p:nvSpPr>
        <p:spPr>
          <a:xfrm>
            <a:off x="8094815"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4" name="Straight Connector 3">
            <a:extLst>
              <a:ext uri="{FF2B5EF4-FFF2-40B4-BE49-F238E27FC236}">
                <a16:creationId xmlns:a16="http://schemas.microsoft.com/office/drawing/2014/main" id="{6DD44AC8-CC38-BB07-936B-9439C1EA5023}"/>
              </a:ext>
              <a:ext uri="{C183D7F6-B498-43B3-948B-1728B52AA6E4}">
                <adec:decorative xmlns:adec="http://schemas.microsoft.com/office/drawing/2017/decorative" val="1"/>
              </a:ext>
            </a:extLst>
          </p:cNvPr>
          <p:cNvCxnSpPr>
            <a:cxnSpLocks/>
          </p:cNvCxnSpPr>
          <p:nvPr userDrawn="1"/>
        </p:nvCxnSpPr>
        <p:spPr>
          <a:xfrm>
            <a:off x="7732699"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2">
            <a:extLst>
              <a:ext uri="{FF2B5EF4-FFF2-40B4-BE49-F238E27FC236}">
                <a16:creationId xmlns:a16="http://schemas.microsoft.com/office/drawing/2014/main" id="{AAD4BD85-FA72-F19E-ECCD-E6781E4417C0}"/>
              </a:ext>
            </a:extLst>
          </p:cNvPr>
          <p:cNvSpPr>
            <a:spLocks noGrp="1"/>
          </p:cNvSpPr>
          <p:nvPr>
            <p:ph type="ftr" sz="quarter" idx="3"/>
          </p:nvPr>
        </p:nvSpPr>
        <p:spPr>
          <a:xfrm>
            <a:off x="6024404" y="4860000"/>
            <a:ext cx="1584000" cy="122400"/>
          </a:xfrm>
          <a:prstGeom prst="rect">
            <a:avLst/>
          </a:prstGeom>
        </p:spPr>
        <p:txBody>
          <a:bodyPr vert="horz" lIns="0" tIns="0" rIns="0" bIns="0" rtlCol="0" anchor="b"/>
          <a:lstStyle>
            <a:lvl1pPr algn="r">
              <a:defRPr sz="800">
                <a:solidFill>
                  <a:schemeClr val="tx1"/>
                </a:solidFill>
              </a:defRPr>
            </a:lvl1pPr>
          </a:lstStyle>
          <a:p>
            <a:r>
              <a:rPr lang="en-US"/>
              <a:t>Apply a document ID (if applicable).</a:t>
            </a:r>
            <a:endParaRPr lang="en-US" dirty="0"/>
          </a:p>
        </p:txBody>
      </p:sp>
    </p:spTree>
    <p:extLst>
      <p:ext uri="{BB962C8B-B14F-4D97-AF65-F5344CB8AC3E}">
        <p14:creationId xmlns:p14="http://schemas.microsoft.com/office/powerpoint/2010/main" val="16743202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O Blue green">
    <p:spTree>
      <p:nvGrpSpPr>
        <p:cNvPr id="1" name=""/>
        <p:cNvGrpSpPr/>
        <p:nvPr/>
      </p:nvGrpSpPr>
      <p:grpSpPr>
        <a:xfrm>
          <a:off x="0" y="0"/>
          <a:ext cx="0" cy="0"/>
          <a:chOff x="0" y="0"/>
          <a:chExt cx="0" cy="0"/>
        </a:xfrm>
      </p:grpSpPr>
      <p:pic>
        <p:nvPicPr>
          <p:cNvPr id="14" name="Picture 13" descr="A blue and green gradient&#10;&#10;AI-generated content may be incorrect.">
            <a:extLst>
              <a:ext uri="{FF2B5EF4-FFF2-40B4-BE49-F238E27FC236}">
                <a16:creationId xmlns:a16="http://schemas.microsoft.com/office/drawing/2014/main" id="{AF939F23-DD11-9951-1C49-F96855F39B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37074" cy="5139604"/>
          </a:xfrm>
          <a:prstGeom prst="rect">
            <a:avLst/>
          </a:prstGeom>
        </p:spPr>
      </p:pic>
      <p:pic>
        <p:nvPicPr>
          <p:cNvPr id="13" name="Graphic 12">
            <a:extLst>
              <a:ext uri="{FF2B5EF4-FFF2-40B4-BE49-F238E27FC236}">
                <a16:creationId xmlns:a16="http://schemas.microsoft.com/office/drawing/2014/main" id="{8CEF710E-39E1-082B-B52C-E37B4EEF550E}"/>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5126775" y="-4796"/>
            <a:ext cx="4017225" cy="5144400"/>
          </a:xfrm>
          <a:prstGeom prst="rect">
            <a:avLst/>
          </a:prstGeom>
        </p:spPr>
      </p:pic>
      <p:sp>
        <p:nvSpPr>
          <p:cNvPr id="9" name="Title 4">
            <a:extLst>
              <a:ext uri="{FF2B5EF4-FFF2-40B4-BE49-F238E27FC236}">
                <a16:creationId xmlns:a16="http://schemas.microsoft.com/office/drawing/2014/main" id="{9A3B12B3-A799-7EB4-75DA-BC0A7D70161D}"/>
              </a:ext>
            </a:extLst>
          </p:cNvPr>
          <p:cNvSpPr>
            <a:spLocks noGrp="1"/>
          </p:cNvSpPr>
          <p:nvPr>
            <p:ph type="title" hasCustomPrompt="1"/>
          </p:nvPr>
        </p:nvSpPr>
        <p:spPr>
          <a:xfrm>
            <a:off x="417531" y="900000"/>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dirty="0"/>
              <a:t>Presentation</a:t>
            </a:r>
            <a:br>
              <a:rPr lang="en-US" noProof="0" dirty="0"/>
            </a:br>
            <a:r>
              <a:rPr lang="en-US" noProof="0" dirty="0"/>
              <a:t>Title (2 lines)</a:t>
            </a:r>
          </a:p>
        </p:txBody>
      </p:sp>
      <p:sp>
        <p:nvSpPr>
          <p:cNvPr id="10" name="Text Placeholder 3">
            <a:extLst>
              <a:ext uri="{FF2B5EF4-FFF2-40B4-BE49-F238E27FC236}">
                <a16:creationId xmlns:a16="http://schemas.microsoft.com/office/drawing/2014/main" id="{BEDD8338-5A64-469A-E2DB-DF91FC185624}"/>
              </a:ext>
            </a:extLst>
          </p:cNvPr>
          <p:cNvSpPr>
            <a:spLocks noGrp="1"/>
          </p:cNvSpPr>
          <p:nvPr>
            <p:ph type="body" sz="quarter" idx="12" hasCustomPrompt="1"/>
          </p:nvPr>
        </p:nvSpPr>
        <p:spPr>
          <a:xfrm>
            <a:off x="417531" y="234000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9" name="Slide Number Placeholder 5">
            <a:extLst>
              <a:ext uri="{FF2B5EF4-FFF2-40B4-BE49-F238E27FC236}">
                <a16:creationId xmlns:a16="http://schemas.microsoft.com/office/drawing/2014/main" id="{0A910EA0-FECD-D7DE-120C-8BC301ED58F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TextBox 17">
            <a:extLst>
              <a:ext uri="{FF2B5EF4-FFF2-40B4-BE49-F238E27FC236}">
                <a16:creationId xmlns:a16="http://schemas.microsoft.com/office/drawing/2014/main" id="{8BB79C81-C7D6-4DE3-0A04-D7E02DD8C66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pic>
        <p:nvPicPr>
          <p:cNvPr id="2" name="Graphic 1" descr="Nokia logo">
            <a:extLst>
              <a:ext uri="{FF2B5EF4-FFF2-40B4-BE49-F238E27FC236}">
                <a16:creationId xmlns:a16="http://schemas.microsoft.com/office/drawing/2014/main" id="{1921672E-D869-7D2B-159D-F174AB26977E}"/>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1148" y="2417035"/>
            <a:ext cx="1368000" cy="308246"/>
          </a:xfrm>
          <a:prstGeom prst="rect">
            <a:avLst/>
          </a:prstGeom>
        </p:spPr>
      </p:pic>
      <p:cxnSp>
        <p:nvCxnSpPr>
          <p:cNvPr id="3" name="Straight Connector 2">
            <a:extLst>
              <a:ext uri="{FF2B5EF4-FFF2-40B4-BE49-F238E27FC236}">
                <a16:creationId xmlns:a16="http://schemas.microsoft.com/office/drawing/2014/main" id="{337A89AD-7B24-0F1C-9390-D60F536E402D}"/>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Footer Placeholder 2">
            <a:extLst>
              <a:ext uri="{FF2B5EF4-FFF2-40B4-BE49-F238E27FC236}">
                <a16:creationId xmlns:a16="http://schemas.microsoft.com/office/drawing/2014/main" id="{7D3C6DA3-CF65-D1B6-EDC6-0E9A4CD0492B}"/>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spTree>
    <p:extLst>
      <p:ext uri="{BB962C8B-B14F-4D97-AF65-F5344CB8AC3E}">
        <p14:creationId xmlns:p14="http://schemas.microsoft.com/office/powerpoint/2010/main" val="19569975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O Blue pink">
    <p:spTree>
      <p:nvGrpSpPr>
        <p:cNvPr id="1" name=""/>
        <p:cNvGrpSpPr/>
        <p:nvPr/>
      </p:nvGrpSpPr>
      <p:grpSpPr>
        <a:xfrm>
          <a:off x="0" y="0"/>
          <a:ext cx="0" cy="0"/>
          <a:chOff x="0" y="0"/>
          <a:chExt cx="0" cy="0"/>
        </a:xfrm>
      </p:grpSpPr>
      <p:pic>
        <p:nvPicPr>
          <p:cNvPr id="5" name="Picture 4" descr="A close up of a red and yellow gradient&#10;&#10;AI-generated content may be incorrect.">
            <a:extLst>
              <a:ext uri="{FF2B5EF4-FFF2-40B4-BE49-F238E27FC236}">
                <a16:creationId xmlns:a16="http://schemas.microsoft.com/office/drawing/2014/main" id="{416943BD-B2C6-9D2A-FCC9-E293171543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14" name="Graphic 13">
            <a:extLst>
              <a:ext uri="{FF2B5EF4-FFF2-40B4-BE49-F238E27FC236}">
                <a16:creationId xmlns:a16="http://schemas.microsoft.com/office/drawing/2014/main" id="{F41E3DBD-A4E2-6EF5-8073-EED87395D745}"/>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5126775" y="-4796"/>
            <a:ext cx="4017225" cy="5144400"/>
          </a:xfrm>
          <a:prstGeom prst="rect">
            <a:avLst/>
          </a:prstGeom>
        </p:spPr>
      </p:pic>
      <p:sp>
        <p:nvSpPr>
          <p:cNvPr id="18" name="Title 4">
            <a:extLst>
              <a:ext uri="{FF2B5EF4-FFF2-40B4-BE49-F238E27FC236}">
                <a16:creationId xmlns:a16="http://schemas.microsoft.com/office/drawing/2014/main" id="{CA265AEB-E893-7C5A-2089-F8668DD28ED9}"/>
              </a:ext>
            </a:extLst>
          </p:cNvPr>
          <p:cNvSpPr>
            <a:spLocks noGrp="1"/>
          </p:cNvSpPr>
          <p:nvPr>
            <p:ph type="title" hasCustomPrompt="1"/>
          </p:nvPr>
        </p:nvSpPr>
        <p:spPr>
          <a:xfrm>
            <a:off x="417531" y="900000"/>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9" name="Text Placeholder 3">
            <a:extLst>
              <a:ext uri="{FF2B5EF4-FFF2-40B4-BE49-F238E27FC236}">
                <a16:creationId xmlns:a16="http://schemas.microsoft.com/office/drawing/2014/main" id="{89A21839-5A3E-48C8-8C8A-66E6CF919C97}"/>
              </a:ext>
            </a:extLst>
          </p:cNvPr>
          <p:cNvSpPr>
            <a:spLocks noGrp="1"/>
          </p:cNvSpPr>
          <p:nvPr>
            <p:ph type="body" sz="quarter" idx="12" hasCustomPrompt="1"/>
          </p:nvPr>
        </p:nvSpPr>
        <p:spPr>
          <a:xfrm>
            <a:off x="417531" y="234000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7" name="Slide Number Placeholder 5">
            <a:extLst>
              <a:ext uri="{FF2B5EF4-FFF2-40B4-BE49-F238E27FC236}">
                <a16:creationId xmlns:a16="http://schemas.microsoft.com/office/drawing/2014/main" id="{17E9E3A5-43FE-813E-B36E-00A287E16B3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1" name="TextBox 10">
            <a:extLst>
              <a:ext uri="{FF2B5EF4-FFF2-40B4-BE49-F238E27FC236}">
                <a16:creationId xmlns:a16="http://schemas.microsoft.com/office/drawing/2014/main" id="{79647D8A-35E4-5375-137D-AE3FBB59F9F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pic>
        <p:nvPicPr>
          <p:cNvPr id="6" name="Graphic 5" descr="Nokia logo">
            <a:extLst>
              <a:ext uri="{FF2B5EF4-FFF2-40B4-BE49-F238E27FC236}">
                <a16:creationId xmlns:a16="http://schemas.microsoft.com/office/drawing/2014/main" id="{3159A364-3F53-49BA-50D6-FD0686E3293E}"/>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1148" y="2417035"/>
            <a:ext cx="1368000" cy="308246"/>
          </a:xfrm>
          <a:prstGeom prst="rect">
            <a:avLst/>
          </a:prstGeom>
        </p:spPr>
      </p:pic>
      <p:cxnSp>
        <p:nvCxnSpPr>
          <p:cNvPr id="2" name="Straight Connector 1">
            <a:extLst>
              <a:ext uri="{FF2B5EF4-FFF2-40B4-BE49-F238E27FC236}">
                <a16:creationId xmlns:a16="http://schemas.microsoft.com/office/drawing/2014/main" id="{76ED5570-33AF-E585-06D6-49776AB66A4E}"/>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0E47229A-ECBC-8CDF-C3CD-CDACB5C860E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spTree>
    <p:extLst>
      <p:ext uri="{BB962C8B-B14F-4D97-AF65-F5344CB8AC3E}">
        <p14:creationId xmlns:p14="http://schemas.microsoft.com/office/powerpoint/2010/main" val="33533113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O Blue green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A20ED13-DCC3-ED6C-4FB2-2B64E7F0411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16" name="Graphic 15">
            <a:extLst>
              <a:ext uri="{FF2B5EF4-FFF2-40B4-BE49-F238E27FC236}">
                <a16:creationId xmlns:a16="http://schemas.microsoft.com/office/drawing/2014/main" id="{B9438AB4-120A-6B68-C6A3-6BD51CF52D24}"/>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5126775" y="-4796"/>
            <a:ext cx="4017225" cy="5144400"/>
          </a:xfrm>
          <a:prstGeom prst="rect">
            <a:avLst/>
          </a:prstGeom>
        </p:spPr>
      </p:pic>
      <p:sp>
        <p:nvSpPr>
          <p:cNvPr id="6" name="Title 4">
            <a:extLst>
              <a:ext uri="{FF2B5EF4-FFF2-40B4-BE49-F238E27FC236}">
                <a16:creationId xmlns:a16="http://schemas.microsoft.com/office/drawing/2014/main" id="{D06AC820-889D-342D-C4F1-65579046FEB3}"/>
              </a:ext>
            </a:extLst>
          </p:cNvPr>
          <p:cNvSpPr>
            <a:spLocks noGrp="1"/>
          </p:cNvSpPr>
          <p:nvPr>
            <p:ph type="title" hasCustomPrompt="1"/>
          </p:nvPr>
        </p:nvSpPr>
        <p:spPr>
          <a:xfrm>
            <a:off x="417531" y="900000"/>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dirty="0"/>
              <a:t>Presentation</a:t>
            </a:r>
            <a:br>
              <a:rPr lang="en-US" noProof="0" dirty="0"/>
            </a:br>
            <a:r>
              <a:rPr lang="en-US" noProof="0" dirty="0"/>
              <a:t>Title (2 lines)</a:t>
            </a:r>
          </a:p>
        </p:txBody>
      </p:sp>
      <p:sp>
        <p:nvSpPr>
          <p:cNvPr id="10" name="Text Placeholder 3">
            <a:extLst>
              <a:ext uri="{FF2B5EF4-FFF2-40B4-BE49-F238E27FC236}">
                <a16:creationId xmlns:a16="http://schemas.microsoft.com/office/drawing/2014/main" id="{38C0E4A4-2F9E-C493-382A-9CBF0ED8AD5E}"/>
              </a:ext>
            </a:extLst>
          </p:cNvPr>
          <p:cNvSpPr>
            <a:spLocks noGrp="1"/>
          </p:cNvSpPr>
          <p:nvPr>
            <p:ph type="body" sz="quarter" idx="12" hasCustomPrompt="1"/>
          </p:nvPr>
        </p:nvSpPr>
        <p:spPr>
          <a:xfrm>
            <a:off x="417531" y="234000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4" name="TextBox 3">
            <a:extLst>
              <a:ext uri="{FF2B5EF4-FFF2-40B4-BE49-F238E27FC236}">
                <a16:creationId xmlns:a16="http://schemas.microsoft.com/office/drawing/2014/main" id="{5054EB9F-8927-A3FE-8B84-2A5DA2E7EB1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sp>
        <p:nvSpPr>
          <p:cNvPr id="5" name="Slide Number Placeholder 5">
            <a:extLst>
              <a:ext uri="{FF2B5EF4-FFF2-40B4-BE49-F238E27FC236}">
                <a16:creationId xmlns:a16="http://schemas.microsoft.com/office/drawing/2014/main" id="{E1049C86-481E-BCA9-382A-A561EA22CA1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pic>
        <p:nvPicPr>
          <p:cNvPr id="7" name="Graphic 6" descr="Nokia logo">
            <a:extLst>
              <a:ext uri="{FF2B5EF4-FFF2-40B4-BE49-F238E27FC236}">
                <a16:creationId xmlns:a16="http://schemas.microsoft.com/office/drawing/2014/main" id="{A036063D-3B25-4CF1-DB6F-72093DB7B48A}"/>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1148" y="2417035"/>
            <a:ext cx="1368000" cy="308246"/>
          </a:xfrm>
          <a:prstGeom prst="rect">
            <a:avLst/>
          </a:prstGeom>
        </p:spPr>
      </p:pic>
      <p:cxnSp>
        <p:nvCxnSpPr>
          <p:cNvPr id="2" name="Straight Connector 1">
            <a:extLst>
              <a:ext uri="{FF2B5EF4-FFF2-40B4-BE49-F238E27FC236}">
                <a16:creationId xmlns:a16="http://schemas.microsoft.com/office/drawing/2014/main" id="{A2FA8438-DF78-F039-D397-23C21373E1ED}"/>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F03325-04C1-57F1-4467-810BC9C2D137}"/>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spTree>
    <p:extLst>
      <p:ext uri="{BB962C8B-B14F-4D97-AF65-F5344CB8AC3E}">
        <p14:creationId xmlns:p14="http://schemas.microsoft.com/office/powerpoint/2010/main" val="4390347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O Whit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7D5AF06-6AF8-9002-BEDC-176CB57496A1}"/>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5084"/>
          <a:stretch/>
        </p:blipFill>
        <p:spPr>
          <a:xfrm>
            <a:off x="5126775" y="0"/>
            <a:ext cx="4017225" cy="5143500"/>
          </a:xfrm>
          <a:prstGeom prst="rect">
            <a:avLst/>
          </a:prstGeom>
        </p:spPr>
      </p:pic>
      <p:sp>
        <p:nvSpPr>
          <p:cNvPr id="14" name="Title 4">
            <a:extLst>
              <a:ext uri="{FF2B5EF4-FFF2-40B4-BE49-F238E27FC236}">
                <a16:creationId xmlns:a16="http://schemas.microsoft.com/office/drawing/2014/main" id="{2EB43E8F-27C8-8759-7A98-CAA935E7823A}"/>
              </a:ext>
            </a:extLst>
          </p:cNvPr>
          <p:cNvSpPr>
            <a:spLocks noGrp="1"/>
          </p:cNvSpPr>
          <p:nvPr>
            <p:ph type="title" hasCustomPrompt="1"/>
          </p:nvPr>
        </p:nvSpPr>
        <p:spPr>
          <a:xfrm>
            <a:off x="417531" y="900000"/>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US" noProof="0"/>
              <a:t>Presentation</a:t>
            </a:r>
            <a:br>
              <a:rPr lang="en-US" noProof="0"/>
            </a:br>
            <a:r>
              <a:rPr lang="en-US" noProof="0"/>
              <a:t>Title (2 lines)</a:t>
            </a:r>
          </a:p>
        </p:txBody>
      </p:sp>
      <p:sp>
        <p:nvSpPr>
          <p:cNvPr id="15" name="Text Placeholder 3">
            <a:extLst>
              <a:ext uri="{FF2B5EF4-FFF2-40B4-BE49-F238E27FC236}">
                <a16:creationId xmlns:a16="http://schemas.microsoft.com/office/drawing/2014/main" id="{CE8D2D46-B066-616E-7306-CE64233C730C}"/>
              </a:ext>
            </a:extLst>
          </p:cNvPr>
          <p:cNvSpPr>
            <a:spLocks noGrp="1"/>
          </p:cNvSpPr>
          <p:nvPr>
            <p:ph type="body" sz="quarter" idx="12" hasCustomPrompt="1"/>
          </p:nvPr>
        </p:nvSpPr>
        <p:spPr>
          <a:xfrm>
            <a:off x="417531" y="234000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6" name="Slide Number Placeholder 5">
            <a:extLst>
              <a:ext uri="{FF2B5EF4-FFF2-40B4-BE49-F238E27FC236}">
                <a16:creationId xmlns:a16="http://schemas.microsoft.com/office/drawing/2014/main" id="{D74832A1-1A29-5A85-3CD7-02108B35D94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TextBox 4">
            <a:extLst>
              <a:ext uri="{FF2B5EF4-FFF2-40B4-BE49-F238E27FC236}">
                <a16:creationId xmlns:a16="http://schemas.microsoft.com/office/drawing/2014/main" id="{0A7A7115-EA83-4FF6-C9AA-23524B051F6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pic>
        <p:nvPicPr>
          <p:cNvPr id="2" name="Graphic 1" descr="Nokia logo">
            <a:extLst>
              <a:ext uri="{FF2B5EF4-FFF2-40B4-BE49-F238E27FC236}">
                <a16:creationId xmlns:a16="http://schemas.microsoft.com/office/drawing/2014/main" id="{1256B8AB-F671-364A-E851-3FD12238AA67}"/>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1148" y="2417035"/>
            <a:ext cx="1368000" cy="308246"/>
          </a:xfrm>
          <a:prstGeom prst="rect">
            <a:avLst/>
          </a:prstGeom>
        </p:spPr>
      </p:pic>
      <p:cxnSp>
        <p:nvCxnSpPr>
          <p:cNvPr id="3" name="Straight Connector 2">
            <a:extLst>
              <a:ext uri="{FF2B5EF4-FFF2-40B4-BE49-F238E27FC236}">
                <a16:creationId xmlns:a16="http://schemas.microsoft.com/office/drawing/2014/main" id="{56D324B9-0488-25C4-6C02-21CDB76CA9CB}"/>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2">
            <a:extLst>
              <a:ext uri="{FF2B5EF4-FFF2-40B4-BE49-F238E27FC236}">
                <a16:creationId xmlns:a16="http://schemas.microsoft.com/office/drawing/2014/main" id="{D939F67F-E63F-3007-9E61-AE5A615B22D7}"/>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spTree>
    <p:extLst>
      <p:ext uri="{BB962C8B-B14F-4D97-AF65-F5344CB8AC3E}">
        <p14:creationId xmlns:p14="http://schemas.microsoft.com/office/powerpoint/2010/main" val="32661600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K Red orang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8FCEB48-BE41-308F-33AB-94163C02BF5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10" name="Graphic 9">
            <a:extLst>
              <a:ext uri="{FF2B5EF4-FFF2-40B4-BE49-F238E27FC236}">
                <a16:creationId xmlns:a16="http://schemas.microsoft.com/office/drawing/2014/main" id="{193793F7-1073-3781-E44D-DD541B786672}"/>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818"/>
          <a:stretch/>
        </p:blipFill>
        <p:spPr>
          <a:xfrm>
            <a:off x="4967656" y="0"/>
            <a:ext cx="4176344" cy="5144400"/>
          </a:xfrm>
          <a:prstGeom prst="rect">
            <a:avLst/>
          </a:prstGeom>
        </p:spPr>
      </p:pic>
      <p:sp>
        <p:nvSpPr>
          <p:cNvPr id="17" name="Title 4">
            <a:extLst>
              <a:ext uri="{FF2B5EF4-FFF2-40B4-BE49-F238E27FC236}">
                <a16:creationId xmlns:a16="http://schemas.microsoft.com/office/drawing/2014/main" id="{4A761E77-5CBD-451F-FA38-EA3EF19CE9E8}"/>
              </a:ext>
            </a:extLst>
          </p:cNvPr>
          <p:cNvSpPr>
            <a:spLocks noGrp="1"/>
          </p:cNvSpPr>
          <p:nvPr>
            <p:ph type="title" hasCustomPrompt="1"/>
          </p:nvPr>
        </p:nvSpPr>
        <p:spPr>
          <a:xfrm>
            <a:off x="417531" y="1634673"/>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8" name="Text Placeholder 3">
            <a:extLst>
              <a:ext uri="{FF2B5EF4-FFF2-40B4-BE49-F238E27FC236}">
                <a16:creationId xmlns:a16="http://schemas.microsoft.com/office/drawing/2014/main" id="{1349CF4D-C3F5-69B9-4227-EC331C16F094}"/>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3" name="Slide Number Placeholder 5">
            <a:extLst>
              <a:ext uri="{FF2B5EF4-FFF2-40B4-BE49-F238E27FC236}">
                <a16:creationId xmlns:a16="http://schemas.microsoft.com/office/drawing/2014/main" id="{4885AEDB-ED41-584E-391C-1747DAD5043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TextBox 1">
            <a:extLst>
              <a:ext uri="{FF2B5EF4-FFF2-40B4-BE49-F238E27FC236}">
                <a16:creationId xmlns:a16="http://schemas.microsoft.com/office/drawing/2014/main" id="{DF372165-1480-FF4B-FD8E-0169E8CD1957}"/>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pic>
        <p:nvPicPr>
          <p:cNvPr id="3" name="Graphic 2" descr="Nokia logo">
            <a:extLst>
              <a:ext uri="{FF2B5EF4-FFF2-40B4-BE49-F238E27FC236}">
                <a16:creationId xmlns:a16="http://schemas.microsoft.com/office/drawing/2014/main" id="{074773A7-3EAC-2961-24D3-842784349AA5}"/>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02120" y="2417035"/>
            <a:ext cx="1368000" cy="308246"/>
          </a:xfrm>
          <a:prstGeom prst="rect">
            <a:avLst/>
          </a:prstGeom>
        </p:spPr>
      </p:pic>
      <p:cxnSp>
        <p:nvCxnSpPr>
          <p:cNvPr id="4" name="Straight Connector 3">
            <a:extLst>
              <a:ext uri="{FF2B5EF4-FFF2-40B4-BE49-F238E27FC236}">
                <a16:creationId xmlns:a16="http://schemas.microsoft.com/office/drawing/2014/main" id="{672F3A2B-DE53-6997-A07B-BDEA9BFEC5BA}"/>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EB5675EA-5501-292C-52EA-861B649A9CA2}"/>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spTree>
    <p:extLst>
      <p:ext uri="{BB962C8B-B14F-4D97-AF65-F5344CB8AC3E}">
        <p14:creationId xmlns:p14="http://schemas.microsoft.com/office/powerpoint/2010/main" val="2465581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K Blu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933193-B7DD-D952-7075-CB0C4E66653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4" name="Graphic 3">
            <a:extLst>
              <a:ext uri="{FF2B5EF4-FFF2-40B4-BE49-F238E27FC236}">
                <a16:creationId xmlns:a16="http://schemas.microsoft.com/office/drawing/2014/main" id="{5166BBE5-C86E-3E87-A7C5-F29BE64D716D}"/>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818"/>
          <a:stretch/>
        </p:blipFill>
        <p:spPr>
          <a:xfrm>
            <a:off x="4967656" y="0"/>
            <a:ext cx="4176344" cy="5144400"/>
          </a:xfrm>
          <a:prstGeom prst="rect">
            <a:avLst/>
          </a:prstGeom>
        </p:spPr>
      </p:pic>
      <p:sp>
        <p:nvSpPr>
          <p:cNvPr id="15" name="Title 4">
            <a:extLst>
              <a:ext uri="{FF2B5EF4-FFF2-40B4-BE49-F238E27FC236}">
                <a16:creationId xmlns:a16="http://schemas.microsoft.com/office/drawing/2014/main" id="{651B7E9D-D552-81A8-07CE-C85143F970BC}"/>
              </a:ext>
            </a:extLst>
          </p:cNvPr>
          <p:cNvSpPr>
            <a:spLocks noGrp="1"/>
          </p:cNvSpPr>
          <p:nvPr>
            <p:ph type="title" hasCustomPrompt="1"/>
          </p:nvPr>
        </p:nvSpPr>
        <p:spPr>
          <a:xfrm>
            <a:off x="417531" y="1634673"/>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6" name="Text Placeholder 3">
            <a:extLst>
              <a:ext uri="{FF2B5EF4-FFF2-40B4-BE49-F238E27FC236}">
                <a16:creationId xmlns:a16="http://schemas.microsoft.com/office/drawing/2014/main" id="{2BF972D4-3000-87A0-9E6C-C622A2B7C6C0}"/>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4" name="Slide Number Placeholder 5">
            <a:extLst>
              <a:ext uri="{FF2B5EF4-FFF2-40B4-BE49-F238E27FC236}">
                <a16:creationId xmlns:a16="http://schemas.microsoft.com/office/drawing/2014/main" id="{7A5600B8-EF33-4C46-87E9-1A51B9580A9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D8B4807D-C6CB-B42F-7CAC-4B1E0264A61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pic>
        <p:nvPicPr>
          <p:cNvPr id="2" name="Graphic 1" descr="Nokia logo">
            <a:extLst>
              <a:ext uri="{FF2B5EF4-FFF2-40B4-BE49-F238E27FC236}">
                <a16:creationId xmlns:a16="http://schemas.microsoft.com/office/drawing/2014/main" id="{0867E842-F647-BDFD-ACA4-0E8E59417245}"/>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02120" y="2417035"/>
            <a:ext cx="1368000" cy="308246"/>
          </a:xfrm>
          <a:prstGeom prst="rect">
            <a:avLst/>
          </a:prstGeom>
        </p:spPr>
      </p:pic>
      <p:cxnSp>
        <p:nvCxnSpPr>
          <p:cNvPr id="3" name="Straight Connector 2">
            <a:extLst>
              <a:ext uri="{FF2B5EF4-FFF2-40B4-BE49-F238E27FC236}">
                <a16:creationId xmlns:a16="http://schemas.microsoft.com/office/drawing/2014/main" id="{3A5FBDB4-8CFA-9248-62D2-2909B28B1F56}"/>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51ADB4BD-EE31-4152-EE62-EA81E975A636}"/>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spTree>
    <p:extLst>
      <p:ext uri="{BB962C8B-B14F-4D97-AF65-F5344CB8AC3E}">
        <p14:creationId xmlns:p14="http://schemas.microsoft.com/office/powerpoint/2010/main" val="11894542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K Pi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C0B63B-5EB2-C517-FFAF-0A5B2B5AB9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2" name="Graphic 1">
            <a:extLst>
              <a:ext uri="{FF2B5EF4-FFF2-40B4-BE49-F238E27FC236}">
                <a16:creationId xmlns:a16="http://schemas.microsoft.com/office/drawing/2014/main" id="{D2D54FC7-5739-CC9E-8372-80A8BD5BD489}"/>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818"/>
          <a:stretch/>
        </p:blipFill>
        <p:spPr>
          <a:xfrm>
            <a:off x="4967656" y="0"/>
            <a:ext cx="4176344" cy="5144400"/>
          </a:xfrm>
          <a:prstGeom prst="rect">
            <a:avLst/>
          </a:prstGeom>
        </p:spPr>
      </p:pic>
      <p:sp>
        <p:nvSpPr>
          <p:cNvPr id="16" name="Title 4">
            <a:extLst>
              <a:ext uri="{FF2B5EF4-FFF2-40B4-BE49-F238E27FC236}">
                <a16:creationId xmlns:a16="http://schemas.microsoft.com/office/drawing/2014/main" id="{024AFDB3-6F7B-B778-402E-9CCB281E4A36}"/>
              </a:ext>
            </a:extLst>
          </p:cNvPr>
          <p:cNvSpPr>
            <a:spLocks noGrp="1"/>
          </p:cNvSpPr>
          <p:nvPr>
            <p:ph type="title" hasCustomPrompt="1"/>
          </p:nvPr>
        </p:nvSpPr>
        <p:spPr>
          <a:xfrm>
            <a:off x="417531" y="1634673"/>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US" noProof="0"/>
              <a:t>Presentation</a:t>
            </a:r>
            <a:br>
              <a:rPr lang="en-US" noProof="0"/>
            </a:br>
            <a:r>
              <a:rPr lang="en-US" noProof="0"/>
              <a:t>Title (2 lines)</a:t>
            </a:r>
          </a:p>
        </p:txBody>
      </p:sp>
      <p:sp>
        <p:nvSpPr>
          <p:cNvPr id="17" name="Text Placeholder 3">
            <a:extLst>
              <a:ext uri="{FF2B5EF4-FFF2-40B4-BE49-F238E27FC236}">
                <a16:creationId xmlns:a16="http://schemas.microsoft.com/office/drawing/2014/main" id="{673B31AA-DB5D-E4EE-AD2B-9C376313D508}"/>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5" name="Slide Number Placeholder 5">
            <a:extLst>
              <a:ext uri="{FF2B5EF4-FFF2-40B4-BE49-F238E27FC236}">
                <a16:creationId xmlns:a16="http://schemas.microsoft.com/office/drawing/2014/main" id="{DA5D471E-8C81-0943-5022-F263A707E60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DB2D474A-4156-5445-2C99-EE4C77388F5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pic>
        <p:nvPicPr>
          <p:cNvPr id="3" name="Graphic 2" descr="Nokia logo">
            <a:extLst>
              <a:ext uri="{FF2B5EF4-FFF2-40B4-BE49-F238E27FC236}">
                <a16:creationId xmlns:a16="http://schemas.microsoft.com/office/drawing/2014/main" id="{6FC2EA8D-9B55-82D4-9907-1F87FBE3A618}"/>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02120" y="2417035"/>
            <a:ext cx="1368000" cy="308246"/>
          </a:xfrm>
          <a:prstGeom prst="rect">
            <a:avLst/>
          </a:prstGeom>
        </p:spPr>
      </p:pic>
      <p:cxnSp>
        <p:nvCxnSpPr>
          <p:cNvPr id="5" name="Straight Connector 4">
            <a:extLst>
              <a:ext uri="{FF2B5EF4-FFF2-40B4-BE49-F238E27FC236}">
                <a16:creationId xmlns:a16="http://schemas.microsoft.com/office/drawing/2014/main" id="{22712EF2-CE2B-C402-4B2E-C23FCDC0C6BC}"/>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2">
            <a:extLst>
              <a:ext uri="{FF2B5EF4-FFF2-40B4-BE49-F238E27FC236}">
                <a16:creationId xmlns:a16="http://schemas.microsoft.com/office/drawing/2014/main" id="{C1249A99-F64E-ABEC-1837-7F1599E6248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dirty="0"/>
              <a:t>Apply a document ID (if applicable).</a:t>
            </a:r>
          </a:p>
        </p:txBody>
      </p:sp>
    </p:spTree>
    <p:extLst>
      <p:ext uri="{BB962C8B-B14F-4D97-AF65-F5344CB8AC3E}">
        <p14:creationId xmlns:p14="http://schemas.microsoft.com/office/powerpoint/2010/main" val="329557383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K Whi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F4EAC9-01A1-ED6A-B271-D7FC17A6D29B}"/>
              </a:ext>
              <a:ext uri="{C183D7F6-B498-43B3-948B-1728B52AA6E4}">
                <adec:decorative xmlns:adec="http://schemas.microsoft.com/office/drawing/2017/decorative" val="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18798"/>
          <a:stretch/>
        </p:blipFill>
        <p:spPr>
          <a:xfrm>
            <a:off x="4966626" y="0"/>
            <a:ext cx="4177374" cy="5144400"/>
          </a:xfrm>
          <a:prstGeom prst="rect">
            <a:avLst/>
          </a:prstGeom>
        </p:spPr>
      </p:pic>
      <p:sp>
        <p:nvSpPr>
          <p:cNvPr id="15" name="Title 4">
            <a:extLst>
              <a:ext uri="{FF2B5EF4-FFF2-40B4-BE49-F238E27FC236}">
                <a16:creationId xmlns:a16="http://schemas.microsoft.com/office/drawing/2014/main" id="{838942B2-5BE5-A3D6-4570-6AF07089F22D}"/>
              </a:ext>
            </a:extLst>
          </p:cNvPr>
          <p:cNvSpPr>
            <a:spLocks noGrp="1"/>
          </p:cNvSpPr>
          <p:nvPr>
            <p:ph type="title" hasCustomPrompt="1"/>
          </p:nvPr>
        </p:nvSpPr>
        <p:spPr>
          <a:xfrm>
            <a:off x="417531" y="1634673"/>
            <a:ext cx="4896000"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US" noProof="0"/>
              <a:t>Presentation</a:t>
            </a:r>
            <a:br>
              <a:rPr lang="en-US" noProof="0"/>
            </a:br>
            <a:r>
              <a:rPr lang="en-US" noProof="0"/>
              <a:t>Title (2 lines)</a:t>
            </a:r>
          </a:p>
        </p:txBody>
      </p:sp>
      <p:sp>
        <p:nvSpPr>
          <p:cNvPr id="16" name="Text Placeholder 3">
            <a:extLst>
              <a:ext uri="{FF2B5EF4-FFF2-40B4-BE49-F238E27FC236}">
                <a16:creationId xmlns:a16="http://schemas.microsoft.com/office/drawing/2014/main" id="{B51E6336-7A1E-2850-2562-4FDD760F459F}"/>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4" name="Slide Number Placeholder 5">
            <a:extLst>
              <a:ext uri="{FF2B5EF4-FFF2-40B4-BE49-F238E27FC236}">
                <a16:creationId xmlns:a16="http://schemas.microsoft.com/office/drawing/2014/main" id="{EB92B7B9-0B45-FE4B-753A-4D8C0E23E61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BA4D82E9-DEF8-D842-DDB5-563D618E794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pic>
        <p:nvPicPr>
          <p:cNvPr id="2" name="Graphic 1" descr="Nokia logo">
            <a:extLst>
              <a:ext uri="{FF2B5EF4-FFF2-40B4-BE49-F238E27FC236}">
                <a16:creationId xmlns:a16="http://schemas.microsoft.com/office/drawing/2014/main" id="{657F589E-FBBE-97EC-13A5-832B29CCC362}"/>
              </a:ext>
              <a:ext uri="{C183D7F6-B498-43B3-948B-1728B52AA6E4}">
                <adec:decorative xmlns:adec="http://schemas.microsoft.com/office/drawing/2017/decorative" val="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02120" y="2417035"/>
            <a:ext cx="1368000" cy="308246"/>
          </a:xfrm>
          <a:prstGeom prst="rect">
            <a:avLst/>
          </a:prstGeom>
        </p:spPr>
      </p:pic>
      <p:cxnSp>
        <p:nvCxnSpPr>
          <p:cNvPr id="4" name="Straight Connector 3">
            <a:extLst>
              <a:ext uri="{FF2B5EF4-FFF2-40B4-BE49-F238E27FC236}">
                <a16:creationId xmlns:a16="http://schemas.microsoft.com/office/drawing/2014/main" id="{862145BB-8C0F-6692-181B-C4774D93FF10}"/>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2">
            <a:extLst>
              <a:ext uri="{FF2B5EF4-FFF2-40B4-BE49-F238E27FC236}">
                <a16:creationId xmlns:a16="http://schemas.microsoft.com/office/drawing/2014/main" id="{1C247C0D-561B-8F3D-1FFA-BE0C6DBD7D39}"/>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tx1"/>
                </a:solidFill>
              </a:defRPr>
            </a:lvl1pPr>
          </a:lstStyle>
          <a:p>
            <a:r>
              <a:rPr lang="en-US"/>
              <a:t>Apply a document ID (if applicable).</a:t>
            </a:r>
            <a:endParaRPr lang="en-US" dirty="0"/>
          </a:p>
        </p:txBody>
      </p:sp>
    </p:spTree>
    <p:extLst>
      <p:ext uri="{BB962C8B-B14F-4D97-AF65-F5344CB8AC3E}">
        <p14:creationId xmlns:p14="http://schemas.microsoft.com/office/powerpoint/2010/main" val="40059290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3 Content pic 5">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FD8FECF-7E9C-FB07-78EE-09C2F046094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9144000" cy="5143501"/>
          </a:xfrm>
          <a:prstGeom prst="rect">
            <a:avLst/>
          </a:prstGeom>
        </p:spPr>
      </p:pic>
      <p:sp>
        <p:nvSpPr>
          <p:cNvPr id="10" name="Title 1">
            <a:extLst>
              <a:ext uri="{FF2B5EF4-FFF2-40B4-BE49-F238E27FC236}">
                <a16:creationId xmlns:a16="http://schemas.microsoft.com/office/drawing/2014/main" id="{42449517-A4B2-F132-465F-4982B6420153}"/>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dirty="0"/>
              <a:t>Divider pages </a:t>
            </a:r>
            <a:br>
              <a:rPr lang="en-US" dirty="0"/>
            </a:br>
            <a:r>
              <a:rPr lang="en-US" dirty="0"/>
              <a:t>or large quotes</a:t>
            </a:r>
          </a:p>
        </p:txBody>
      </p:sp>
      <p:sp>
        <p:nvSpPr>
          <p:cNvPr id="5" name="Slide Number Placeholder 5">
            <a:extLst>
              <a:ext uri="{FF2B5EF4-FFF2-40B4-BE49-F238E27FC236}">
                <a16:creationId xmlns:a16="http://schemas.microsoft.com/office/drawing/2014/main" id="{8A0EFD0E-73A9-D773-3F8A-B9B78A9503C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BB2D48F3-5FAB-7137-F8DD-66420388FAC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9" name="Straight Connector 8">
            <a:extLst>
              <a:ext uri="{FF2B5EF4-FFF2-40B4-BE49-F238E27FC236}">
                <a16:creationId xmlns:a16="http://schemas.microsoft.com/office/drawing/2014/main" id="{878FC0E3-9520-16F6-49A6-4AF411DEE258}"/>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2">
            <a:extLst>
              <a:ext uri="{FF2B5EF4-FFF2-40B4-BE49-F238E27FC236}">
                <a16:creationId xmlns:a16="http://schemas.microsoft.com/office/drawing/2014/main" id="{C021FBAF-6C06-6FF4-B424-967A0139D27B}"/>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3" name="Graphic 2" descr="Nokia logo">
            <a:extLst>
              <a:ext uri="{FF2B5EF4-FFF2-40B4-BE49-F238E27FC236}">
                <a16:creationId xmlns:a16="http://schemas.microsoft.com/office/drawing/2014/main" id="{53D6A4B7-704E-AAAA-B16B-0F7877CA50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7616255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Green blu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2BC244E-62D2-236F-4DC8-EEBFE9AF287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9" name="Title 1">
            <a:extLst>
              <a:ext uri="{FF2B5EF4-FFF2-40B4-BE49-F238E27FC236}">
                <a16:creationId xmlns:a16="http://schemas.microsoft.com/office/drawing/2014/main" id="{A037E71A-4D16-4C1C-A453-30E9D3B343DF}"/>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dirty="0"/>
              <a:t>Divider pages </a:t>
            </a:r>
            <a:br>
              <a:rPr lang="en-US" dirty="0"/>
            </a:br>
            <a:r>
              <a:rPr lang="en-US" dirty="0"/>
              <a:t>or large quotes</a:t>
            </a:r>
          </a:p>
        </p:txBody>
      </p:sp>
      <p:sp>
        <p:nvSpPr>
          <p:cNvPr id="5" name="Slide Number Placeholder 5">
            <a:extLst>
              <a:ext uri="{FF2B5EF4-FFF2-40B4-BE49-F238E27FC236}">
                <a16:creationId xmlns:a16="http://schemas.microsoft.com/office/drawing/2014/main" id="{A844BE02-2625-0E61-D864-E5DDC07EC96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AB7B8C5E-2A02-500E-7B19-869B39D9A89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3" name="Straight Connector 2">
            <a:extLst>
              <a:ext uri="{FF2B5EF4-FFF2-40B4-BE49-F238E27FC236}">
                <a16:creationId xmlns:a16="http://schemas.microsoft.com/office/drawing/2014/main" id="{6F4482E1-B955-5AAC-32CD-3F73ACC6EDA6}"/>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2">
            <a:extLst>
              <a:ext uri="{FF2B5EF4-FFF2-40B4-BE49-F238E27FC236}">
                <a16:creationId xmlns:a16="http://schemas.microsoft.com/office/drawing/2014/main" id="{1067757F-8A0C-FCEC-EB62-74E36F8E5EBB}"/>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F9E92399-CC16-9177-2657-E4899DE3837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8315759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Blue pi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F82406-B67A-83A1-B5A4-BA6EA9AE827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1">
            <a:extLst>
              <a:ext uri="{FF2B5EF4-FFF2-40B4-BE49-F238E27FC236}">
                <a16:creationId xmlns:a16="http://schemas.microsoft.com/office/drawing/2014/main" id="{3764D072-CBD7-9879-C7EC-98D8F2A92F99}"/>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dirty="0"/>
              <a:t>Divider pages </a:t>
            </a:r>
            <a:br>
              <a:rPr lang="en-US" dirty="0"/>
            </a:br>
            <a:r>
              <a:rPr lang="en-US" dirty="0"/>
              <a:t>or large quotes</a:t>
            </a:r>
          </a:p>
        </p:txBody>
      </p:sp>
      <p:sp>
        <p:nvSpPr>
          <p:cNvPr id="7" name="Slide Number Placeholder 5">
            <a:extLst>
              <a:ext uri="{FF2B5EF4-FFF2-40B4-BE49-F238E27FC236}">
                <a16:creationId xmlns:a16="http://schemas.microsoft.com/office/drawing/2014/main" id="{02A1F2F7-3255-A552-A703-7C9BCD3C4BA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6" name="TextBox 5">
            <a:extLst>
              <a:ext uri="{FF2B5EF4-FFF2-40B4-BE49-F238E27FC236}">
                <a16:creationId xmlns:a16="http://schemas.microsoft.com/office/drawing/2014/main" id="{6857A933-0F5D-EB6F-6781-ACE4F612BDF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3" name="Straight Connector 2">
            <a:extLst>
              <a:ext uri="{FF2B5EF4-FFF2-40B4-BE49-F238E27FC236}">
                <a16:creationId xmlns:a16="http://schemas.microsoft.com/office/drawing/2014/main" id="{F25A437C-B612-5DB3-E91B-8A67096D8011}"/>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AC4DEFCE-5A10-8D7A-C10A-5C24EDCFF87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5" name="Graphic 4" descr="Nokia logo">
            <a:extLst>
              <a:ext uri="{FF2B5EF4-FFF2-40B4-BE49-F238E27FC236}">
                <a16:creationId xmlns:a16="http://schemas.microsoft.com/office/drawing/2014/main" id="{3008810B-99B1-0DE4-23E6-02B4DA29146C}"/>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825720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 Pi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D17980-F783-4A27-87DC-42985B6C77B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4" name="Title 1">
            <a:extLst>
              <a:ext uri="{FF2B5EF4-FFF2-40B4-BE49-F238E27FC236}">
                <a16:creationId xmlns:a16="http://schemas.microsoft.com/office/drawing/2014/main" id="{704A15B7-63F0-3CCD-2D47-55F12E499A68}"/>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dirty="0"/>
              <a:t>Divider pages </a:t>
            </a:r>
            <a:br>
              <a:rPr lang="en-US" dirty="0"/>
            </a:br>
            <a:r>
              <a:rPr lang="en-US" dirty="0"/>
              <a:t>or large quotes</a:t>
            </a:r>
          </a:p>
        </p:txBody>
      </p:sp>
      <p:sp>
        <p:nvSpPr>
          <p:cNvPr id="8" name="Slide Number Placeholder 5">
            <a:extLst>
              <a:ext uri="{FF2B5EF4-FFF2-40B4-BE49-F238E27FC236}">
                <a16:creationId xmlns:a16="http://schemas.microsoft.com/office/drawing/2014/main" id="{17E83870-7680-0EC5-A60C-DDC82D20159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FB666C31-62D7-CEFA-FFA5-6E39B2A9667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3" name="Straight Connector 2">
            <a:extLst>
              <a:ext uri="{FF2B5EF4-FFF2-40B4-BE49-F238E27FC236}">
                <a16:creationId xmlns:a16="http://schemas.microsoft.com/office/drawing/2014/main" id="{7669655E-E552-3FD9-7A57-C2346D0417B9}"/>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A26AEA66-94E0-CBBE-2810-477A8B621DF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AB3FE475-1931-B109-EFE4-3720BF54E14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23709798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Blue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1D2CA4-939C-12C2-DF49-53BE4EA4C10E}"/>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4" name="Title 1">
            <a:extLst>
              <a:ext uri="{FF2B5EF4-FFF2-40B4-BE49-F238E27FC236}">
                <a16:creationId xmlns:a16="http://schemas.microsoft.com/office/drawing/2014/main" id="{D50827C9-11A5-EF89-4AB8-AB3618FD7A80}"/>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dirty="0"/>
              <a:t>Divider pages </a:t>
            </a:r>
            <a:br>
              <a:rPr lang="en-US" dirty="0"/>
            </a:br>
            <a:r>
              <a:rPr lang="en-US" dirty="0"/>
              <a:t>or large quotes</a:t>
            </a:r>
          </a:p>
        </p:txBody>
      </p:sp>
      <p:sp>
        <p:nvSpPr>
          <p:cNvPr id="8" name="Slide Number Placeholder 5">
            <a:extLst>
              <a:ext uri="{FF2B5EF4-FFF2-40B4-BE49-F238E27FC236}">
                <a16:creationId xmlns:a16="http://schemas.microsoft.com/office/drawing/2014/main" id="{1F513913-81F1-BE35-BEE1-E4F3B331C19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5990E264-5D0F-60E1-079B-4D9441DFD2F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3" name="Straight Connector 2">
            <a:extLst>
              <a:ext uri="{FF2B5EF4-FFF2-40B4-BE49-F238E27FC236}">
                <a16:creationId xmlns:a16="http://schemas.microsoft.com/office/drawing/2014/main" id="{FF0253DF-B46F-5A80-914E-0930C7B29498}"/>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FC57D9E6-836B-E344-7053-C5B54572FBF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83B5421E-4ADD-A198-F29A-1E6995BF576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2805608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 Orange re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4BF0FE-66B0-30DC-7C7E-0C60AC62082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4" name="Title 1">
            <a:extLst>
              <a:ext uri="{FF2B5EF4-FFF2-40B4-BE49-F238E27FC236}">
                <a16:creationId xmlns:a16="http://schemas.microsoft.com/office/drawing/2014/main" id="{C2D7F188-67FC-ABEB-05B5-3DA22010A13C}"/>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dirty="0"/>
              <a:t>Divider pages </a:t>
            </a:r>
            <a:br>
              <a:rPr lang="en-US" dirty="0"/>
            </a:br>
            <a:r>
              <a:rPr lang="en-US" dirty="0"/>
              <a:t>or large quotes</a:t>
            </a:r>
          </a:p>
        </p:txBody>
      </p:sp>
      <p:sp>
        <p:nvSpPr>
          <p:cNvPr id="8" name="Slide Number Placeholder 5">
            <a:extLst>
              <a:ext uri="{FF2B5EF4-FFF2-40B4-BE49-F238E27FC236}">
                <a16:creationId xmlns:a16="http://schemas.microsoft.com/office/drawing/2014/main" id="{2FA5559B-7244-EAEC-5F81-57659F88355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CBC8F3BE-DF4E-616F-9E87-42409E45FB7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3" name="Straight Connector 2">
            <a:extLst>
              <a:ext uri="{FF2B5EF4-FFF2-40B4-BE49-F238E27FC236}">
                <a16:creationId xmlns:a16="http://schemas.microsoft.com/office/drawing/2014/main" id="{C661D9D1-ED6E-8ED2-ED89-E9A94AC11037}"/>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7ACCA25F-B787-0F46-0666-1B57C451AAD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F11B8FE6-8F1C-8435-F33C-EE04C6A6A16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40429169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Blue gree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6E61BB-29F8-AEE7-5B6C-144501EFC3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1">
            <a:extLst>
              <a:ext uri="{FF2B5EF4-FFF2-40B4-BE49-F238E27FC236}">
                <a16:creationId xmlns:a16="http://schemas.microsoft.com/office/drawing/2014/main" id="{0286B9DA-CAB9-E469-12B0-C0346B9DC4E3}"/>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dirty="0"/>
              <a:t>Divider pages </a:t>
            </a:r>
            <a:br>
              <a:rPr lang="en-US" dirty="0"/>
            </a:br>
            <a:r>
              <a:rPr lang="en-US" dirty="0"/>
              <a:t>or large quotes</a:t>
            </a:r>
          </a:p>
        </p:txBody>
      </p:sp>
      <p:sp>
        <p:nvSpPr>
          <p:cNvPr id="8" name="Slide Number Placeholder 5">
            <a:extLst>
              <a:ext uri="{FF2B5EF4-FFF2-40B4-BE49-F238E27FC236}">
                <a16:creationId xmlns:a16="http://schemas.microsoft.com/office/drawing/2014/main" id="{7AC91DB6-E398-955E-AA6E-6AE046DE825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7" name="TextBox 6">
            <a:extLst>
              <a:ext uri="{FF2B5EF4-FFF2-40B4-BE49-F238E27FC236}">
                <a16:creationId xmlns:a16="http://schemas.microsoft.com/office/drawing/2014/main" id="{EA08C83F-D17C-0CF7-307E-6CDC00953C2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3" name="Straight Connector 2">
            <a:extLst>
              <a:ext uri="{FF2B5EF4-FFF2-40B4-BE49-F238E27FC236}">
                <a16:creationId xmlns:a16="http://schemas.microsoft.com/office/drawing/2014/main" id="{5A2EF8D6-D7CD-1DE1-547B-A7FE3CF1F23B}"/>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CA8D2C2D-8FBB-781E-417F-B5D858DD4BBE}"/>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EF5C81FB-4A41-2E38-2638-F82CC70C7B5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13510216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Blu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CC9534-D4F4-B471-C3A8-8380F72B349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7" name="Title 1">
            <a:extLst>
              <a:ext uri="{FF2B5EF4-FFF2-40B4-BE49-F238E27FC236}">
                <a16:creationId xmlns:a16="http://schemas.microsoft.com/office/drawing/2014/main" id="{20E8375E-A8AD-BD21-762F-D12529F860EC}"/>
              </a:ext>
            </a:extLst>
          </p:cNvPr>
          <p:cNvSpPr>
            <a:spLocks noGrp="1"/>
          </p:cNvSpPr>
          <p:nvPr>
            <p:ph type="title" hasCustomPrompt="1"/>
          </p:nvPr>
        </p:nvSpPr>
        <p:spPr>
          <a:xfrm>
            <a:off x="417600" y="1080000"/>
            <a:ext cx="8308800" cy="1760400"/>
          </a:xfrm>
          <a:prstGeom prst="rect">
            <a:avLst/>
          </a:prstGeom>
        </p:spPr>
        <p:txBody>
          <a:bodyPr lIns="0" tIns="0" rIns="0" bIns="0"/>
          <a:lstStyle>
            <a:lvl1pPr>
              <a:lnSpc>
                <a:spcPct val="100000"/>
              </a:lnSpc>
              <a:defRPr sz="4400">
                <a:solidFill>
                  <a:schemeClr val="bg1"/>
                </a:solidFill>
              </a:defRPr>
            </a:lvl1pPr>
          </a:lstStyle>
          <a:p>
            <a:pPr lvl="0"/>
            <a:r>
              <a:rPr lang="en-US" dirty="0"/>
              <a:t>Divider pages </a:t>
            </a:r>
            <a:br>
              <a:rPr lang="en-US" dirty="0"/>
            </a:br>
            <a:r>
              <a:rPr lang="en-US" dirty="0"/>
              <a:t>or large quotes</a:t>
            </a:r>
          </a:p>
        </p:txBody>
      </p:sp>
      <p:sp>
        <p:nvSpPr>
          <p:cNvPr id="6" name="Slide Number Placeholder 5">
            <a:extLst>
              <a:ext uri="{FF2B5EF4-FFF2-40B4-BE49-F238E27FC236}">
                <a16:creationId xmlns:a16="http://schemas.microsoft.com/office/drawing/2014/main" id="{8957137A-1370-497D-30A9-2885B2A47AC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30294544-7EC4-ED46-6173-E3A78AF1175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3" name="Straight Connector 2">
            <a:extLst>
              <a:ext uri="{FF2B5EF4-FFF2-40B4-BE49-F238E27FC236}">
                <a16:creationId xmlns:a16="http://schemas.microsoft.com/office/drawing/2014/main" id="{37B62533-4CCB-A9F5-1EE5-199D23C15448}"/>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Footer Placeholder 2">
            <a:extLst>
              <a:ext uri="{FF2B5EF4-FFF2-40B4-BE49-F238E27FC236}">
                <a16:creationId xmlns:a16="http://schemas.microsoft.com/office/drawing/2014/main" id="{CD15844B-56C3-0508-2515-0AFFA9A8C1CC}"/>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endParaRPr lang="en-US" dirty="0"/>
          </a:p>
        </p:txBody>
      </p:sp>
      <p:pic>
        <p:nvPicPr>
          <p:cNvPr id="2" name="Graphic 1" descr="Nokia logo">
            <a:extLst>
              <a:ext uri="{FF2B5EF4-FFF2-40B4-BE49-F238E27FC236}">
                <a16:creationId xmlns:a16="http://schemas.microsoft.com/office/drawing/2014/main" id="{3761BFBE-2F2E-2C4F-848A-E8505169811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34138688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 Header Pi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0999E7-EF2D-B989-BACB-96E1C8BB882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sp>
        <p:nvSpPr>
          <p:cNvPr id="14" name="Title 4">
            <a:extLst>
              <a:ext uri="{FF2B5EF4-FFF2-40B4-BE49-F238E27FC236}">
                <a16:creationId xmlns:a16="http://schemas.microsoft.com/office/drawing/2014/main" id="{03C32FD9-B575-B088-F4D3-42B48E0622B6}"/>
              </a:ext>
            </a:extLst>
          </p:cNvPr>
          <p:cNvSpPr>
            <a:spLocks noGrp="1"/>
          </p:cNvSpPr>
          <p:nvPr>
            <p:ph type="title" hasCustomPrompt="1"/>
          </p:nvPr>
        </p:nvSpPr>
        <p:spPr>
          <a:xfrm>
            <a:off x="417531" y="396000"/>
            <a:ext cx="8308800" cy="342000"/>
          </a:xfrm>
          <a:prstGeom prst="rect">
            <a:avLst/>
          </a:prstGeom>
        </p:spPr>
        <p:txBody>
          <a:bodyPr vert="horz"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2400" kern="1200" baseline="0" dirty="0" smtClean="0">
                <a:solidFill>
                  <a:schemeClr val="bg1"/>
                </a:solidFill>
                <a:latin typeface="+mj-lt"/>
                <a:ea typeface="+mn-ea"/>
                <a:cs typeface="+mn-cs"/>
              </a:defRPr>
            </a:lvl1pPr>
          </a:lstStyle>
          <a:p>
            <a:r>
              <a:rPr lang="en-US" dirty="0"/>
              <a:t>Click to edit headline</a:t>
            </a:r>
          </a:p>
        </p:txBody>
      </p:sp>
      <p:sp>
        <p:nvSpPr>
          <p:cNvPr id="15" name="Text Placeholder 5">
            <a:extLst>
              <a:ext uri="{FF2B5EF4-FFF2-40B4-BE49-F238E27FC236}">
                <a16:creationId xmlns:a16="http://schemas.microsoft.com/office/drawing/2014/main" id="{D59C41C8-93A0-7C96-5DD0-AC829DDB6367}"/>
              </a:ext>
            </a:extLst>
          </p:cNvPr>
          <p:cNvSpPr>
            <a:spLocks noGrp="1"/>
          </p:cNvSpPr>
          <p:nvPr>
            <p:ph type="body" sz="quarter" idx="10" hasCustomPrompt="1"/>
          </p:nvPr>
        </p:nvSpPr>
        <p:spPr>
          <a:xfrm>
            <a:off x="417599" y="763200"/>
            <a:ext cx="8308800" cy="342000"/>
          </a:xfrm>
          <a:prstGeom prst="rect">
            <a:avLst/>
          </a:prstGeom>
        </p:spPr>
        <p:txBody>
          <a:bodyPr lIns="0" tIns="0" rIns="0" bIns="0"/>
          <a:lstStyle>
            <a:lvl1pPr marL="0" indent="0">
              <a:lnSpc>
                <a:spcPct val="100000"/>
              </a:lnSpc>
              <a:spcBef>
                <a:spcPts val="0"/>
              </a:spcBef>
              <a:buNone/>
              <a:defRPr sz="1800">
                <a:solidFill>
                  <a:schemeClr val="bg1"/>
                </a:solidFill>
                <a:latin typeface="+mj-lt"/>
              </a:defRPr>
            </a:lvl1pPr>
          </a:lstStyle>
          <a:p>
            <a:pPr lvl="0"/>
            <a:r>
              <a:rPr lang="en-US" dirty="0"/>
              <a:t>Click to edit Sub headline</a:t>
            </a:r>
          </a:p>
        </p:txBody>
      </p:sp>
      <p:sp>
        <p:nvSpPr>
          <p:cNvPr id="4" name="Slide Number Placeholder 5">
            <a:extLst>
              <a:ext uri="{FF2B5EF4-FFF2-40B4-BE49-F238E27FC236}">
                <a16:creationId xmlns:a16="http://schemas.microsoft.com/office/drawing/2014/main" id="{1D98B62A-7E27-3CC8-206A-E110F9366C6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Box 2">
            <a:extLst>
              <a:ext uri="{FF2B5EF4-FFF2-40B4-BE49-F238E27FC236}">
                <a16:creationId xmlns:a16="http://schemas.microsoft.com/office/drawing/2014/main" id="{F67C385F-9E05-8EDE-1535-3F794D81FC5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2026 Nokia</a:t>
            </a:r>
          </a:p>
        </p:txBody>
      </p:sp>
      <p:cxnSp>
        <p:nvCxnSpPr>
          <p:cNvPr id="6" name="Straight Connector 5">
            <a:extLst>
              <a:ext uri="{FF2B5EF4-FFF2-40B4-BE49-F238E27FC236}">
                <a16:creationId xmlns:a16="http://schemas.microsoft.com/office/drawing/2014/main" id="{E9B7065F-D77A-0916-E0D0-0FC3E19379BF}"/>
              </a:ext>
              <a:ext uri="{C183D7F6-B498-43B3-948B-1728B52AA6E4}">
                <adec:decorative xmlns:adec="http://schemas.microsoft.com/office/drawing/2017/decorative" val="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50A1F98B-78E0-1ED0-E1B9-E6B7B776EF15}"/>
              </a:ext>
            </a:extLst>
          </p:cNvPr>
          <p:cNvSpPr>
            <a:spLocks noGrp="1"/>
          </p:cNvSpPr>
          <p:nvPr>
            <p:ph type="ftr" sz="quarter" idx="3"/>
          </p:nvPr>
        </p:nvSpPr>
        <p:spPr>
          <a:xfrm>
            <a:off x="1504800" y="4860000"/>
            <a:ext cx="1584000" cy="122400"/>
          </a:xfrm>
          <a:prstGeom prst="rect">
            <a:avLst/>
          </a:prstGeom>
        </p:spPr>
        <p:txBody>
          <a:bodyPr vert="horz" lIns="0" tIns="0" rIns="0" bIns="0" rtlCol="0" anchor="b"/>
          <a:lstStyle>
            <a:lvl1pPr algn="l">
              <a:defRPr sz="800">
                <a:solidFill>
                  <a:schemeClr val="bg1"/>
                </a:solidFill>
              </a:defRPr>
            </a:lvl1pPr>
          </a:lstStyle>
          <a:p>
            <a:r>
              <a:rPr lang="en-US"/>
              <a:t>Apply a document ID (if applicable).</a:t>
            </a:r>
          </a:p>
        </p:txBody>
      </p:sp>
      <p:pic>
        <p:nvPicPr>
          <p:cNvPr id="2" name="Graphic 1" descr="Nokia logo">
            <a:extLst>
              <a:ext uri="{FF2B5EF4-FFF2-40B4-BE49-F238E27FC236}">
                <a16:creationId xmlns:a16="http://schemas.microsoft.com/office/drawing/2014/main" id="{F11B8FE6-8F1C-8435-F33C-EE04C6A6A16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Tree>
    <p:extLst>
      <p:ext uri="{BB962C8B-B14F-4D97-AF65-F5344CB8AC3E}">
        <p14:creationId xmlns:p14="http://schemas.microsoft.com/office/powerpoint/2010/main" val="7975984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771ABB-1BF6-207C-8324-84800D2C5C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4" name="Graphic 3" descr="Nokia logo">
            <a:extLst>
              <a:ext uri="{FF2B5EF4-FFF2-40B4-BE49-F238E27FC236}">
                <a16:creationId xmlns:a16="http://schemas.microsoft.com/office/drawing/2014/main" id="{8964B123-D19A-2338-1D64-863839FD10F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31608031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AC7292-88CD-9D93-6805-A93762BC5C3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5" name="Graphic 4" descr="Nokia logo">
            <a:extLst>
              <a:ext uri="{FF2B5EF4-FFF2-40B4-BE49-F238E27FC236}">
                <a16:creationId xmlns:a16="http://schemas.microsoft.com/office/drawing/2014/main" id="{9E924A02-1A30-416D-9348-04034A1D832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11169999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13571B-0777-1D96-096C-6E1D26B8219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4" name="Graphic 3" descr="Nokia logo">
            <a:extLst>
              <a:ext uri="{FF2B5EF4-FFF2-40B4-BE49-F238E27FC236}">
                <a16:creationId xmlns:a16="http://schemas.microsoft.com/office/drawing/2014/main" id="{4BBA0006-655D-C416-FAE7-8603AC98D02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77342878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8486FD-7EC4-CDCF-2EB1-8273369AD8B6}"/>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5" name="Graphic 4" descr="Nokia logo">
            <a:extLst>
              <a:ext uri="{FF2B5EF4-FFF2-40B4-BE49-F238E27FC236}">
                <a16:creationId xmlns:a16="http://schemas.microsoft.com/office/drawing/2014/main" id="{CE81493E-0EA3-98E8-E5BC-F5319B7BDEA8}"/>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253291191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007D03-89F3-2416-C72F-E4021AB5CD0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0" y="0"/>
            <a:ext cx="9144000" cy="5143500"/>
          </a:xfrm>
          <a:prstGeom prst="rect">
            <a:avLst/>
          </a:prstGeom>
        </p:spPr>
      </p:pic>
      <p:pic>
        <p:nvPicPr>
          <p:cNvPr id="4" name="Graphic 3" descr="Nokia logo">
            <a:extLst>
              <a:ext uri="{FF2B5EF4-FFF2-40B4-BE49-F238E27FC236}">
                <a16:creationId xmlns:a16="http://schemas.microsoft.com/office/drawing/2014/main" id="{A75D244D-7CB9-E6AD-BCC3-EE10290A09A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13768606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BF80BE-1AA3-A27B-FD7C-EEC3C01A5B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5" name="Graphic 4" descr="Nokia logo">
            <a:extLst>
              <a:ext uri="{FF2B5EF4-FFF2-40B4-BE49-F238E27FC236}">
                <a16:creationId xmlns:a16="http://schemas.microsoft.com/office/drawing/2014/main" id="{185A3FC1-FA47-5A34-027D-BD062044AD8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38959126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F81FDD-EA21-7356-ADEC-7FE4C88FFD3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7058" y="0"/>
            <a:ext cx="9144000" cy="5143500"/>
          </a:xfrm>
          <a:prstGeom prst="rect">
            <a:avLst/>
          </a:prstGeom>
        </p:spPr>
      </p:pic>
      <p:pic>
        <p:nvPicPr>
          <p:cNvPr id="4" name="Graphic 3" descr="Nokia logo">
            <a:extLst>
              <a:ext uri="{FF2B5EF4-FFF2-40B4-BE49-F238E27FC236}">
                <a16:creationId xmlns:a16="http://schemas.microsoft.com/office/drawing/2014/main" id="{ED5BACB3-1ACD-FD57-E2A1-36BE68E459B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21600233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4" name="Graphic 3" descr="Nokia logo">
            <a:extLst>
              <a:ext uri="{FF2B5EF4-FFF2-40B4-BE49-F238E27FC236}">
                <a16:creationId xmlns:a16="http://schemas.microsoft.com/office/drawing/2014/main" id="{ED5BACB3-1ACD-FD57-E2A1-36BE68E459B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34770" y="1954989"/>
            <a:ext cx="5474460" cy="1233522"/>
          </a:xfrm>
          <a:prstGeom prst="rect">
            <a:avLst/>
          </a:prstGeom>
        </p:spPr>
      </p:pic>
    </p:spTree>
    <p:extLst>
      <p:ext uri="{BB962C8B-B14F-4D97-AF65-F5344CB8AC3E}">
        <p14:creationId xmlns:p14="http://schemas.microsoft.com/office/powerpoint/2010/main" val="23961850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891639"/>
      </p:ext>
    </p:extLst>
  </p:cSld>
  <p:clrMap bg1="lt1" tx1="dk1" bg2="lt2" tx2="dk2" accent1="accent1" accent2="accent2" accent3="accent3" accent4="accent4" accent5="accent5" accent6="accent6" hlink="hlink" folHlink="folHlink"/>
  <p:sldLayoutIdLst>
    <p:sldLayoutId id="2147483816" r:id="rId1"/>
    <p:sldLayoutId id="2147483726" r:id="rId2"/>
    <p:sldLayoutId id="2147483776" r:id="rId3"/>
    <p:sldLayoutId id="2147483778" r:id="rId4"/>
    <p:sldLayoutId id="2147483779" r:id="rId5"/>
    <p:sldLayoutId id="2147483780" r:id="rId6"/>
    <p:sldLayoutId id="2147483781" r:id="rId7"/>
    <p:sldLayoutId id="2147483777" r:id="rId8"/>
    <p:sldLayoutId id="2147483796" r:id="rId9"/>
    <p:sldLayoutId id="2147483812" r:id="rId10"/>
    <p:sldLayoutId id="2147483763" r:id="rId11"/>
    <p:sldLayoutId id="2147483775" r:id="rId12"/>
    <p:sldLayoutId id="2147483794" r:id="rId13"/>
    <p:sldLayoutId id="2147483797" r:id="rId14"/>
    <p:sldLayoutId id="2147483817" r:id="rId15"/>
    <p:sldLayoutId id="2147483818" r:id="rId16"/>
    <p:sldLayoutId id="2147483819" r:id="rId17"/>
    <p:sldLayoutId id="2147483820" r:id="rId18"/>
    <p:sldLayoutId id="2147483821" r:id="rId19"/>
    <p:sldLayoutId id="2147483822" r:id="rId20"/>
    <p:sldLayoutId id="2147483823" r:id="rId21"/>
    <p:sldLayoutId id="2147483824" r:id="rId22"/>
    <p:sldLayoutId id="2147483825" r:id="rId23"/>
    <p:sldLayoutId id="2147483826" r:id="rId24"/>
    <p:sldLayoutId id="2147483827" r:id="rId25"/>
    <p:sldLayoutId id="2147483828" r:id="rId26"/>
    <p:sldLayoutId id="2147483753" r:id="rId27"/>
    <p:sldLayoutId id="2147483757" r:id="rId28"/>
    <p:sldLayoutId id="2147483758" r:id="rId29"/>
    <p:sldLayoutId id="2147483815" r:id="rId30"/>
    <p:sldLayoutId id="2147483760" r:id="rId31"/>
    <p:sldLayoutId id="2147483761" r:id="rId32"/>
    <p:sldLayoutId id="2147483762" r:id="rId33"/>
    <p:sldLayoutId id="2147483774" r:id="rId34"/>
    <p:sldLayoutId id="2147483755" r:id="rId35"/>
    <p:sldLayoutId id="2147483756" r:id="rId36"/>
    <p:sldLayoutId id="2147483793" r:id="rId37"/>
    <p:sldLayoutId id="2147483814" r:id="rId38"/>
    <p:sldLayoutId id="2147483865" r:id="rId39"/>
    <p:sldLayoutId id="2147483746" r:id="rId40"/>
    <p:sldLayoutId id="2147483747" r:id="rId41"/>
    <p:sldLayoutId id="2147483748" r:id="rId42"/>
    <p:sldLayoutId id="2147483749" r:id="rId43"/>
    <p:sldLayoutId id="2147483750" r:id="rId44"/>
    <p:sldLayoutId id="2147483751" r:id="rId45"/>
    <p:sldLayoutId id="2147483791" r:id="rId46"/>
    <p:sldLayoutId id="2147483853" r:id="rId47"/>
    <p:sldLayoutId id="2147483857" r:id="rId48"/>
    <p:sldLayoutId id="2147483858" r:id="rId49"/>
    <p:sldLayoutId id="2147483859" r:id="rId50"/>
    <p:sldLayoutId id="2147483860" r:id="rId51"/>
    <p:sldLayoutId id="2147483861" r:id="rId52"/>
    <p:sldLayoutId id="2147483862" r:id="rId53"/>
    <p:sldLayoutId id="2147483863" r:id="rId54"/>
    <p:sldLayoutId id="2147483864" r:id="rId55"/>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A3F19-C97F-216A-002D-C6BB4C79ED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006B91-8908-D0D2-48A4-82A02A6CC6EB}"/>
              </a:ext>
            </a:extLst>
          </p:cNvPr>
          <p:cNvSpPr>
            <a:spLocks noGrp="1"/>
          </p:cNvSpPr>
          <p:nvPr>
            <p:ph type="title"/>
          </p:nvPr>
        </p:nvSpPr>
        <p:spPr>
          <a:xfrm>
            <a:off x="277586" y="900000"/>
            <a:ext cx="5035945" cy="1426821"/>
          </a:xfrm>
        </p:spPr>
        <p:txBody>
          <a:bodyPr/>
          <a:lstStyle/>
          <a:p>
            <a:r>
              <a:rPr lang="en-US" sz="3400" b="1" dirty="0"/>
              <a:t>Multi Agentic AI-Native Autonomous RAN and Air Interface for 6G Networks</a:t>
            </a:r>
          </a:p>
        </p:txBody>
      </p:sp>
      <p:sp>
        <p:nvSpPr>
          <p:cNvPr id="4" name="Text Placeholder 3">
            <a:extLst>
              <a:ext uri="{FF2B5EF4-FFF2-40B4-BE49-F238E27FC236}">
                <a16:creationId xmlns:a16="http://schemas.microsoft.com/office/drawing/2014/main" id="{E68D6094-EC41-476F-D0A2-2FF2CFE00EA6}"/>
              </a:ext>
            </a:extLst>
          </p:cNvPr>
          <p:cNvSpPr>
            <a:spLocks noGrp="1"/>
          </p:cNvSpPr>
          <p:nvPr>
            <p:ph type="body" sz="quarter" idx="12"/>
          </p:nvPr>
        </p:nvSpPr>
        <p:spPr>
          <a:xfrm>
            <a:off x="417532" y="2999036"/>
            <a:ext cx="2227698" cy="797357"/>
          </a:xfrm>
        </p:spPr>
        <p:txBody>
          <a:bodyPr/>
          <a:lstStyle/>
          <a:p>
            <a:r>
              <a:rPr lang="en-US" b="1" dirty="0"/>
              <a:t>Swetha Kerahalli,</a:t>
            </a:r>
            <a:br>
              <a:rPr lang="en-US" b="1" dirty="0"/>
            </a:br>
            <a:r>
              <a:rPr lang="en-US" sz="1200" b="1" dirty="0"/>
              <a:t>System Architect,</a:t>
            </a:r>
            <a:br>
              <a:rPr lang="en-US" sz="1200" b="1" dirty="0"/>
            </a:br>
            <a:r>
              <a:rPr lang="en-US" sz="1200" b="1" dirty="0"/>
              <a:t>MI RRD AS Algo Innov</a:t>
            </a:r>
            <a:br>
              <a:rPr lang="en-US" sz="1200" b="1" dirty="0"/>
            </a:br>
            <a:r>
              <a:rPr lang="en-US" sz="1200" b="1" dirty="0"/>
              <a:t>Bengaluru</a:t>
            </a:r>
          </a:p>
        </p:txBody>
      </p:sp>
    </p:spTree>
    <p:extLst>
      <p:ext uri="{BB962C8B-B14F-4D97-AF65-F5344CB8AC3E}">
        <p14:creationId xmlns:p14="http://schemas.microsoft.com/office/powerpoint/2010/main" val="3696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1C207D1-E1B2-1E6F-21E5-7F07BA2CF353}"/>
              </a:ext>
            </a:extLst>
          </p:cNvPr>
          <p:cNvSpPr>
            <a:spLocks noGrp="1"/>
          </p:cNvSpPr>
          <p:nvPr>
            <p:ph type="title"/>
          </p:nvPr>
        </p:nvSpPr>
        <p:spPr>
          <a:xfrm>
            <a:off x="417531" y="161100"/>
            <a:ext cx="8308800" cy="342000"/>
          </a:xfrm>
        </p:spPr>
        <p:txBody>
          <a:bodyPr/>
          <a:lstStyle/>
          <a:p>
            <a:r>
              <a:rPr lang="en-US" dirty="0"/>
              <a:t>Agenda</a:t>
            </a:r>
          </a:p>
        </p:txBody>
      </p:sp>
      <p:sp>
        <p:nvSpPr>
          <p:cNvPr id="8" name="Text Placeholder 7">
            <a:extLst>
              <a:ext uri="{FF2B5EF4-FFF2-40B4-BE49-F238E27FC236}">
                <a16:creationId xmlns:a16="http://schemas.microsoft.com/office/drawing/2014/main" id="{BC2E510D-758E-5456-5632-EB702D2B1D6E}"/>
              </a:ext>
            </a:extLst>
          </p:cNvPr>
          <p:cNvSpPr>
            <a:spLocks noGrp="1"/>
          </p:cNvSpPr>
          <p:nvPr>
            <p:ph type="body" sz="quarter" idx="14"/>
          </p:nvPr>
        </p:nvSpPr>
        <p:spPr>
          <a:xfrm>
            <a:off x="417600" y="571500"/>
            <a:ext cx="8308800" cy="3807480"/>
          </a:xfrm>
        </p:spPr>
        <p:txBody>
          <a:bodyPr/>
          <a:lstStyle/>
          <a:p>
            <a:r>
              <a:rPr lang="en-US" b="1" dirty="0"/>
              <a:t>Introduction</a:t>
            </a:r>
          </a:p>
          <a:p>
            <a:r>
              <a:rPr lang="en-US" b="1" dirty="0"/>
              <a:t>Details</a:t>
            </a:r>
          </a:p>
          <a:p>
            <a:r>
              <a:rPr lang="en-US" b="1" dirty="0"/>
              <a:t>Final Deliverables</a:t>
            </a:r>
          </a:p>
          <a:p>
            <a:r>
              <a:rPr lang="en-US" b="1" dirty="0"/>
              <a:t>Problem Statement</a:t>
            </a:r>
          </a:p>
          <a:p>
            <a:r>
              <a:rPr lang="en-US" b="1" dirty="0"/>
              <a:t>Proposed Solution</a:t>
            </a:r>
          </a:p>
          <a:p>
            <a:pPr marL="0" indent="0">
              <a:buNone/>
            </a:pPr>
            <a:endParaRPr lang="en-US" dirty="0"/>
          </a:p>
        </p:txBody>
      </p:sp>
    </p:spTree>
    <p:extLst>
      <p:ext uri="{BB962C8B-B14F-4D97-AF65-F5344CB8AC3E}">
        <p14:creationId xmlns:p14="http://schemas.microsoft.com/office/powerpoint/2010/main" val="3888377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EC9E9-1FC5-13B3-B36D-53C0ABEA3348}"/>
              </a:ext>
            </a:extLst>
          </p:cNvPr>
          <p:cNvSpPr>
            <a:spLocks noGrp="1"/>
          </p:cNvSpPr>
          <p:nvPr>
            <p:ph type="title"/>
          </p:nvPr>
        </p:nvSpPr>
        <p:spPr/>
        <p:txBody>
          <a:bodyPr/>
          <a:lstStyle/>
          <a:p>
            <a:r>
              <a:rPr lang="en-US" dirty="0"/>
              <a:t>Problem Statement</a:t>
            </a:r>
          </a:p>
        </p:txBody>
      </p:sp>
      <p:sp>
        <p:nvSpPr>
          <p:cNvPr id="4" name="Text Placeholder 3">
            <a:extLst>
              <a:ext uri="{FF2B5EF4-FFF2-40B4-BE49-F238E27FC236}">
                <a16:creationId xmlns:a16="http://schemas.microsoft.com/office/drawing/2014/main" id="{A0D2E7B6-EDCC-EABA-7009-B153966B645B}"/>
              </a:ext>
            </a:extLst>
          </p:cNvPr>
          <p:cNvSpPr>
            <a:spLocks noGrp="1"/>
          </p:cNvSpPr>
          <p:nvPr>
            <p:ph type="body" sz="quarter" idx="14"/>
          </p:nvPr>
        </p:nvSpPr>
        <p:spPr>
          <a:xfrm>
            <a:off x="417600" y="889907"/>
            <a:ext cx="8308800" cy="3788229"/>
          </a:xfrm>
        </p:spPr>
        <p:txBody>
          <a:bodyPr/>
          <a:lstStyle/>
          <a:p>
            <a:pPr marL="0" indent="0">
              <a:buNone/>
            </a:pPr>
            <a:r>
              <a:rPr lang="en-US" b="1" dirty="0"/>
              <a:t>Current 5G and Open RAN deployments still rely heavily on predefined policies, static optimization rules, centralized controllers, and human-assisted operations.</a:t>
            </a:r>
          </a:p>
          <a:p>
            <a:pPr marL="0" indent="0">
              <a:buNone/>
            </a:pPr>
            <a:r>
              <a:rPr lang="en-US" b="1" dirty="0"/>
              <a:t>The limitations include:</a:t>
            </a:r>
          </a:p>
          <a:p>
            <a:pPr marL="0" indent="0">
              <a:buNone/>
            </a:pPr>
            <a:r>
              <a:rPr lang="en-US" b="1" dirty="0"/>
              <a:t>Dynamic traffic patterns exceeding optimization capabilities.</a:t>
            </a:r>
          </a:p>
          <a:p>
            <a:pPr marL="0" indent="0">
              <a:buNone/>
            </a:pPr>
            <a:r>
              <a:rPr lang="en-US" b="1" dirty="0"/>
              <a:t>Massive IoT density creating scheduling complexity.</a:t>
            </a:r>
          </a:p>
          <a:p>
            <a:pPr marL="0" indent="0">
              <a:buNone/>
            </a:pPr>
            <a:r>
              <a:rPr lang="en-US" b="1" dirty="0"/>
              <a:t>THz communication introducing highly dynamic channel conditions.</a:t>
            </a:r>
          </a:p>
          <a:p>
            <a:pPr marL="0" indent="0">
              <a:buNone/>
            </a:pPr>
            <a:r>
              <a:rPr lang="en-US" b="1" dirty="0"/>
              <a:t>Integrated TN-NTN architectures increasing mobility complexity.</a:t>
            </a:r>
          </a:p>
          <a:p>
            <a:pPr marL="0" indent="0">
              <a:buNone/>
            </a:pPr>
            <a:r>
              <a:rPr lang="en-US" b="1" dirty="0"/>
              <a:t>Ultra-low latency applications requiring real-time adaptation.</a:t>
            </a:r>
          </a:p>
          <a:p>
            <a:pPr marL="0" indent="0">
              <a:buNone/>
            </a:pPr>
            <a:r>
              <a:rPr lang="en-US" b="1" dirty="0"/>
              <a:t>Energy consumption becoming a major operational concern.</a:t>
            </a:r>
          </a:p>
          <a:p>
            <a:pPr marL="0" indent="0">
              <a:buNone/>
            </a:pPr>
            <a:r>
              <a:rPr lang="en-US" b="1" dirty="0"/>
              <a:t>Increasing complexity of network slicing and service orchestration.</a:t>
            </a:r>
          </a:p>
          <a:p>
            <a:pPr marL="0" indent="0">
              <a:buNone/>
            </a:pPr>
            <a:r>
              <a:rPr lang="en-US" b="1" dirty="0"/>
              <a:t>Traditional optimization methods become computationally infeasible because many RAN optimization problems belong to NP-hard optimization classes.</a:t>
            </a:r>
          </a:p>
          <a:p>
            <a:pPr marL="0" indent="0">
              <a:buNone/>
            </a:pPr>
            <a:endParaRPr lang="en-US" b="1" dirty="0"/>
          </a:p>
          <a:p>
            <a:pPr marL="0" indent="0">
              <a:buNone/>
            </a:pPr>
            <a:r>
              <a:rPr lang="en-US" b="1" dirty="0"/>
              <a:t>How can multiple autonomous AI agents collaboratively optimize scheduling, resource allocation, mobility, energy efficiency, security, beam management, and air interface adaptation in real-time while ensuring network stability, scalability, explainability, and trustworthiness in 6G environments?</a:t>
            </a:r>
            <a:endParaRPr lang="en-US" dirty="0"/>
          </a:p>
          <a:p>
            <a:pPr marL="0" indent="0">
              <a:buNone/>
            </a:pPr>
            <a:endParaRPr lang="en-US" dirty="0"/>
          </a:p>
        </p:txBody>
      </p:sp>
      <p:sp>
        <p:nvSpPr>
          <p:cNvPr id="5" name="Footer Placeholder 4">
            <a:extLst>
              <a:ext uri="{FF2B5EF4-FFF2-40B4-BE49-F238E27FC236}">
                <a16:creationId xmlns:a16="http://schemas.microsoft.com/office/drawing/2014/main" id="{89950B47-7894-7E1B-4216-11384BEB36B3}"/>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1482774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9C639-2A2E-F152-3E97-51BA2EFC8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AAA79-ACD7-69DB-F715-21F6EBC23145}"/>
              </a:ext>
            </a:extLst>
          </p:cNvPr>
          <p:cNvSpPr>
            <a:spLocks noGrp="1"/>
          </p:cNvSpPr>
          <p:nvPr>
            <p:ph type="title"/>
          </p:nvPr>
        </p:nvSpPr>
        <p:spPr/>
        <p:txBody>
          <a:bodyPr/>
          <a:lstStyle/>
          <a:p>
            <a:r>
              <a:rPr lang="en-US" dirty="0"/>
              <a:t>Proposed Solution</a:t>
            </a:r>
          </a:p>
        </p:txBody>
      </p:sp>
      <p:sp>
        <p:nvSpPr>
          <p:cNvPr id="4" name="Text Placeholder 3">
            <a:extLst>
              <a:ext uri="{FF2B5EF4-FFF2-40B4-BE49-F238E27FC236}">
                <a16:creationId xmlns:a16="http://schemas.microsoft.com/office/drawing/2014/main" id="{0EA020BC-7037-E341-1009-16D14464D25B}"/>
              </a:ext>
            </a:extLst>
          </p:cNvPr>
          <p:cNvSpPr>
            <a:spLocks noGrp="1"/>
          </p:cNvSpPr>
          <p:nvPr>
            <p:ph type="body" sz="quarter" idx="14"/>
          </p:nvPr>
        </p:nvSpPr>
        <p:spPr>
          <a:xfrm>
            <a:off x="417600" y="889907"/>
            <a:ext cx="8308800" cy="3788229"/>
          </a:xfrm>
        </p:spPr>
        <p:txBody>
          <a:bodyPr/>
          <a:lstStyle/>
          <a:p>
            <a:pPr marL="0" indent="0">
              <a:buNone/>
            </a:pPr>
            <a:r>
              <a:rPr lang="en-US" sz="1800" dirty="0"/>
              <a:t>The proposed framework aims to:</a:t>
            </a:r>
          </a:p>
          <a:p>
            <a:r>
              <a:rPr lang="en-US" sz="1800" dirty="0"/>
              <a:t>Develop a Multi-Agent AI-Native RAN architecture where specialized agents autonomously manage scheduling, radio resource allocation, security, mobility, energy consumption, network slicing, and air-interface adaptation.</a:t>
            </a:r>
          </a:p>
          <a:p>
            <a:r>
              <a:rPr lang="en-US" sz="1800" dirty="0"/>
              <a:t>The system must learn continuously from network observations, coordinate actions among agents, and optimize both local and global objectives using reinforcement learning, graph neural networks, federated learning, foundation models, and digital twins.</a:t>
            </a:r>
          </a:p>
          <a:p>
            <a:pPr marL="0" indent="0">
              <a:buNone/>
            </a:pPr>
            <a:endParaRPr lang="en-US" dirty="0"/>
          </a:p>
        </p:txBody>
      </p:sp>
      <p:sp>
        <p:nvSpPr>
          <p:cNvPr id="5" name="Footer Placeholder 4">
            <a:extLst>
              <a:ext uri="{FF2B5EF4-FFF2-40B4-BE49-F238E27FC236}">
                <a16:creationId xmlns:a16="http://schemas.microsoft.com/office/drawing/2014/main" id="{4E309F08-2ECD-E2A6-ADDD-70EE3E849ECD}"/>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4148754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20343A57-5582-F2E0-65D2-52EE520898FA}"/>
              </a:ext>
            </a:extLst>
          </p:cNvPr>
          <p:cNvSpPr>
            <a:spLocks noGrp="1"/>
          </p:cNvSpPr>
          <p:nvPr>
            <p:ph type="ftr" sz="quarter" idx="3"/>
          </p:nvPr>
        </p:nvSpPr>
        <p:spPr/>
        <p:txBody>
          <a:bodyPr/>
          <a:lstStyle/>
          <a:p>
            <a:r>
              <a:rPr lang="en-US"/>
              <a:t>Apply a document ID (if applicable).</a:t>
            </a:r>
            <a:endParaRPr lang="en-US" dirty="0"/>
          </a:p>
        </p:txBody>
      </p:sp>
      <p:graphicFrame>
        <p:nvGraphicFramePr>
          <p:cNvPr id="7" name="Table 6">
            <a:extLst>
              <a:ext uri="{FF2B5EF4-FFF2-40B4-BE49-F238E27FC236}">
                <a16:creationId xmlns:a16="http://schemas.microsoft.com/office/drawing/2014/main" id="{2B556DF8-EC9E-4B62-2EEB-0281FF852CEF}"/>
              </a:ext>
            </a:extLst>
          </p:cNvPr>
          <p:cNvGraphicFramePr>
            <a:graphicFrameLocks noGrp="1"/>
          </p:cNvGraphicFramePr>
          <p:nvPr>
            <p:extLst>
              <p:ext uri="{D42A27DB-BD31-4B8C-83A1-F6EECF244321}">
                <p14:modId xmlns:p14="http://schemas.microsoft.com/office/powerpoint/2010/main" val="4229763103"/>
              </p:ext>
            </p:extLst>
          </p:nvPr>
        </p:nvGraphicFramePr>
        <p:xfrm>
          <a:off x="417531" y="716870"/>
          <a:ext cx="7762052" cy="3262311"/>
        </p:xfrm>
        <a:graphic>
          <a:graphicData uri="http://schemas.openxmlformats.org/drawingml/2006/table">
            <a:tbl>
              <a:tblPr>
                <a:tableStyleId>{69CF1AB2-1976-4502-BF36-3FF5EA218861}</a:tableStyleId>
              </a:tblPr>
              <a:tblGrid>
                <a:gridCol w="3881026">
                  <a:extLst>
                    <a:ext uri="{9D8B030D-6E8A-4147-A177-3AD203B41FA5}">
                      <a16:colId xmlns:a16="http://schemas.microsoft.com/office/drawing/2014/main" val="1030045189"/>
                    </a:ext>
                  </a:extLst>
                </a:gridCol>
                <a:gridCol w="3881026">
                  <a:extLst>
                    <a:ext uri="{9D8B030D-6E8A-4147-A177-3AD203B41FA5}">
                      <a16:colId xmlns:a16="http://schemas.microsoft.com/office/drawing/2014/main" val="4179011764"/>
                    </a:ext>
                  </a:extLst>
                </a:gridCol>
              </a:tblGrid>
              <a:tr h="292483">
                <a:tc>
                  <a:txBody>
                    <a:bodyPr/>
                    <a:lstStyle/>
                    <a:p>
                      <a:pPr>
                        <a:buNone/>
                      </a:pPr>
                      <a:r>
                        <a:rPr lang="en-US" sz="1300" b="1"/>
                        <a:t>Item</a:t>
                      </a:r>
                    </a:p>
                  </a:txBody>
                  <a:tcPr marL="89995" marR="89995" marT="44997" marB="44997" anchor="ctr"/>
                </a:tc>
                <a:tc>
                  <a:txBody>
                    <a:bodyPr/>
                    <a:lstStyle/>
                    <a:p>
                      <a:pPr>
                        <a:buNone/>
                      </a:pPr>
                      <a:r>
                        <a:rPr lang="en-US" sz="1300" b="1" dirty="0"/>
                        <a:t>Description</a:t>
                      </a:r>
                    </a:p>
                  </a:txBody>
                  <a:tcPr marL="89995" marR="89995" marT="44997" marB="44997" anchor="ctr"/>
                </a:tc>
                <a:extLst>
                  <a:ext uri="{0D108BD9-81ED-4DB2-BD59-A6C34878D82A}">
                    <a16:rowId xmlns:a16="http://schemas.microsoft.com/office/drawing/2014/main" val="2208702090"/>
                  </a:ext>
                </a:extLst>
              </a:tr>
              <a:tr h="697460">
                <a:tc>
                  <a:txBody>
                    <a:bodyPr/>
                    <a:lstStyle/>
                    <a:p>
                      <a:pPr>
                        <a:buNone/>
                      </a:pPr>
                      <a:r>
                        <a:rPr lang="en-US" sz="1300"/>
                        <a:t>Project Title</a:t>
                      </a:r>
                    </a:p>
                  </a:txBody>
                  <a:tcPr marL="89995" marR="89995" marT="44997" marB="44997" anchor="ctr"/>
                </a:tc>
                <a:tc>
                  <a:txBody>
                    <a:bodyPr/>
                    <a:lstStyle/>
                    <a:p>
                      <a:pPr>
                        <a:buNone/>
                      </a:pPr>
                      <a:r>
                        <a:rPr lang="en-US" sz="1300" dirty="0"/>
                        <a:t>Multi-Agentic AI-Native Autonomous RAN and Air Interface with Autonomous Security Intelligence for 6G Networks</a:t>
                      </a:r>
                    </a:p>
                  </a:txBody>
                  <a:tcPr marL="89995" marR="89995" marT="44997" marB="44997" anchor="ctr"/>
                </a:tc>
                <a:extLst>
                  <a:ext uri="{0D108BD9-81ED-4DB2-BD59-A6C34878D82A}">
                    <a16:rowId xmlns:a16="http://schemas.microsoft.com/office/drawing/2014/main" val="2740175291"/>
                  </a:ext>
                </a:extLst>
              </a:tr>
              <a:tr h="697460">
                <a:tc>
                  <a:txBody>
                    <a:bodyPr/>
                    <a:lstStyle/>
                    <a:p>
                      <a:pPr>
                        <a:buNone/>
                      </a:pPr>
                      <a:r>
                        <a:rPr lang="en-US" sz="1300" dirty="0"/>
                        <a:t>Research Area</a:t>
                      </a:r>
                    </a:p>
                  </a:txBody>
                  <a:tcPr marL="89995" marR="89995" marT="44997" marB="44997" anchor="ctr"/>
                </a:tc>
                <a:tc>
                  <a:txBody>
                    <a:bodyPr/>
                    <a:lstStyle/>
                    <a:p>
                      <a:pPr>
                        <a:buNone/>
                      </a:pPr>
                      <a:r>
                        <a:rPr lang="en-US" sz="1300"/>
                        <a:t>6G Wireless Communications, AI-Native Networks, O-RAN, Multi-Agent AI, Security Intelligence</a:t>
                      </a:r>
                    </a:p>
                  </a:txBody>
                  <a:tcPr marL="89995" marR="89995" marT="44997" marB="44997" anchor="ctr"/>
                </a:tc>
                <a:extLst>
                  <a:ext uri="{0D108BD9-81ED-4DB2-BD59-A6C34878D82A}">
                    <a16:rowId xmlns:a16="http://schemas.microsoft.com/office/drawing/2014/main" val="3802192370"/>
                  </a:ext>
                </a:extLst>
              </a:tr>
              <a:tr h="292483">
                <a:tc>
                  <a:txBody>
                    <a:bodyPr/>
                    <a:lstStyle/>
                    <a:p>
                      <a:pPr>
                        <a:buNone/>
                      </a:pPr>
                      <a:r>
                        <a:rPr lang="en-US" sz="1300"/>
                        <a:t>Duration</a:t>
                      </a:r>
                    </a:p>
                  </a:txBody>
                  <a:tcPr marL="89995" marR="89995" marT="44997" marB="44997" anchor="ctr"/>
                </a:tc>
                <a:tc>
                  <a:txBody>
                    <a:bodyPr/>
                    <a:lstStyle/>
                    <a:p>
                      <a:pPr>
                        <a:buNone/>
                      </a:pPr>
                      <a:r>
                        <a:rPr lang="en-US" sz="1300"/>
                        <a:t>4 Months</a:t>
                      </a:r>
                    </a:p>
                  </a:txBody>
                  <a:tcPr marL="89995" marR="89995" marT="44997" marB="44997" anchor="ctr"/>
                </a:tc>
                <a:extLst>
                  <a:ext uri="{0D108BD9-81ED-4DB2-BD59-A6C34878D82A}">
                    <a16:rowId xmlns:a16="http://schemas.microsoft.com/office/drawing/2014/main" val="1422270042"/>
                  </a:ext>
                </a:extLst>
              </a:tr>
              <a:tr h="292483">
                <a:tc>
                  <a:txBody>
                    <a:bodyPr/>
                    <a:lstStyle/>
                    <a:p>
                      <a:pPr>
                        <a:buNone/>
                      </a:pPr>
                      <a:r>
                        <a:rPr lang="en-US" sz="1300"/>
                        <a:t>Standards Alignment</a:t>
                      </a:r>
                    </a:p>
                  </a:txBody>
                  <a:tcPr marL="89995" marR="89995" marT="44997" marB="44997" anchor="ctr"/>
                </a:tc>
                <a:tc>
                  <a:txBody>
                    <a:bodyPr/>
                    <a:lstStyle/>
                    <a:p>
                      <a:pPr>
                        <a:buNone/>
                      </a:pPr>
                      <a:r>
                        <a:rPr lang="en-US" sz="1300"/>
                        <a:t>3GPP Release 18, Release 19, Release 20, O-RAN</a:t>
                      </a:r>
                    </a:p>
                  </a:txBody>
                  <a:tcPr marL="89995" marR="89995" marT="44997" marB="44997" anchor="ctr"/>
                </a:tc>
                <a:extLst>
                  <a:ext uri="{0D108BD9-81ED-4DB2-BD59-A6C34878D82A}">
                    <a16:rowId xmlns:a16="http://schemas.microsoft.com/office/drawing/2014/main" val="3707603309"/>
                  </a:ext>
                </a:extLst>
              </a:tr>
              <a:tr h="494971">
                <a:tc>
                  <a:txBody>
                    <a:bodyPr/>
                    <a:lstStyle/>
                    <a:p>
                      <a:pPr>
                        <a:buNone/>
                      </a:pPr>
                      <a:r>
                        <a:rPr lang="en-US" sz="1300"/>
                        <a:t>Deployment Target</a:t>
                      </a:r>
                    </a:p>
                  </a:txBody>
                  <a:tcPr marL="89995" marR="89995" marT="44997" marB="44997" anchor="ctr"/>
                </a:tc>
                <a:tc>
                  <a:txBody>
                    <a:bodyPr/>
                    <a:lstStyle/>
                    <a:p>
                      <a:pPr>
                        <a:buNone/>
                      </a:pPr>
                      <a:r>
                        <a:rPr lang="en-US" sz="1300"/>
                        <a:t>Near-RT RIC, Non-RT RIC, SMO, AI-Native Air Interface</a:t>
                      </a:r>
                    </a:p>
                  </a:txBody>
                  <a:tcPr marL="89995" marR="89995" marT="44997" marB="44997" anchor="ctr"/>
                </a:tc>
                <a:extLst>
                  <a:ext uri="{0D108BD9-81ED-4DB2-BD59-A6C34878D82A}">
                    <a16:rowId xmlns:a16="http://schemas.microsoft.com/office/drawing/2014/main" val="3871073913"/>
                  </a:ext>
                </a:extLst>
              </a:tr>
              <a:tr h="494971">
                <a:tc>
                  <a:txBody>
                    <a:bodyPr/>
                    <a:lstStyle/>
                    <a:p>
                      <a:pPr>
                        <a:buNone/>
                      </a:pPr>
                      <a:r>
                        <a:rPr lang="en-US" sz="1300"/>
                        <a:t>Final Goal</a:t>
                      </a:r>
                    </a:p>
                  </a:txBody>
                  <a:tcPr marL="89995" marR="89995" marT="44997" marB="44997" anchor="ctr"/>
                </a:tc>
                <a:tc>
                  <a:txBody>
                    <a:bodyPr/>
                    <a:lstStyle/>
                    <a:p>
                      <a:pPr>
                        <a:buNone/>
                      </a:pPr>
                      <a:r>
                        <a:rPr lang="en-US" sz="1300" dirty="0"/>
                        <a:t>Autonomous, Self-Healing, Self-Securing, AI-Native 6G RAN</a:t>
                      </a:r>
                    </a:p>
                  </a:txBody>
                  <a:tcPr marL="89995" marR="89995" marT="44997" marB="44997" anchor="ctr"/>
                </a:tc>
                <a:extLst>
                  <a:ext uri="{0D108BD9-81ED-4DB2-BD59-A6C34878D82A}">
                    <a16:rowId xmlns:a16="http://schemas.microsoft.com/office/drawing/2014/main" val="266547683"/>
                  </a:ext>
                </a:extLst>
              </a:tr>
            </a:tbl>
          </a:graphicData>
        </a:graphic>
      </p:graphicFrame>
      <p:sp>
        <p:nvSpPr>
          <p:cNvPr id="11" name="Title 5">
            <a:extLst>
              <a:ext uri="{FF2B5EF4-FFF2-40B4-BE49-F238E27FC236}">
                <a16:creationId xmlns:a16="http://schemas.microsoft.com/office/drawing/2014/main" id="{3BC3EADB-87AD-F19A-0F51-F4309E97EE1E}"/>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Project Overview</a:t>
            </a:r>
            <a:br>
              <a:rPr lang="en-US" dirty="0"/>
            </a:br>
            <a:endParaRPr lang="en-US" dirty="0"/>
          </a:p>
        </p:txBody>
      </p:sp>
    </p:spTree>
    <p:extLst>
      <p:ext uri="{BB962C8B-B14F-4D97-AF65-F5344CB8AC3E}">
        <p14:creationId xmlns:p14="http://schemas.microsoft.com/office/powerpoint/2010/main" val="338102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18150-5848-A206-F4A3-21139538EE60}"/>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91716D6F-D4CE-8FFF-4C6C-519A5EC11982}"/>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0305B5A6-E4F5-F841-2756-27DE34315868}"/>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Month 1: Research, Architecture Design and Dataset Preparation</a:t>
            </a:r>
            <a:br>
              <a:rPr lang="en-US" dirty="0"/>
            </a:br>
            <a:endParaRPr lang="en-US" dirty="0"/>
          </a:p>
        </p:txBody>
      </p:sp>
      <p:graphicFrame>
        <p:nvGraphicFramePr>
          <p:cNvPr id="2" name="Table 1">
            <a:extLst>
              <a:ext uri="{FF2B5EF4-FFF2-40B4-BE49-F238E27FC236}">
                <a16:creationId xmlns:a16="http://schemas.microsoft.com/office/drawing/2014/main" id="{D71FE494-E159-AD2E-2C94-71304C246BC7}"/>
              </a:ext>
            </a:extLst>
          </p:cNvPr>
          <p:cNvGraphicFramePr>
            <a:graphicFrameLocks noGrp="1"/>
          </p:cNvGraphicFramePr>
          <p:nvPr>
            <p:extLst>
              <p:ext uri="{D42A27DB-BD31-4B8C-83A1-F6EECF244321}">
                <p14:modId xmlns:p14="http://schemas.microsoft.com/office/powerpoint/2010/main" val="2775520709"/>
              </p:ext>
            </p:extLst>
          </p:nvPr>
        </p:nvGraphicFramePr>
        <p:xfrm>
          <a:off x="417531" y="571500"/>
          <a:ext cx="8308800" cy="4072322"/>
        </p:xfrm>
        <a:graphic>
          <a:graphicData uri="http://schemas.openxmlformats.org/drawingml/2006/table">
            <a:tbl>
              <a:tblPr>
                <a:tableStyleId>{8A107856-5554-42FB-B03E-39F5DBC370BA}</a:tableStyleId>
              </a:tblPr>
              <a:tblGrid>
                <a:gridCol w="986726">
                  <a:extLst>
                    <a:ext uri="{9D8B030D-6E8A-4147-A177-3AD203B41FA5}">
                      <a16:colId xmlns:a16="http://schemas.microsoft.com/office/drawing/2014/main" val="421708110"/>
                    </a:ext>
                  </a:extLst>
                </a:gridCol>
                <a:gridCol w="2032907">
                  <a:extLst>
                    <a:ext uri="{9D8B030D-6E8A-4147-A177-3AD203B41FA5}">
                      <a16:colId xmlns:a16="http://schemas.microsoft.com/office/drawing/2014/main" val="1404771736"/>
                    </a:ext>
                  </a:extLst>
                </a:gridCol>
                <a:gridCol w="3211967">
                  <a:extLst>
                    <a:ext uri="{9D8B030D-6E8A-4147-A177-3AD203B41FA5}">
                      <a16:colId xmlns:a16="http://schemas.microsoft.com/office/drawing/2014/main" val="3397872152"/>
                    </a:ext>
                  </a:extLst>
                </a:gridCol>
                <a:gridCol w="2077200">
                  <a:extLst>
                    <a:ext uri="{9D8B030D-6E8A-4147-A177-3AD203B41FA5}">
                      <a16:colId xmlns:a16="http://schemas.microsoft.com/office/drawing/2014/main" val="117881636"/>
                    </a:ext>
                  </a:extLst>
                </a:gridCol>
              </a:tblGrid>
              <a:tr h="207382">
                <a:tc>
                  <a:txBody>
                    <a:bodyPr/>
                    <a:lstStyle/>
                    <a:p>
                      <a:pPr>
                        <a:buNone/>
                      </a:pPr>
                      <a:r>
                        <a:rPr lang="en-US" sz="1000" b="1"/>
                        <a:t>Week</a:t>
                      </a:r>
                    </a:p>
                  </a:txBody>
                  <a:tcPr marL="48331" marR="48331" marT="24165" marB="24165" anchor="ctr"/>
                </a:tc>
                <a:tc>
                  <a:txBody>
                    <a:bodyPr/>
                    <a:lstStyle/>
                    <a:p>
                      <a:pPr>
                        <a:buNone/>
                      </a:pPr>
                      <a:r>
                        <a:rPr lang="en-US" sz="1000" b="1"/>
                        <a:t>Activity</a:t>
                      </a:r>
                    </a:p>
                  </a:txBody>
                  <a:tcPr marL="48331" marR="48331" marT="24165" marB="24165" anchor="ctr"/>
                </a:tc>
                <a:tc>
                  <a:txBody>
                    <a:bodyPr/>
                    <a:lstStyle/>
                    <a:p>
                      <a:pPr>
                        <a:buNone/>
                      </a:pPr>
                      <a:r>
                        <a:rPr lang="en-US" sz="1000" b="1"/>
                        <a:t>Detailed Tasks</a:t>
                      </a:r>
                    </a:p>
                  </a:txBody>
                  <a:tcPr marL="48331" marR="48331" marT="24165" marB="24165" anchor="ctr"/>
                </a:tc>
                <a:tc>
                  <a:txBody>
                    <a:bodyPr/>
                    <a:lstStyle/>
                    <a:p>
                      <a:pPr>
                        <a:buNone/>
                      </a:pPr>
                      <a:r>
                        <a:rPr lang="en-US" sz="1000" b="1" dirty="0"/>
                        <a:t>Deliverables</a:t>
                      </a:r>
                    </a:p>
                  </a:txBody>
                  <a:tcPr marL="48331" marR="48331" marT="24165" marB="24165" anchor="ctr"/>
                </a:tc>
                <a:extLst>
                  <a:ext uri="{0D108BD9-81ED-4DB2-BD59-A6C34878D82A}">
                    <a16:rowId xmlns:a16="http://schemas.microsoft.com/office/drawing/2014/main" val="23045039"/>
                  </a:ext>
                </a:extLst>
              </a:tr>
              <a:tr h="601547">
                <a:tc>
                  <a:txBody>
                    <a:bodyPr/>
                    <a:lstStyle/>
                    <a:p>
                      <a:pPr>
                        <a:buNone/>
                      </a:pPr>
                      <a:r>
                        <a:rPr lang="en-US" sz="1000"/>
                        <a:t>Week 1</a:t>
                      </a:r>
                    </a:p>
                  </a:txBody>
                  <a:tcPr marL="48331" marR="48331" marT="24165" marB="24165" anchor="ctr"/>
                </a:tc>
                <a:tc>
                  <a:txBody>
                    <a:bodyPr/>
                    <a:lstStyle/>
                    <a:p>
                      <a:pPr>
                        <a:buNone/>
                      </a:pPr>
                      <a:r>
                        <a:rPr lang="en-US" sz="1000"/>
                        <a:t>Literature Review</a:t>
                      </a:r>
                    </a:p>
                  </a:txBody>
                  <a:tcPr marL="48331" marR="48331" marT="24165" marB="24165" anchor="ctr"/>
                </a:tc>
                <a:tc>
                  <a:txBody>
                    <a:bodyPr/>
                    <a:lstStyle/>
                    <a:p>
                      <a:pPr>
                        <a:buNone/>
                      </a:pPr>
                      <a:r>
                        <a:rPr lang="en-US" sz="1000"/>
                        <a:t>Study 3GPP Rel-18/19 AI-RAN, O-RAN, AI-Native Air Interface, Digital Twin</a:t>
                      </a:r>
                    </a:p>
                  </a:txBody>
                  <a:tcPr marL="48331" marR="48331" marT="24165" marB="24165" anchor="ctr"/>
                </a:tc>
                <a:tc>
                  <a:txBody>
                    <a:bodyPr/>
                    <a:lstStyle/>
                    <a:p>
                      <a:pPr>
                        <a:buNone/>
                      </a:pPr>
                      <a:r>
                        <a:rPr lang="en-US" sz="1000" dirty="0"/>
                        <a:t>Literature Survey Report</a:t>
                      </a:r>
                    </a:p>
                  </a:txBody>
                  <a:tcPr marL="48331" marR="48331" marT="24165" marB="24165" anchor="ctr"/>
                </a:tc>
                <a:extLst>
                  <a:ext uri="{0D108BD9-81ED-4DB2-BD59-A6C34878D82A}">
                    <a16:rowId xmlns:a16="http://schemas.microsoft.com/office/drawing/2014/main" val="1665966492"/>
                  </a:ext>
                </a:extLst>
              </a:tr>
              <a:tr h="466199">
                <a:tc>
                  <a:txBody>
                    <a:bodyPr/>
                    <a:lstStyle/>
                    <a:p>
                      <a:pPr>
                        <a:buNone/>
                      </a:pPr>
                      <a:r>
                        <a:rPr lang="en-US" sz="1000"/>
                        <a:t>Week 1</a:t>
                      </a:r>
                    </a:p>
                  </a:txBody>
                  <a:tcPr marL="48331" marR="48331" marT="24165" marB="24165" anchor="ctr"/>
                </a:tc>
                <a:tc>
                  <a:txBody>
                    <a:bodyPr/>
                    <a:lstStyle/>
                    <a:p>
                      <a:pPr>
                        <a:buNone/>
                      </a:pPr>
                      <a:r>
                        <a:rPr lang="en-US" sz="1000"/>
                        <a:t>Requirement Analysis</a:t>
                      </a:r>
                    </a:p>
                  </a:txBody>
                  <a:tcPr marL="48331" marR="48331" marT="24165" marB="24165" anchor="ctr"/>
                </a:tc>
                <a:tc>
                  <a:txBody>
                    <a:bodyPr/>
                    <a:lstStyle/>
                    <a:p>
                      <a:pPr>
                        <a:buNone/>
                      </a:pPr>
                      <a:r>
                        <a:rPr lang="en-US" sz="1000"/>
                        <a:t>Define KPIs, Use Cases, Constraints</a:t>
                      </a:r>
                    </a:p>
                  </a:txBody>
                  <a:tcPr marL="48331" marR="48331" marT="24165" marB="24165" anchor="ctr"/>
                </a:tc>
                <a:tc>
                  <a:txBody>
                    <a:bodyPr/>
                    <a:lstStyle/>
                    <a:p>
                      <a:pPr>
                        <a:buNone/>
                      </a:pPr>
                      <a:r>
                        <a:rPr lang="en-US" sz="1000"/>
                        <a:t>Requirement Specification Document</a:t>
                      </a:r>
                    </a:p>
                  </a:txBody>
                  <a:tcPr marL="48331" marR="48331" marT="24165" marB="24165" anchor="ctr"/>
                </a:tc>
                <a:extLst>
                  <a:ext uri="{0D108BD9-81ED-4DB2-BD59-A6C34878D82A}">
                    <a16:rowId xmlns:a16="http://schemas.microsoft.com/office/drawing/2014/main" val="3565001152"/>
                  </a:ext>
                </a:extLst>
              </a:tr>
              <a:tr h="601547">
                <a:tc>
                  <a:txBody>
                    <a:bodyPr/>
                    <a:lstStyle/>
                    <a:p>
                      <a:pPr>
                        <a:buNone/>
                      </a:pPr>
                      <a:r>
                        <a:rPr lang="en-US" sz="1000"/>
                        <a:t>Week 2</a:t>
                      </a:r>
                    </a:p>
                  </a:txBody>
                  <a:tcPr marL="48331" marR="48331" marT="24165" marB="24165" anchor="ctr"/>
                </a:tc>
                <a:tc>
                  <a:txBody>
                    <a:bodyPr/>
                    <a:lstStyle/>
                    <a:p>
                      <a:pPr>
                        <a:buNone/>
                      </a:pPr>
                      <a:r>
                        <a:rPr lang="en-US" sz="1000" dirty="0"/>
                        <a:t>Architecture Design</a:t>
                      </a:r>
                    </a:p>
                  </a:txBody>
                  <a:tcPr marL="48331" marR="48331" marT="24165" marB="24165" anchor="ctr"/>
                </a:tc>
                <a:tc>
                  <a:txBody>
                    <a:bodyPr/>
                    <a:lstStyle/>
                    <a:p>
                      <a:pPr>
                        <a:buNone/>
                      </a:pPr>
                      <a:r>
                        <a:rPr lang="en-US" sz="1000"/>
                        <a:t>Design AI-Native Air Interface, Multi-Agent Architecture, Security Architecture</a:t>
                      </a:r>
                    </a:p>
                  </a:txBody>
                  <a:tcPr marL="48331" marR="48331" marT="24165" marB="24165" anchor="ctr"/>
                </a:tc>
                <a:tc>
                  <a:txBody>
                    <a:bodyPr/>
                    <a:lstStyle/>
                    <a:p>
                      <a:pPr>
                        <a:buNone/>
                      </a:pPr>
                      <a:r>
                        <a:rPr lang="en-US" sz="1000" dirty="0"/>
                        <a:t>High-Level Architecture</a:t>
                      </a:r>
                    </a:p>
                  </a:txBody>
                  <a:tcPr marL="48331" marR="48331" marT="24165" marB="24165" anchor="ctr"/>
                </a:tc>
                <a:extLst>
                  <a:ext uri="{0D108BD9-81ED-4DB2-BD59-A6C34878D82A}">
                    <a16:rowId xmlns:a16="http://schemas.microsoft.com/office/drawing/2014/main" val="3810978098"/>
                  </a:ext>
                </a:extLst>
              </a:tr>
              <a:tr h="601547">
                <a:tc>
                  <a:txBody>
                    <a:bodyPr/>
                    <a:lstStyle/>
                    <a:p>
                      <a:pPr>
                        <a:buNone/>
                      </a:pPr>
                      <a:r>
                        <a:rPr lang="en-US" sz="1000"/>
                        <a:t>Week 2</a:t>
                      </a:r>
                    </a:p>
                  </a:txBody>
                  <a:tcPr marL="48331" marR="48331" marT="24165" marB="24165" anchor="ctr"/>
                </a:tc>
                <a:tc>
                  <a:txBody>
                    <a:bodyPr/>
                    <a:lstStyle/>
                    <a:p>
                      <a:pPr>
                        <a:buNone/>
                      </a:pPr>
                      <a:r>
                        <a:rPr lang="en-US" sz="1000"/>
                        <a:t>Agent Identification</a:t>
                      </a:r>
                    </a:p>
                  </a:txBody>
                  <a:tcPr marL="48331" marR="48331" marT="24165" marB="24165" anchor="ctr"/>
                </a:tc>
                <a:tc>
                  <a:txBody>
                    <a:bodyPr/>
                    <a:lstStyle/>
                    <a:p>
                      <a:pPr>
                        <a:buNone/>
                      </a:pPr>
                      <a:r>
                        <a:rPr lang="en-US" sz="1000"/>
                        <a:t>Define Scheduler, Resource, Mobility, Security, Energy, QoE, Slice Agents</a:t>
                      </a:r>
                    </a:p>
                  </a:txBody>
                  <a:tcPr marL="48331" marR="48331" marT="24165" marB="24165" anchor="ctr"/>
                </a:tc>
                <a:tc>
                  <a:txBody>
                    <a:bodyPr/>
                    <a:lstStyle/>
                    <a:p>
                      <a:pPr>
                        <a:buNone/>
                      </a:pPr>
                      <a:r>
                        <a:rPr lang="en-US" sz="1000"/>
                        <a:t>Agent Design Document</a:t>
                      </a:r>
                    </a:p>
                  </a:txBody>
                  <a:tcPr marL="48331" marR="48331" marT="24165" marB="24165" anchor="ctr"/>
                </a:tc>
                <a:extLst>
                  <a:ext uri="{0D108BD9-81ED-4DB2-BD59-A6C34878D82A}">
                    <a16:rowId xmlns:a16="http://schemas.microsoft.com/office/drawing/2014/main" val="850886296"/>
                  </a:ext>
                </a:extLst>
              </a:tr>
              <a:tr h="466199">
                <a:tc>
                  <a:txBody>
                    <a:bodyPr/>
                    <a:lstStyle/>
                    <a:p>
                      <a:pPr>
                        <a:buNone/>
                      </a:pPr>
                      <a:r>
                        <a:rPr lang="en-US" sz="1000"/>
                        <a:t>Week 3</a:t>
                      </a:r>
                    </a:p>
                  </a:txBody>
                  <a:tcPr marL="48331" marR="48331" marT="24165" marB="24165" anchor="ctr"/>
                </a:tc>
                <a:tc>
                  <a:txBody>
                    <a:bodyPr/>
                    <a:lstStyle/>
                    <a:p>
                      <a:pPr>
                        <a:buNone/>
                      </a:pPr>
                      <a:r>
                        <a:rPr lang="en-US" sz="1000"/>
                        <a:t>Dataset Planning</a:t>
                      </a:r>
                    </a:p>
                  </a:txBody>
                  <a:tcPr marL="48331" marR="48331" marT="24165" marB="24165" anchor="ctr"/>
                </a:tc>
                <a:tc>
                  <a:txBody>
                    <a:bodyPr/>
                    <a:lstStyle/>
                    <a:p>
                      <a:pPr>
                        <a:buNone/>
                      </a:pPr>
                      <a:r>
                        <a:rPr lang="en-US" sz="1000"/>
                        <a:t>Identify required RAN, Mobility, Security, Energy datasets</a:t>
                      </a:r>
                    </a:p>
                  </a:txBody>
                  <a:tcPr marL="48331" marR="48331" marT="24165" marB="24165" anchor="ctr"/>
                </a:tc>
                <a:tc>
                  <a:txBody>
                    <a:bodyPr/>
                    <a:lstStyle/>
                    <a:p>
                      <a:pPr>
                        <a:buNone/>
                      </a:pPr>
                      <a:r>
                        <a:rPr lang="en-US" sz="1000"/>
                        <a:t>Dataset Requirement Document</a:t>
                      </a:r>
                    </a:p>
                  </a:txBody>
                  <a:tcPr marL="48331" marR="48331" marT="24165" marB="24165" anchor="ctr"/>
                </a:tc>
                <a:extLst>
                  <a:ext uri="{0D108BD9-81ED-4DB2-BD59-A6C34878D82A}">
                    <a16:rowId xmlns:a16="http://schemas.microsoft.com/office/drawing/2014/main" val="1218529293"/>
                  </a:ext>
                </a:extLst>
              </a:tr>
              <a:tr h="330851">
                <a:tc>
                  <a:txBody>
                    <a:bodyPr/>
                    <a:lstStyle/>
                    <a:p>
                      <a:pPr>
                        <a:buNone/>
                      </a:pPr>
                      <a:r>
                        <a:rPr lang="en-US" sz="1000"/>
                        <a:t>Week 3</a:t>
                      </a:r>
                    </a:p>
                  </a:txBody>
                  <a:tcPr marL="48331" marR="48331" marT="24165" marB="24165" anchor="ctr"/>
                </a:tc>
                <a:tc>
                  <a:txBody>
                    <a:bodyPr/>
                    <a:lstStyle/>
                    <a:p>
                      <a:pPr>
                        <a:buNone/>
                      </a:pPr>
                      <a:r>
                        <a:rPr lang="en-US" sz="1000"/>
                        <a:t>Data Collection</a:t>
                      </a:r>
                    </a:p>
                  </a:txBody>
                  <a:tcPr marL="48331" marR="48331" marT="24165" marB="24165" anchor="ctr"/>
                </a:tc>
                <a:tc>
                  <a:txBody>
                    <a:bodyPr/>
                    <a:lstStyle/>
                    <a:p>
                      <a:pPr>
                        <a:buNone/>
                      </a:pPr>
                      <a:r>
                        <a:rPr lang="en-US" sz="1000"/>
                        <a:t>Collect telecom KPI data and logs</a:t>
                      </a:r>
                    </a:p>
                  </a:txBody>
                  <a:tcPr marL="48331" marR="48331" marT="24165" marB="24165" anchor="ctr"/>
                </a:tc>
                <a:tc>
                  <a:txBody>
                    <a:bodyPr/>
                    <a:lstStyle/>
                    <a:p>
                      <a:pPr>
                        <a:buNone/>
                      </a:pPr>
                      <a:r>
                        <a:rPr lang="en-US" sz="1000"/>
                        <a:t>Raw Dataset Repository</a:t>
                      </a:r>
                    </a:p>
                  </a:txBody>
                  <a:tcPr marL="48331" marR="48331" marT="24165" marB="24165" anchor="ctr"/>
                </a:tc>
                <a:extLst>
                  <a:ext uri="{0D108BD9-81ED-4DB2-BD59-A6C34878D82A}">
                    <a16:rowId xmlns:a16="http://schemas.microsoft.com/office/drawing/2014/main" val="2247124047"/>
                  </a:ext>
                </a:extLst>
              </a:tr>
              <a:tr h="466199">
                <a:tc>
                  <a:txBody>
                    <a:bodyPr/>
                    <a:lstStyle/>
                    <a:p>
                      <a:pPr>
                        <a:buNone/>
                      </a:pPr>
                      <a:r>
                        <a:rPr lang="en-US" sz="1000"/>
                        <a:t>Week 4</a:t>
                      </a:r>
                    </a:p>
                  </a:txBody>
                  <a:tcPr marL="48331" marR="48331" marT="24165" marB="24165" anchor="ctr"/>
                </a:tc>
                <a:tc>
                  <a:txBody>
                    <a:bodyPr/>
                    <a:lstStyle/>
                    <a:p>
                      <a:pPr>
                        <a:buNone/>
                      </a:pPr>
                      <a:r>
                        <a:rPr lang="en-US" sz="1000"/>
                        <a:t>Technology Stack Finalization</a:t>
                      </a:r>
                    </a:p>
                  </a:txBody>
                  <a:tcPr marL="48331" marR="48331" marT="24165" marB="24165" anchor="ctr"/>
                </a:tc>
                <a:tc>
                  <a:txBody>
                    <a:bodyPr/>
                    <a:lstStyle/>
                    <a:p>
                      <a:pPr>
                        <a:buNone/>
                      </a:pPr>
                      <a:r>
                        <a:rPr lang="en-US" sz="1000"/>
                        <a:t>Select AI, O-RAN, MLOps, Digital Twin Tools</a:t>
                      </a:r>
                    </a:p>
                  </a:txBody>
                  <a:tcPr marL="48331" marR="48331" marT="24165" marB="24165" anchor="ctr"/>
                </a:tc>
                <a:tc>
                  <a:txBody>
                    <a:bodyPr/>
                    <a:lstStyle/>
                    <a:p>
                      <a:pPr>
                        <a:buNone/>
                      </a:pPr>
                      <a:r>
                        <a:rPr lang="en-US" sz="1000"/>
                        <a:t>Technology Stack Document</a:t>
                      </a:r>
                    </a:p>
                  </a:txBody>
                  <a:tcPr marL="48331" marR="48331" marT="24165" marB="24165" anchor="ctr"/>
                </a:tc>
                <a:extLst>
                  <a:ext uri="{0D108BD9-81ED-4DB2-BD59-A6C34878D82A}">
                    <a16:rowId xmlns:a16="http://schemas.microsoft.com/office/drawing/2014/main" val="637564241"/>
                  </a:ext>
                </a:extLst>
              </a:tr>
              <a:tr h="330851">
                <a:tc>
                  <a:txBody>
                    <a:bodyPr/>
                    <a:lstStyle/>
                    <a:p>
                      <a:pPr>
                        <a:buNone/>
                      </a:pPr>
                      <a:r>
                        <a:rPr lang="en-US" sz="1000"/>
                        <a:t>Week 4</a:t>
                      </a:r>
                    </a:p>
                  </a:txBody>
                  <a:tcPr marL="48331" marR="48331" marT="24165" marB="24165" anchor="ctr"/>
                </a:tc>
                <a:tc>
                  <a:txBody>
                    <a:bodyPr/>
                    <a:lstStyle/>
                    <a:p>
                      <a:pPr>
                        <a:buNone/>
                      </a:pPr>
                      <a:r>
                        <a:rPr lang="en-US" sz="1000"/>
                        <a:t>Project Review</a:t>
                      </a:r>
                    </a:p>
                  </a:txBody>
                  <a:tcPr marL="48331" marR="48331" marT="24165" marB="24165" anchor="ctr"/>
                </a:tc>
                <a:tc>
                  <a:txBody>
                    <a:bodyPr/>
                    <a:lstStyle/>
                    <a:p>
                      <a:pPr>
                        <a:buNone/>
                      </a:pPr>
                      <a:r>
                        <a:rPr lang="en-US" sz="1000"/>
                        <a:t>Architecture Review and Design Freeze</a:t>
                      </a:r>
                    </a:p>
                  </a:txBody>
                  <a:tcPr marL="48331" marR="48331" marT="24165" marB="24165" anchor="ctr"/>
                </a:tc>
                <a:tc>
                  <a:txBody>
                    <a:bodyPr/>
                    <a:lstStyle/>
                    <a:p>
                      <a:pPr>
                        <a:buNone/>
                      </a:pPr>
                      <a:r>
                        <a:rPr lang="en-US" sz="1000" dirty="0"/>
                        <a:t>Month-1 Review Report</a:t>
                      </a:r>
                    </a:p>
                  </a:txBody>
                  <a:tcPr marL="48331" marR="48331" marT="24165" marB="24165" anchor="ctr"/>
                </a:tc>
                <a:extLst>
                  <a:ext uri="{0D108BD9-81ED-4DB2-BD59-A6C34878D82A}">
                    <a16:rowId xmlns:a16="http://schemas.microsoft.com/office/drawing/2014/main" val="3882886117"/>
                  </a:ext>
                </a:extLst>
              </a:tr>
            </a:tbl>
          </a:graphicData>
        </a:graphic>
      </p:graphicFrame>
    </p:spTree>
    <p:extLst>
      <p:ext uri="{BB962C8B-B14F-4D97-AF65-F5344CB8AC3E}">
        <p14:creationId xmlns:p14="http://schemas.microsoft.com/office/powerpoint/2010/main" val="929771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CC82E-8746-B880-C47E-7BBAB7067FB1}"/>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A064A2BF-6EFA-183A-70E3-0A5A0154643A}"/>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7E506827-0273-03C9-0FEC-579042EDC3F3}"/>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Month 1 Deliverables</a:t>
            </a:r>
            <a:br>
              <a:rPr lang="en-US" dirty="0"/>
            </a:br>
            <a:endParaRPr lang="en-US" dirty="0"/>
          </a:p>
        </p:txBody>
      </p:sp>
      <p:graphicFrame>
        <p:nvGraphicFramePr>
          <p:cNvPr id="3" name="Table 2">
            <a:extLst>
              <a:ext uri="{FF2B5EF4-FFF2-40B4-BE49-F238E27FC236}">
                <a16:creationId xmlns:a16="http://schemas.microsoft.com/office/drawing/2014/main" id="{ECD5889B-B206-59B3-9D32-C614F3922EE5}"/>
              </a:ext>
            </a:extLst>
          </p:cNvPr>
          <p:cNvGraphicFramePr>
            <a:graphicFrameLocks noGrp="1"/>
          </p:cNvGraphicFramePr>
          <p:nvPr>
            <p:extLst>
              <p:ext uri="{D42A27DB-BD31-4B8C-83A1-F6EECF244321}">
                <p14:modId xmlns:p14="http://schemas.microsoft.com/office/powerpoint/2010/main" val="206002100"/>
              </p:ext>
            </p:extLst>
          </p:nvPr>
        </p:nvGraphicFramePr>
        <p:xfrm>
          <a:off x="417531" y="960098"/>
          <a:ext cx="7886700" cy="1485900"/>
        </p:xfrm>
        <a:graphic>
          <a:graphicData uri="http://schemas.openxmlformats.org/drawingml/2006/table">
            <a:tbl>
              <a:tblPr>
                <a:tableStyleId>{0505E3EF-67EA-436B-97B2-0124C06EBD24}</a:tableStyleId>
              </a:tblPr>
              <a:tblGrid>
                <a:gridCol w="3943350">
                  <a:extLst>
                    <a:ext uri="{9D8B030D-6E8A-4147-A177-3AD203B41FA5}">
                      <a16:colId xmlns:a16="http://schemas.microsoft.com/office/drawing/2014/main" val="2294809174"/>
                    </a:ext>
                  </a:extLst>
                </a:gridCol>
                <a:gridCol w="3943350">
                  <a:extLst>
                    <a:ext uri="{9D8B030D-6E8A-4147-A177-3AD203B41FA5}">
                      <a16:colId xmlns:a16="http://schemas.microsoft.com/office/drawing/2014/main" val="2718851572"/>
                    </a:ext>
                  </a:extLst>
                </a:gridCol>
              </a:tblGrid>
              <a:tr h="0">
                <a:tc>
                  <a:txBody>
                    <a:bodyPr/>
                    <a:lstStyle/>
                    <a:p>
                      <a:pPr>
                        <a:buNone/>
                      </a:pPr>
                      <a:r>
                        <a:rPr lang="en-US" b="1"/>
                        <a:t>Deliverable</a:t>
                      </a:r>
                    </a:p>
                  </a:txBody>
                  <a:tcPr anchor="ctr"/>
                </a:tc>
                <a:tc>
                  <a:txBody>
                    <a:bodyPr/>
                    <a:lstStyle/>
                    <a:p>
                      <a:pPr>
                        <a:buNone/>
                      </a:pPr>
                      <a:r>
                        <a:rPr lang="en-US" b="1" dirty="0"/>
                        <a:t>Description</a:t>
                      </a:r>
                    </a:p>
                  </a:txBody>
                  <a:tcPr anchor="ctr"/>
                </a:tc>
                <a:extLst>
                  <a:ext uri="{0D108BD9-81ED-4DB2-BD59-A6C34878D82A}">
                    <a16:rowId xmlns:a16="http://schemas.microsoft.com/office/drawing/2014/main" val="2856361751"/>
                  </a:ext>
                </a:extLst>
              </a:tr>
              <a:tr h="0">
                <a:tc>
                  <a:txBody>
                    <a:bodyPr/>
                    <a:lstStyle/>
                    <a:p>
                      <a:pPr>
                        <a:buNone/>
                      </a:pPr>
                      <a:r>
                        <a:rPr lang="en-US"/>
                        <a:t>Literature Review</a:t>
                      </a:r>
                    </a:p>
                  </a:txBody>
                  <a:tcPr anchor="ctr"/>
                </a:tc>
                <a:tc>
                  <a:txBody>
                    <a:bodyPr/>
                    <a:lstStyle/>
                    <a:p>
                      <a:pPr>
                        <a:buNone/>
                      </a:pPr>
                      <a:r>
                        <a:rPr lang="en-US"/>
                        <a:t>AI-RAN, O-RAN, 6G Research Survey</a:t>
                      </a:r>
                    </a:p>
                  </a:txBody>
                  <a:tcPr anchor="ctr"/>
                </a:tc>
                <a:extLst>
                  <a:ext uri="{0D108BD9-81ED-4DB2-BD59-A6C34878D82A}">
                    <a16:rowId xmlns:a16="http://schemas.microsoft.com/office/drawing/2014/main" val="2111713882"/>
                  </a:ext>
                </a:extLst>
              </a:tr>
              <a:tr h="0">
                <a:tc>
                  <a:txBody>
                    <a:bodyPr/>
                    <a:lstStyle/>
                    <a:p>
                      <a:pPr>
                        <a:buNone/>
                      </a:pPr>
                      <a:r>
                        <a:rPr lang="en-US"/>
                        <a:t>System Architecture</a:t>
                      </a:r>
                    </a:p>
                  </a:txBody>
                  <a:tcPr anchor="ctr"/>
                </a:tc>
                <a:tc>
                  <a:txBody>
                    <a:bodyPr/>
                    <a:lstStyle/>
                    <a:p>
                      <a:pPr>
                        <a:buNone/>
                      </a:pPr>
                      <a:r>
                        <a:rPr lang="en-US"/>
                        <a:t>Complete End-to-End Architecture</a:t>
                      </a:r>
                    </a:p>
                  </a:txBody>
                  <a:tcPr anchor="ctr"/>
                </a:tc>
                <a:extLst>
                  <a:ext uri="{0D108BD9-81ED-4DB2-BD59-A6C34878D82A}">
                    <a16:rowId xmlns:a16="http://schemas.microsoft.com/office/drawing/2014/main" val="789108382"/>
                  </a:ext>
                </a:extLst>
              </a:tr>
              <a:tr h="0">
                <a:tc>
                  <a:txBody>
                    <a:bodyPr/>
                    <a:lstStyle/>
                    <a:p>
                      <a:pPr>
                        <a:buNone/>
                      </a:pPr>
                      <a:r>
                        <a:rPr lang="en-US"/>
                        <a:t>Dataset Design</a:t>
                      </a:r>
                    </a:p>
                  </a:txBody>
                  <a:tcPr anchor="ctr"/>
                </a:tc>
                <a:tc>
                  <a:txBody>
                    <a:bodyPr/>
                    <a:lstStyle/>
                    <a:p>
                      <a:pPr>
                        <a:buNone/>
                      </a:pPr>
                      <a:r>
                        <a:rPr lang="en-US"/>
                        <a:t>Data Sources and Features</a:t>
                      </a:r>
                    </a:p>
                  </a:txBody>
                  <a:tcPr anchor="ctr"/>
                </a:tc>
                <a:extLst>
                  <a:ext uri="{0D108BD9-81ED-4DB2-BD59-A6C34878D82A}">
                    <a16:rowId xmlns:a16="http://schemas.microsoft.com/office/drawing/2014/main" val="794710082"/>
                  </a:ext>
                </a:extLst>
              </a:tr>
              <a:tr h="0">
                <a:tc>
                  <a:txBody>
                    <a:bodyPr/>
                    <a:lstStyle/>
                    <a:p>
                      <a:pPr>
                        <a:buNone/>
                      </a:pPr>
                      <a:r>
                        <a:rPr lang="en-US"/>
                        <a:t>Technology Stack</a:t>
                      </a:r>
                    </a:p>
                  </a:txBody>
                  <a:tcPr anchor="ctr"/>
                </a:tc>
                <a:tc>
                  <a:txBody>
                    <a:bodyPr/>
                    <a:lstStyle/>
                    <a:p>
                      <a:pPr>
                        <a:buNone/>
                      </a:pPr>
                      <a:r>
                        <a:rPr lang="en-US" dirty="0"/>
                        <a:t>Software and Hardware Selection</a:t>
                      </a:r>
                    </a:p>
                  </a:txBody>
                  <a:tcPr anchor="ctr"/>
                </a:tc>
                <a:extLst>
                  <a:ext uri="{0D108BD9-81ED-4DB2-BD59-A6C34878D82A}">
                    <a16:rowId xmlns:a16="http://schemas.microsoft.com/office/drawing/2014/main" val="89993977"/>
                  </a:ext>
                </a:extLst>
              </a:tr>
            </a:tbl>
          </a:graphicData>
        </a:graphic>
      </p:graphicFrame>
    </p:spTree>
    <p:extLst>
      <p:ext uri="{BB962C8B-B14F-4D97-AF65-F5344CB8AC3E}">
        <p14:creationId xmlns:p14="http://schemas.microsoft.com/office/powerpoint/2010/main" val="1477840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66E8B-CB61-FCCA-41E5-E5243A5254C7}"/>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3B29814B-BD59-D543-0A91-E84A50C538DD}"/>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9A657B07-A1B8-3BAE-EBB9-AA1706820E53}"/>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Month 2: AI Agent Development</a:t>
            </a:r>
            <a:br>
              <a:rPr lang="en-US" dirty="0"/>
            </a:br>
            <a:endParaRPr lang="en-US" dirty="0"/>
          </a:p>
        </p:txBody>
      </p:sp>
      <p:graphicFrame>
        <p:nvGraphicFramePr>
          <p:cNvPr id="2" name="Table 1">
            <a:extLst>
              <a:ext uri="{FF2B5EF4-FFF2-40B4-BE49-F238E27FC236}">
                <a16:creationId xmlns:a16="http://schemas.microsoft.com/office/drawing/2014/main" id="{F7A1C616-0A3E-D081-36D5-F35C10A4119D}"/>
              </a:ext>
            </a:extLst>
          </p:cNvPr>
          <p:cNvGraphicFramePr>
            <a:graphicFrameLocks noGrp="1"/>
          </p:cNvGraphicFramePr>
          <p:nvPr>
            <p:extLst>
              <p:ext uri="{D42A27DB-BD31-4B8C-83A1-F6EECF244321}">
                <p14:modId xmlns:p14="http://schemas.microsoft.com/office/powerpoint/2010/main" val="924648860"/>
              </p:ext>
            </p:extLst>
          </p:nvPr>
        </p:nvGraphicFramePr>
        <p:xfrm>
          <a:off x="417531" y="563337"/>
          <a:ext cx="8308800" cy="4068989"/>
        </p:xfrm>
        <a:graphic>
          <a:graphicData uri="http://schemas.openxmlformats.org/drawingml/2006/table">
            <a:tbl>
              <a:tblPr>
                <a:tableStyleId>{C4B1156A-380E-4F78-BDF5-A606A8083BF9}</a:tableStyleId>
              </a:tblPr>
              <a:tblGrid>
                <a:gridCol w="815276">
                  <a:extLst>
                    <a:ext uri="{9D8B030D-6E8A-4147-A177-3AD203B41FA5}">
                      <a16:colId xmlns:a16="http://schemas.microsoft.com/office/drawing/2014/main" val="1039921032"/>
                    </a:ext>
                  </a:extLst>
                </a:gridCol>
                <a:gridCol w="1910443">
                  <a:extLst>
                    <a:ext uri="{9D8B030D-6E8A-4147-A177-3AD203B41FA5}">
                      <a16:colId xmlns:a16="http://schemas.microsoft.com/office/drawing/2014/main" val="114389074"/>
                    </a:ext>
                  </a:extLst>
                </a:gridCol>
                <a:gridCol w="3505881">
                  <a:extLst>
                    <a:ext uri="{9D8B030D-6E8A-4147-A177-3AD203B41FA5}">
                      <a16:colId xmlns:a16="http://schemas.microsoft.com/office/drawing/2014/main" val="279814103"/>
                    </a:ext>
                  </a:extLst>
                </a:gridCol>
                <a:gridCol w="2077200">
                  <a:extLst>
                    <a:ext uri="{9D8B030D-6E8A-4147-A177-3AD203B41FA5}">
                      <a16:colId xmlns:a16="http://schemas.microsoft.com/office/drawing/2014/main" val="1116922617"/>
                    </a:ext>
                  </a:extLst>
                </a:gridCol>
              </a:tblGrid>
              <a:tr h="226055">
                <a:tc>
                  <a:txBody>
                    <a:bodyPr/>
                    <a:lstStyle/>
                    <a:p>
                      <a:pPr>
                        <a:buNone/>
                      </a:pPr>
                      <a:r>
                        <a:rPr lang="en-US" sz="1000" b="1" dirty="0"/>
                        <a:t>Week</a:t>
                      </a:r>
                    </a:p>
                  </a:txBody>
                  <a:tcPr marL="55766" marR="55766" marT="27883" marB="27883" anchor="ctr"/>
                </a:tc>
                <a:tc>
                  <a:txBody>
                    <a:bodyPr/>
                    <a:lstStyle/>
                    <a:p>
                      <a:pPr>
                        <a:buNone/>
                      </a:pPr>
                      <a:r>
                        <a:rPr lang="en-US" sz="1000" b="1"/>
                        <a:t>Activity</a:t>
                      </a:r>
                    </a:p>
                  </a:txBody>
                  <a:tcPr marL="55766" marR="55766" marT="27883" marB="27883" anchor="ctr"/>
                </a:tc>
                <a:tc>
                  <a:txBody>
                    <a:bodyPr/>
                    <a:lstStyle/>
                    <a:p>
                      <a:pPr>
                        <a:buNone/>
                      </a:pPr>
                      <a:r>
                        <a:rPr lang="en-US" sz="1000" b="1"/>
                        <a:t>Detailed Tasks</a:t>
                      </a:r>
                    </a:p>
                  </a:txBody>
                  <a:tcPr marL="55766" marR="55766" marT="27883" marB="27883" anchor="ctr"/>
                </a:tc>
                <a:tc>
                  <a:txBody>
                    <a:bodyPr/>
                    <a:lstStyle/>
                    <a:p>
                      <a:pPr>
                        <a:buNone/>
                      </a:pPr>
                      <a:r>
                        <a:rPr lang="en-US" sz="1000" b="1" dirty="0"/>
                        <a:t>Deliverables</a:t>
                      </a:r>
                    </a:p>
                  </a:txBody>
                  <a:tcPr marL="55766" marR="55766" marT="27883" marB="27883" anchor="ctr"/>
                </a:tc>
                <a:extLst>
                  <a:ext uri="{0D108BD9-81ED-4DB2-BD59-A6C34878D82A}">
                    <a16:rowId xmlns:a16="http://schemas.microsoft.com/office/drawing/2014/main" val="1801674766"/>
                  </a:ext>
                </a:extLst>
              </a:tr>
              <a:tr h="382554">
                <a:tc>
                  <a:txBody>
                    <a:bodyPr/>
                    <a:lstStyle/>
                    <a:p>
                      <a:pPr>
                        <a:buNone/>
                      </a:pPr>
                      <a:r>
                        <a:rPr lang="en-US" sz="1000"/>
                        <a:t>Week 1</a:t>
                      </a:r>
                    </a:p>
                  </a:txBody>
                  <a:tcPr marL="55766" marR="55766" marT="27883" marB="27883" anchor="ctr"/>
                </a:tc>
                <a:tc>
                  <a:txBody>
                    <a:bodyPr/>
                    <a:lstStyle/>
                    <a:p>
                      <a:pPr>
                        <a:buNone/>
                      </a:pPr>
                      <a:r>
                        <a:rPr lang="en-US" sz="1000"/>
                        <a:t>Scheduler Agent Development</a:t>
                      </a:r>
                    </a:p>
                  </a:txBody>
                  <a:tcPr marL="55766" marR="55766" marT="27883" marB="27883" anchor="ctr"/>
                </a:tc>
                <a:tc>
                  <a:txBody>
                    <a:bodyPr/>
                    <a:lstStyle/>
                    <a:p>
                      <a:pPr>
                        <a:buNone/>
                      </a:pPr>
                      <a:r>
                        <a:rPr lang="en-US" sz="1000"/>
                        <a:t>Develop PPO/DQN-based scheduler</a:t>
                      </a:r>
                    </a:p>
                  </a:txBody>
                  <a:tcPr marL="55766" marR="55766" marT="27883" marB="27883" anchor="ctr"/>
                </a:tc>
                <a:tc>
                  <a:txBody>
                    <a:bodyPr/>
                    <a:lstStyle/>
                    <a:p>
                      <a:pPr>
                        <a:buNone/>
                      </a:pPr>
                      <a:r>
                        <a:rPr lang="en-US" sz="1000"/>
                        <a:t>Scheduler Agent V1</a:t>
                      </a:r>
                    </a:p>
                  </a:txBody>
                  <a:tcPr marL="55766" marR="55766" marT="27883" marB="27883" anchor="ctr"/>
                </a:tc>
                <a:extLst>
                  <a:ext uri="{0D108BD9-81ED-4DB2-BD59-A6C34878D82A}">
                    <a16:rowId xmlns:a16="http://schemas.microsoft.com/office/drawing/2014/main" val="4002807235"/>
                  </a:ext>
                </a:extLst>
              </a:tr>
              <a:tr h="382554">
                <a:tc>
                  <a:txBody>
                    <a:bodyPr/>
                    <a:lstStyle/>
                    <a:p>
                      <a:pPr>
                        <a:buNone/>
                      </a:pPr>
                      <a:r>
                        <a:rPr lang="en-US" sz="1000"/>
                        <a:t>Week 1</a:t>
                      </a:r>
                    </a:p>
                  </a:txBody>
                  <a:tcPr marL="55766" marR="55766" marT="27883" marB="27883" anchor="ctr"/>
                </a:tc>
                <a:tc>
                  <a:txBody>
                    <a:bodyPr/>
                    <a:lstStyle/>
                    <a:p>
                      <a:pPr>
                        <a:buNone/>
                      </a:pPr>
                      <a:r>
                        <a:rPr lang="en-US" sz="1000"/>
                        <a:t>Resource Agent Development</a:t>
                      </a:r>
                    </a:p>
                  </a:txBody>
                  <a:tcPr marL="55766" marR="55766" marT="27883" marB="27883" anchor="ctr"/>
                </a:tc>
                <a:tc>
                  <a:txBody>
                    <a:bodyPr/>
                    <a:lstStyle/>
                    <a:p>
                      <a:pPr>
                        <a:buNone/>
                      </a:pPr>
                      <a:r>
                        <a:rPr lang="en-US" sz="1000"/>
                        <a:t>Develop spectrum and power allocation agent</a:t>
                      </a:r>
                    </a:p>
                  </a:txBody>
                  <a:tcPr marL="55766" marR="55766" marT="27883" marB="27883" anchor="ctr"/>
                </a:tc>
                <a:tc>
                  <a:txBody>
                    <a:bodyPr/>
                    <a:lstStyle/>
                    <a:p>
                      <a:pPr>
                        <a:buNone/>
                      </a:pPr>
                      <a:r>
                        <a:rPr lang="en-US" sz="1000"/>
                        <a:t>Resource Agent V1</a:t>
                      </a:r>
                    </a:p>
                  </a:txBody>
                  <a:tcPr marL="55766" marR="55766" marT="27883" marB="27883" anchor="ctr"/>
                </a:tc>
                <a:extLst>
                  <a:ext uri="{0D108BD9-81ED-4DB2-BD59-A6C34878D82A}">
                    <a16:rowId xmlns:a16="http://schemas.microsoft.com/office/drawing/2014/main" val="897116151"/>
                  </a:ext>
                </a:extLst>
              </a:tr>
              <a:tr h="539055">
                <a:tc>
                  <a:txBody>
                    <a:bodyPr/>
                    <a:lstStyle/>
                    <a:p>
                      <a:pPr>
                        <a:buNone/>
                      </a:pPr>
                      <a:r>
                        <a:rPr lang="en-US" sz="1000"/>
                        <a:t>Week 2</a:t>
                      </a:r>
                    </a:p>
                  </a:txBody>
                  <a:tcPr marL="55766" marR="55766" marT="27883" marB="27883" anchor="ctr"/>
                </a:tc>
                <a:tc>
                  <a:txBody>
                    <a:bodyPr/>
                    <a:lstStyle/>
                    <a:p>
                      <a:pPr>
                        <a:buNone/>
                      </a:pPr>
                      <a:r>
                        <a:rPr lang="en-US" sz="1000"/>
                        <a:t>Mobility Agent Development</a:t>
                      </a:r>
                    </a:p>
                  </a:txBody>
                  <a:tcPr marL="55766" marR="55766" marT="27883" marB="27883" anchor="ctr"/>
                </a:tc>
                <a:tc>
                  <a:txBody>
                    <a:bodyPr/>
                    <a:lstStyle/>
                    <a:p>
                      <a:pPr>
                        <a:buNone/>
                      </a:pPr>
                      <a:r>
                        <a:rPr lang="en-US" sz="1000"/>
                        <a:t>Implement mobility prediction and handover optimization</a:t>
                      </a:r>
                    </a:p>
                  </a:txBody>
                  <a:tcPr marL="55766" marR="55766" marT="27883" marB="27883" anchor="ctr"/>
                </a:tc>
                <a:tc>
                  <a:txBody>
                    <a:bodyPr/>
                    <a:lstStyle/>
                    <a:p>
                      <a:pPr>
                        <a:buNone/>
                      </a:pPr>
                      <a:r>
                        <a:rPr lang="en-US" sz="1000"/>
                        <a:t>Mobility Agent V1</a:t>
                      </a:r>
                    </a:p>
                  </a:txBody>
                  <a:tcPr marL="55766" marR="55766" marT="27883" marB="27883" anchor="ctr"/>
                </a:tc>
                <a:extLst>
                  <a:ext uri="{0D108BD9-81ED-4DB2-BD59-A6C34878D82A}">
                    <a16:rowId xmlns:a16="http://schemas.microsoft.com/office/drawing/2014/main" val="24269546"/>
                  </a:ext>
                </a:extLst>
              </a:tr>
              <a:tr h="539055">
                <a:tc>
                  <a:txBody>
                    <a:bodyPr/>
                    <a:lstStyle/>
                    <a:p>
                      <a:pPr>
                        <a:buNone/>
                      </a:pPr>
                      <a:r>
                        <a:rPr lang="en-US" sz="1000"/>
                        <a:t>Week 2</a:t>
                      </a:r>
                    </a:p>
                  </a:txBody>
                  <a:tcPr marL="55766" marR="55766" marT="27883" marB="27883" anchor="ctr"/>
                </a:tc>
                <a:tc>
                  <a:txBody>
                    <a:bodyPr/>
                    <a:lstStyle/>
                    <a:p>
                      <a:pPr>
                        <a:buNone/>
                      </a:pPr>
                      <a:r>
                        <a:rPr lang="en-US" sz="1000"/>
                        <a:t>Security Agent Development</a:t>
                      </a:r>
                    </a:p>
                  </a:txBody>
                  <a:tcPr marL="55766" marR="55766" marT="27883" marB="27883" anchor="ctr"/>
                </a:tc>
                <a:tc>
                  <a:txBody>
                    <a:bodyPr/>
                    <a:lstStyle/>
                    <a:p>
                      <a:pPr>
                        <a:buNone/>
                      </a:pPr>
                      <a:r>
                        <a:rPr lang="en-US" sz="1000"/>
                        <a:t>Develop threat detection and prediction modules</a:t>
                      </a:r>
                    </a:p>
                  </a:txBody>
                  <a:tcPr marL="55766" marR="55766" marT="27883" marB="27883" anchor="ctr"/>
                </a:tc>
                <a:tc>
                  <a:txBody>
                    <a:bodyPr/>
                    <a:lstStyle/>
                    <a:p>
                      <a:pPr>
                        <a:buNone/>
                      </a:pPr>
                      <a:r>
                        <a:rPr lang="en-US" sz="1000"/>
                        <a:t>Security Agent V1</a:t>
                      </a:r>
                    </a:p>
                  </a:txBody>
                  <a:tcPr marL="55766" marR="55766" marT="27883" marB="27883" anchor="ctr"/>
                </a:tc>
                <a:extLst>
                  <a:ext uri="{0D108BD9-81ED-4DB2-BD59-A6C34878D82A}">
                    <a16:rowId xmlns:a16="http://schemas.microsoft.com/office/drawing/2014/main" val="4042453873"/>
                  </a:ext>
                </a:extLst>
              </a:tr>
              <a:tr h="539055">
                <a:tc>
                  <a:txBody>
                    <a:bodyPr/>
                    <a:lstStyle/>
                    <a:p>
                      <a:pPr>
                        <a:buNone/>
                      </a:pPr>
                      <a:r>
                        <a:rPr lang="en-US" sz="1000"/>
                        <a:t>Week 3</a:t>
                      </a:r>
                    </a:p>
                  </a:txBody>
                  <a:tcPr marL="55766" marR="55766" marT="27883" marB="27883" anchor="ctr"/>
                </a:tc>
                <a:tc>
                  <a:txBody>
                    <a:bodyPr/>
                    <a:lstStyle/>
                    <a:p>
                      <a:pPr>
                        <a:buNone/>
                      </a:pPr>
                      <a:r>
                        <a:rPr lang="en-US" sz="1000"/>
                        <a:t>Energy Agent Development</a:t>
                      </a:r>
                    </a:p>
                  </a:txBody>
                  <a:tcPr marL="55766" marR="55766" marT="27883" marB="27883" anchor="ctr"/>
                </a:tc>
                <a:tc>
                  <a:txBody>
                    <a:bodyPr/>
                    <a:lstStyle/>
                    <a:p>
                      <a:pPr>
                        <a:buNone/>
                      </a:pPr>
                      <a:r>
                        <a:rPr lang="en-US" sz="1000"/>
                        <a:t>Implement energy optimization and sleep-mode logic</a:t>
                      </a:r>
                    </a:p>
                  </a:txBody>
                  <a:tcPr marL="55766" marR="55766" marT="27883" marB="27883" anchor="ctr"/>
                </a:tc>
                <a:tc>
                  <a:txBody>
                    <a:bodyPr/>
                    <a:lstStyle/>
                    <a:p>
                      <a:pPr>
                        <a:buNone/>
                      </a:pPr>
                      <a:r>
                        <a:rPr lang="en-US" sz="1000"/>
                        <a:t>Energy Agent V1</a:t>
                      </a:r>
                    </a:p>
                  </a:txBody>
                  <a:tcPr marL="55766" marR="55766" marT="27883" marB="27883" anchor="ctr"/>
                </a:tc>
                <a:extLst>
                  <a:ext uri="{0D108BD9-81ED-4DB2-BD59-A6C34878D82A}">
                    <a16:rowId xmlns:a16="http://schemas.microsoft.com/office/drawing/2014/main" val="761494815"/>
                  </a:ext>
                </a:extLst>
              </a:tr>
              <a:tr h="695553">
                <a:tc>
                  <a:txBody>
                    <a:bodyPr/>
                    <a:lstStyle/>
                    <a:p>
                      <a:pPr>
                        <a:buNone/>
                      </a:pPr>
                      <a:r>
                        <a:rPr lang="en-US" sz="1000"/>
                        <a:t>Week 3</a:t>
                      </a:r>
                    </a:p>
                  </a:txBody>
                  <a:tcPr marL="55766" marR="55766" marT="27883" marB="27883" anchor="ctr"/>
                </a:tc>
                <a:tc>
                  <a:txBody>
                    <a:bodyPr/>
                    <a:lstStyle/>
                    <a:p>
                      <a:pPr>
                        <a:buNone/>
                      </a:pPr>
                      <a:r>
                        <a:rPr lang="en-US" sz="1000"/>
                        <a:t>QoE Agent Development</a:t>
                      </a:r>
                    </a:p>
                  </a:txBody>
                  <a:tcPr marL="55766" marR="55766" marT="27883" marB="27883" anchor="ctr"/>
                </a:tc>
                <a:tc>
                  <a:txBody>
                    <a:bodyPr/>
                    <a:lstStyle/>
                    <a:p>
                      <a:pPr>
                        <a:buNone/>
                      </a:pPr>
                      <a:r>
                        <a:rPr lang="en-US" sz="1000"/>
                        <a:t>Develop QoE prediction and optimization framework</a:t>
                      </a:r>
                    </a:p>
                  </a:txBody>
                  <a:tcPr marL="55766" marR="55766" marT="27883" marB="27883" anchor="ctr"/>
                </a:tc>
                <a:tc>
                  <a:txBody>
                    <a:bodyPr/>
                    <a:lstStyle/>
                    <a:p>
                      <a:pPr>
                        <a:buNone/>
                      </a:pPr>
                      <a:r>
                        <a:rPr lang="en-US" sz="1000"/>
                        <a:t>QoE Agent V1</a:t>
                      </a:r>
                    </a:p>
                  </a:txBody>
                  <a:tcPr marL="55766" marR="55766" marT="27883" marB="27883" anchor="ctr"/>
                </a:tc>
                <a:extLst>
                  <a:ext uri="{0D108BD9-81ED-4DB2-BD59-A6C34878D82A}">
                    <a16:rowId xmlns:a16="http://schemas.microsoft.com/office/drawing/2014/main" val="1097365343"/>
                  </a:ext>
                </a:extLst>
              </a:tr>
              <a:tr h="382554">
                <a:tc>
                  <a:txBody>
                    <a:bodyPr/>
                    <a:lstStyle/>
                    <a:p>
                      <a:pPr>
                        <a:buNone/>
                      </a:pPr>
                      <a:r>
                        <a:rPr lang="en-US" sz="1000"/>
                        <a:t>Week 4</a:t>
                      </a:r>
                    </a:p>
                  </a:txBody>
                  <a:tcPr marL="55766" marR="55766" marT="27883" marB="27883" anchor="ctr"/>
                </a:tc>
                <a:tc>
                  <a:txBody>
                    <a:bodyPr/>
                    <a:lstStyle/>
                    <a:p>
                      <a:pPr>
                        <a:buNone/>
                      </a:pPr>
                      <a:r>
                        <a:rPr lang="en-US" sz="1000"/>
                        <a:t>Initial Training</a:t>
                      </a:r>
                    </a:p>
                  </a:txBody>
                  <a:tcPr marL="55766" marR="55766" marT="27883" marB="27883" anchor="ctr"/>
                </a:tc>
                <a:tc>
                  <a:txBody>
                    <a:bodyPr/>
                    <a:lstStyle/>
                    <a:p>
                      <a:pPr>
                        <a:buNone/>
                      </a:pPr>
                      <a:r>
                        <a:rPr lang="en-US" sz="1000"/>
                        <a:t>Train all agents independently</a:t>
                      </a:r>
                    </a:p>
                  </a:txBody>
                  <a:tcPr marL="55766" marR="55766" marT="27883" marB="27883" anchor="ctr"/>
                </a:tc>
                <a:tc>
                  <a:txBody>
                    <a:bodyPr/>
                    <a:lstStyle/>
                    <a:p>
                      <a:pPr>
                        <a:buNone/>
                      </a:pPr>
                      <a:r>
                        <a:rPr lang="en-US" sz="1000"/>
                        <a:t>Trained AI Models</a:t>
                      </a:r>
                    </a:p>
                  </a:txBody>
                  <a:tcPr marL="55766" marR="55766" marT="27883" marB="27883" anchor="ctr"/>
                </a:tc>
                <a:extLst>
                  <a:ext uri="{0D108BD9-81ED-4DB2-BD59-A6C34878D82A}">
                    <a16:rowId xmlns:a16="http://schemas.microsoft.com/office/drawing/2014/main" val="796033797"/>
                  </a:ext>
                </a:extLst>
              </a:tr>
              <a:tr h="382554">
                <a:tc>
                  <a:txBody>
                    <a:bodyPr/>
                    <a:lstStyle/>
                    <a:p>
                      <a:pPr>
                        <a:buNone/>
                      </a:pPr>
                      <a:r>
                        <a:rPr lang="en-US" sz="1000"/>
                        <a:t>Week 4</a:t>
                      </a:r>
                    </a:p>
                  </a:txBody>
                  <a:tcPr marL="55766" marR="55766" marT="27883" marB="27883" anchor="ctr"/>
                </a:tc>
                <a:tc>
                  <a:txBody>
                    <a:bodyPr/>
                    <a:lstStyle/>
                    <a:p>
                      <a:pPr>
                        <a:buNone/>
                      </a:pPr>
                      <a:r>
                        <a:rPr lang="en-US" sz="1000"/>
                        <a:t>Baseline Evaluation</a:t>
                      </a:r>
                    </a:p>
                  </a:txBody>
                  <a:tcPr marL="55766" marR="55766" marT="27883" marB="27883" anchor="ctr"/>
                </a:tc>
                <a:tc>
                  <a:txBody>
                    <a:bodyPr/>
                    <a:lstStyle/>
                    <a:p>
                      <a:pPr>
                        <a:buNone/>
                      </a:pPr>
                      <a:r>
                        <a:rPr lang="en-US" sz="1000"/>
                        <a:t>Evaluate each agent separately</a:t>
                      </a:r>
                    </a:p>
                  </a:txBody>
                  <a:tcPr marL="55766" marR="55766" marT="27883" marB="27883" anchor="ctr"/>
                </a:tc>
                <a:tc>
                  <a:txBody>
                    <a:bodyPr/>
                    <a:lstStyle/>
                    <a:p>
                      <a:pPr>
                        <a:buNone/>
                      </a:pPr>
                      <a:r>
                        <a:rPr lang="en-US" sz="1000" dirty="0"/>
                        <a:t>Baseline Evaluation Report</a:t>
                      </a:r>
                    </a:p>
                  </a:txBody>
                  <a:tcPr marL="55766" marR="55766" marT="27883" marB="27883" anchor="ctr"/>
                </a:tc>
                <a:extLst>
                  <a:ext uri="{0D108BD9-81ED-4DB2-BD59-A6C34878D82A}">
                    <a16:rowId xmlns:a16="http://schemas.microsoft.com/office/drawing/2014/main" val="3034653305"/>
                  </a:ext>
                </a:extLst>
              </a:tr>
            </a:tbl>
          </a:graphicData>
        </a:graphic>
      </p:graphicFrame>
    </p:spTree>
    <p:extLst>
      <p:ext uri="{BB962C8B-B14F-4D97-AF65-F5344CB8AC3E}">
        <p14:creationId xmlns:p14="http://schemas.microsoft.com/office/powerpoint/2010/main" val="3144077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C7FAF-3C32-1FC7-B242-5FF4945B3D60}"/>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11831B8E-5428-8AEE-1972-B311978FB399}"/>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5D058BD3-5DE8-59F9-CFB8-827824479BA2}"/>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Month 2 Deliverables</a:t>
            </a:r>
            <a:br>
              <a:rPr lang="en-US" dirty="0"/>
            </a:br>
            <a:endParaRPr lang="en-US" dirty="0"/>
          </a:p>
        </p:txBody>
      </p:sp>
      <p:graphicFrame>
        <p:nvGraphicFramePr>
          <p:cNvPr id="2" name="Table 1">
            <a:extLst>
              <a:ext uri="{FF2B5EF4-FFF2-40B4-BE49-F238E27FC236}">
                <a16:creationId xmlns:a16="http://schemas.microsoft.com/office/drawing/2014/main" id="{CBE32FF3-3041-B403-7429-F0A95084E58B}"/>
              </a:ext>
            </a:extLst>
          </p:cNvPr>
          <p:cNvGraphicFramePr>
            <a:graphicFrameLocks noGrp="1"/>
          </p:cNvGraphicFramePr>
          <p:nvPr>
            <p:extLst>
              <p:ext uri="{D42A27DB-BD31-4B8C-83A1-F6EECF244321}">
                <p14:modId xmlns:p14="http://schemas.microsoft.com/office/powerpoint/2010/main" val="2523115185"/>
              </p:ext>
            </p:extLst>
          </p:nvPr>
        </p:nvGraphicFramePr>
        <p:xfrm>
          <a:off x="417531" y="826203"/>
          <a:ext cx="7886700" cy="2080260"/>
        </p:xfrm>
        <a:graphic>
          <a:graphicData uri="http://schemas.openxmlformats.org/drawingml/2006/table">
            <a:tbl>
              <a:tblPr>
                <a:tableStyleId>{22838BEF-8BB2-4498-84A7-C5851F593DF1}</a:tableStyleId>
              </a:tblPr>
              <a:tblGrid>
                <a:gridCol w="3943350">
                  <a:extLst>
                    <a:ext uri="{9D8B030D-6E8A-4147-A177-3AD203B41FA5}">
                      <a16:colId xmlns:a16="http://schemas.microsoft.com/office/drawing/2014/main" val="3741311496"/>
                    </a:ext>
                  </a:extLst>
                </a:gridCol>
                <a:gridCol w="3943350">
                  <a:extLst>
                    <a:ext uri="{9D8B030D-6E8A-4147-A177-3AD203B41FA5}">
                      <a16:colId xmlns:a16="http://schemas.microsoft.com/office/drawing/2014/main" val="2306612876"/>
                    </a:ext>
                  </a:extLst>
                </a:gridCol>
              </a:tblGrid>
              <a:tr h="0">
                <a:tc>
                  <a:txBody>
                    <a:bodyPr/>
                    <a:lstStyle/>
                    <a:p>
                      <a:pPr>
                        <a:buNone/>
                      </a:pPr>
                      <a:r>
                        <a:rPr lang="en-US" b="1"/>
                        <a:t>Deliverable</a:t>
                      </a:r>
                    </a:p>
                  </a:txBody>
                  <a:tcPr anchor="ctr"/>
                </a:tc>
                <a:tc>
                  <a:txBody>
                    <a:bodyPr/>
                    <a:lstStyle/>
                    <a:p>
                      <a:pPr>
                        <a:buNone/>
                      </a:pPr>
                      <a:r>
                        <a:rPr lang="en-US" b="1" dirty="0"/>
                        <a:t>Description</a:t>
                      </a:r>
                    </a:p>
                  </a:txBody>
                  <a:tcPr anchor="ctr"/>
                </a:tc>
                <a:extLst>
                  <a:ext uri="{0D108BD9-81ED-4DB2-BD59-A6C34878D82A}">
                    <a16:rowId xmlns:a16="http://schemas.microsoft.com/office/drawing/2014/main" val="2634246931"/>
                  </a:ext>
                </a:extLst>
              </a:tr>
              <a:tr h="0">
                <a:tc>
                  <a:txBody>
                    <a:bodyPr/>
                    <a:lstStyle/>
                    <a:p>
                      <a:pPr>
                        <a:buNone/>
                      </a:pPr>
                      <a:r>
                        <a:rPr lang="en-US"/>
                        <a:t>Scheduler Agent</a:t>
                      </a:r>
                    </a:p>
                  </a:txBody>
                  <a:tcPr anchor="ctr"/>
                </a:tc>
                <a:tc>
                  <a:txBody>
                    <a:bodyPr/>
                    <a:lstStyle/>
                    <a:p>
                      <a:pPr>
                        <a:buNone/>
                      </a:pPr>
                      <a:r>
                        <a:rPr lang="en-US"/>
                        <a:t>Autonomous Scheduling</a:t>
                      </a:r>
                    </a:p>
                  </a:txBody>
                  <a:tcPr anchor="ctr"/>
                </a:tc>
                <a:extLst>
                  <a:ext uri="{0D108BD9-81ED-4DB2-BD59-A6C34878D82A}">
                    <a16:rowId xmlns:a16="http://schemas.microsoft.com/office/drawing/2014/main" val="1487360993"/>
                  </a:ext>
                </a:extLst>
              </a:tr>
              <a:tr h="0">
                <a:tc>
                  <a:txBody>
                    <a:bodyPr/>
                    <a:lstStyle/>
                    <a:p>
                      <a:pPr>
                        <a:buNone/>
                      </a:pPr>
                      <a:r>
                        <a:rPr lang="en-US"/>
                        <a:t>Resource Agent</a:t>
                      </a:r>
                    </a:p>
                  </a:txBody>
                  <a:tcPr anchor="ctr"/>
                </a:tc>
                <a:tc>
                  <a:txBody>
                    <a:bodyPr/>
                    <a:lstStyle/>
                    <a:p>
                      <a:pPr>
                        <a:buNone/>
                      </a:pPr>
                      <a:r>
                        <a:rPr lang="en-US"/>
                        <a:t>Spectrum and Resource Optimization</a:t>
                      </a:r>
                    </a:p>
                  </a:txBody>
                  <a:tcPr anchor="ctr"/>
                </a:tc>
                <a:extLst>
                  <a:ext uri="{0D108BD9-81ED-4DB2-BD59-A6C34878D82A}">
                    <a16:rowId xmlns:a16="http://schemas.microsoft.com/office/drawing/2014/main" val="1146307079"/>
                  </a:ext>
                </a:extLst>
              </a:tr>
              <a:tr h="0">
                <a:tc>
                  <a:txBody>
                    <a:bodyPr/>
                    <a:lstStyle/>
                    <a:p>
                      <a:pPr>
                        <a:buNone/>
                      </a:pPr>
                      <a:r>
                        <a:rPr lang="en-US"/>
                        <a:t>Mobility Agent</a:t>
                      </a:r>
                    </a:p>
                  </a:txBody>
                  <a:tcPr anchor="ctr"/>
                </a:tc>
                <a:tc>
                  <a:txBody>
                    <a:bodyPr/>
                    <a:lstStyle/>
                    <a:p>
                      <a:pPr>
                        <a:buNone/>
                      </a:pPr>
                      <a:r>
                        <a:rPr lang="en-US"/>
                        <a:t>Handover Optimization</a:t>
                      </a:r>
                    </a:p>
                  </a:txBody>
                  <a:tcPr anchor="ctr"/>
                </a:tc>
                <a:extLst>
                  <a:ext uri="{0D108BD9-81ED-4DB2-BD59-A6C34878D82A}">
                    <a16:rowId xmlns:a16="http://schemas.microsoft.com/office/drawing/2014/main" val="3348063900"/>
                  </a:ext>
                </a:extLst>
              </a:tr>
              <a:tr h="0">
                <a:tc>
                  <a:txBody>
                    <a:bodyPr/>
                    <a:lstStyle/>
                    <a:p>
                      <a:pPr>
                        <a:buNone/>
                      </a:pPr>
                      <a:r>
                        <a:rPr lang="en-US"/>
                        <a:t>Security Agent</a:t>
                      </a:r>
                    </a:p>
                  </a:txBody>
                  <a:tcPr anchor="ctr"/>
                </a:tc>
                <a:tc>
                  <a:txBody>
                    <a:bodyPr/>
                    <a:lstStyle/>
                    <a:p>
                      <a:pPr>
                        <a:buNone/>
                      </a:pPr>
                      <a:r>
                        <a:rPr lang="en-US"/>
                        <a:t>Threat Intelligence</a:t>
                      </a:r>
                    </a:p>
                  </a:txBody>
                  <a:tcPr anchor="ctr"/>
                </a:tc>
                <a:extLst>
                  <a:ext uri="{0D108BD9-81ED-4DB2-BD59-A6C34878D82A}">
                    <a16:rowId xmlns:a16="http://schemas.microsoft.com/office/drawing/2014/main" val="1220124076"/>
                  </a:ext>
                </a:extLst>
              </a:tr>
              <a:tr h="0">
                <a:tc>
                  <a:txBody>
                    <a:bodyPr/>
                    <a:lstStyle/>
                    <a:p>
                      <a:pPr>
                        <a:buNone/>
                      </a:pPr>
                      <a:r>
                        <a:rPr lang="en-US"/>
                        <a:t>Energy Agent</a:t>
                      </a:r>
                    </a:p>
                  </a:txBody>
                  <a:tcPr anchor="ctr"/>
                </a:tc>
                <a:tc>
                  <a:txBody>
                    <a:bodyPr/>
                    <a:lstStyle/>
                    <a:p>
                      <a:pPr>
                        <a:buNone/>
                      </a:pPr>
                      <a:r>
                        <a:rPr lang="en-US"/>
                        <a:t>Power Optimization</a:t>
                      </a:r>
                    </a:p>
                  </a:txBody>
                  <a:tcPr anchor="ctr"/>
                </a:tc>
                <a:extLst>
                  <a:ext uri="{0D108BD9-81ED-4DB2-BD59-A6C34878D82A}">
                    <a16:rowId xmlns:a16="http://schemas.microsoft.com/office/drawing/2014/main" val="949274430"/>
                  </a:ext>
                </a:extLst>
              </a:tr>
              <a:tr h="0">
                <a:tc>
                  <a:txBody>
                    <a:bodyPr/>
                    <a:lstStyle/>
                    <a:p>
                      <a:pPr>
                        <a:buNone/>
                      </a:pPr>
                      <a:r>
                        <a:rPr lang="en-US"/>
                        <a:t>QoE Agent</a:t>
                      </a:r>
                    </a:p>
                  </a:txBody>
                  <a:tcPr anchor="ctr"/>
                </a:tc>
                <a:tc>
                  <a:txBody>
                    <a:bodyPr/>
                    <a:lstStyle/>
                    <a:p>
                      <a:pPr>
                        <a:buNone/>
                      </a:pPr>
                      <a:r>
                        <a:rPr lang="en-US" dirty="0"/>
                        <a:t>User Experience Optimization</a:t>
                      </a:r>
                    </a:p>
                  </a:txBody>
                  <a:tcPr anchor="ctr"/>
                </a:tc>
                <a:extLst>
                  <a:ext uri="{0D108BD9-81ED-4DB2-BD59-A6C34878D82A}">
                    <a16:rowId xmlns:a16="http://schemas.microsoft.com/office/drawing/2014/main" val="1574587683"/>
                  </a:ext>
                </a:extLst>
              </a:tr>
            </a:tbl>
          </a:graphicData>
        </a:graphic>
      </p:graphicFrame>
    </p:spTree>
    <p:extLst>
      <p:ext uri="{BB962C8B-B14F-4D97-AF65-F5344CB8AC3E}">
        <p14:creationId xmlns:p14="http://schemas.microsoft.com/office/powerpoint/2010/main" val="2808061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7E8D3-8184-1BFB-7B4F-CA8234F3A8DF}"/>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D45C887E-D7BD-2A08-5031-D23890E38A34}"/>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3A68F8DD-9C1A-D184-FDF0-8508A6FC2599}"/>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Month 3: Multi-Agent Integration and Digital Twin Development</a:t>
            </a:r>
            <a:br>
              <a:rPr lang="en-US" dirty="0"/>
            </a:br>
            <a:endParaRPr lang="en-US" dirty="0"/>
          </a:p>
        </p:txBody>
      </p:sp>
      <p:graphicFrame>
        <p:nvGraphicFramePr>
          <p:cNvPr id="2" name="Table 1">
            <a:extLst>
              <a:ext uri="{FF2B5EF4-FFF2-40B4-BE49-F238E27FC236}">
                <a16:creationId xmlns:a16="http://schemas.microsoft.com/office/drawing/2014/main" id="{AF8E7276-86EF-43F0-7268-EBFBCD4D7EDF}"/>
              </a:ext>
            </a:extLst>
          </p:cNvPr>
          <p:cNvGraphicFramePr>
            <a:graphicFrameLocks noGrp="1"/>
          </p:cNvGraphicFramePr>
          <p:nvPr>
            <p:extLst>
              <p:ext uri="{D42A27DB-BD31-4B8C-83A1-F6EECF244321}">
                <p14:modId xmlns:p14="http://schemas.microsoft.com/office/powerpoint/2010/main" val="4120667093"/>
              </p:ext>
            </p:extLst>
          </p:nvPr>
        </p:nvGraphicFramePr>
        <p:xfrm>
          <a:off x="417531" y="661307"/>
          <a:ext cx="8308800" cy="3971015"/>
        </p:xfrm>
        <a:graphic>
          <a:graphicData uri="http://schemas.openxmlformats.org/drawingml/2006/table">
            <a:tbl>
              <a:tblPr>
                <a:tableStyleId>{16D9F66E-5EB9-4882-86FB-DCBF35E3C3E4}</a:tableStyleId>
              </a:tblPr>
              <a:tblGrid>
                <a:gridCol w="994890">
                  <a:extLst>
                    <a:ext uri="{9D8B030D-6E8A-4147-A177-3AD203B41FA5}">
                      <a16:colId xmlns:a16="http://schemas.microsoft.com/office/drawing/2014/main" val="1846455573"/>
                    </a:ext>
                  </a:extLst>
                </a:gridCol>
                <a:gridCol w="2057400">
                  <a:extLst>
                    <a:ext uri="{9D8B030D-6E8A-4147-A177-3AD203B41FA5}">
                      <a16:colId xmlns:a16="http://schemas.microsoft.com/office/drawing/2014/main" val="4103999605"/>
                    </a:ext>
                  </a:extLst>
                </a:gridCol>
                <a:gridCol w="3179310">
                  <a:extLst>
                    <a:ext uri="{9D8B030D-6E8A-4147-A177-3AD203B41FA5}">
                      <a16:colId xmlns:a16="http://schemas.microsoft.com/office/drawing/2014/main" val="2538883799"/>
                    </a:ext>
                  </a:extLst>
                </a:gridCol>
                <a:gridCol w="2077200">
                  <a:extLst>
                    <a:ext uri="{9D8B030D-6E8A-4147-A177-3AD203B41FA5}">
                      <a16:colId xmlns:a16="http://schemas.microsoft.com/office/drawing/2014/main" val="3572290060"/>
                    </a:ext>
                  </a:extLst>
                </a:gridCol>
              </a:tblGrid>
              <a:tr h="249387">
                <a:tc>
                  <a:txBody>
                    <a:bodyPr/>
                    <a:lstStyle/>
                    <a:p>
                      <a:pPr>
                        <a:buNone/>
                      </a:pPr>
                      <a:r>
                        <a:rPr lang="en-US" sz="1000" b="1"/>
                        <a:t>Week</a:t>
                      </a:r>
                    </a:p>
                  </a:txBody>
                  <a:tcPr marL="63040" marR="63040" marT="31520" marB="31520" anchor="ctr"/>
                </a:tc>
                <a:tc>
                  <a:txBody>
                    <a:bodyPr/>
                    <a:lstStyle/>
                    <a:p>
                      <a:pPr>
                        <a:buNone/>
                      </a:pPr>
                      <a:r>
                        <a:rPr lang="en-US" sz="1000" b="1"/>
                        <a:t>Activity</a:t>
                      </a:r>
                    </a:p>
                  </a:txBody>
                  <a:tcPr marL="63040" marR="63040" marT="31520" marB="31520" anchor="ctr"/>
                </a:tc>
                <a:tc>
                  <a:txBody>
                    <a:bodyPr/>
                    <a:lstStyle/>
                    <a:p>
                      <a:pPr>
                        <a:buNone/>
                      </a:pPr>
                      <a:r>
                        <a:rPr lang="en-US" sz="1000" b="1"/>
                        <a:t>Detailed Tasks</a:t>
                      </a:r>
                    </a:p>
                  </a:txBody>
                  <a:tcPr marL="63040" marR="63040" marT="31520" marB="31520" anchor="ctr"/>
                </a:tc>
                <a:tc>
                  <a:txBody>
                    <a:bodyPr/>
                    <a:lstStyle/>
                    <a:p>
                      <a:pPr>
                        <a:buNone/>
                      </a:pPr>
                      <a:r>
                        <a:rPr lang="en-US" sz="1000" b="1" dirty="0"/>
                        <a:t>Deliverables</a:t>
                      </a:r>
                    </a:p>
                  </a:txBody>
                  <a:tcPr marL="63040" marR="63040" marT="31520" marB="31520" anchor="ctr"/>
                </a:tc>
                <a:extLst>
                  <a:ext uri="{0D108BD9-81ED-4DB2-BD59-A6C34878D82A}">
                    <a16:rowId xmlns:a16="http://schemas.microsoft.com/office/drawing/2014/main" val="18213422"/>
                  </a:ext>
                </a:extLst>
              </a:tr>
              <a:tr h="422040">
                <a:tc>
                  <a:txBody>
                    <a:bodyPr/>
                    <a:lstStyle/>
                    <a:p>
                      <a:pPr>
                        <a:buNone/>
                      </a:pPr>
                      <a:r>
                        <a:rPr lang="en-US" sz="1000"/>
                        <a:t>Week 1</a:t>
                      </a:r>
                    </a:p>
                  </a:txBody>
                  <a:tcPr marL="63040" marR="63040" marT="31520" marB="31520" anchor="ctr"/>
                </a:tc>
                <a:tc>
                  <a:txBody>
                    <a:bodyPr/>
                    <a:lstStyle/>
                    <a:p>
                      <a:pPr>
                        <a:buNone/>
                      </a:pPr>
                      <a:r>
                        <a:rPr lang="en-US" sz="1000"/>
                        <a:t>Digital Twin Development</a:t>
                      </a:r>
                    </a:p>
                  </a:txBody>
                  <a:tcPr marL="63040" marR="63040" marT="31520" marB="31520" anchor="ctr"/>
                </a:tc>
                <a:tc>
                  <a:txBody>
                    <a:bodyPr/>
                    <a:lstStyle/>
                    <a:p>
                      <a:pPr>
                        <a:buNone/>
                      </a:pPr>
                      <a:r>
                        <a:rPr lang="en-US" sz="1000"/>
                        <a:t>Build RAN Twin, User Twin, Security Twin</a:t>
                      </a:r>
                    </a:p>
                  </a:txBody>
                  <a:tcPr marL="63040" marR="63040" marT="31520" marB="31520" anchor="ctr"/>
                </a:tc>
                <a:tc>
                  <a:txBody>
                    <a:bodyPr/>
                    <a:lstStyle/>
                    <a:p>
                      <a:pPr>
                        <a:buNone/>
                      </a:pPr>
                      <a:r>
                        <a:rPr lang="en-US" sz="1000"/>
                        <a:t>Digital Twin Platform</a:t>
                      </a:r>
                    </a:p>
                  </a:txBody>
                  <a:tcPr marL="63040" marR="63040" marT="31520" marB="31520" anchor="ctr"/>
                </a:tc>
                <a:extLst>
                  <a:ext uri="{0D108BD9-81ED-4DB2-BD59-A6C34878D82A}">
                    <a16:rowId xmlns:a16="http://schemas.microsoft.com/office/drawing/2014/main" val="3928629659"/>
                  </a:ext>
                </a:extLst>
              </a:tr>
              <a:tr h="594694">
                <a:tc>
                  <a:txBody>
                    <a:bodyPr/>
                    <a:lstStyle/>
                    <a:p>
                      <a:pPr>
                        <a:buNone/>
                      </a:pPr>
                      <a:r>
                        <a:rPr lang="en-US" sz="1000"/>
                        <a:t>Week 1</a:t>
                      </a:r>
                    </a:p>
                  </a:txBody>
                  <a:tcPr marL="63040" marR="63040" marT="31520" marB="31520" anchor="ctr"/>
                </a:tc>
                <a:tc>
                  <a:txBody>
                    <a:bodyPr/>
                    <a:lstStyle/>
                    <a:p>
                      <a:pPr>
                        <a:buNone/>
                      </a:pPr>
                      <a:r>
                        <a:rPr lang="en-US" sz="1000"/>
                        <a:t>Knowledge Graph Development</a:t>
                      </a:r>
                    </a:p>
                  </a:txBody>
                  <a:tcPr marL="63040" marR="63040" marT="31520" marB="31520" anchor="ctr"/>
                </a:tc>
                <a:tc>
                  <a:txBody>
                    <a:bodyPr/>
                    <a:lstStyle/>
                    <a:p>
                      <a:pPr>
                        <a:buNone/>
                      </a:pPr>
                      <a:r>
                        <a:rPr lang="en-US" sz="1000"/>
                        <a:t>Build telecom ontology and graph relationships</a:t>
                      </a:r>
                    </a:p>
                  </a:txBody>
                  <a:tcPr marL="63040" marR="63040" marT="31520" marB="31520" anchor="ctr"/>
                </a:tc>
                <a:tc>
                  <a:txBody>
                    <a:bodyPr/>
                    <a:lstStyle/>
                    <a:p>
                      <a:pPr>
                        <a:buNone/>
                      </a:pPr>
                      <a:r>
                        <a:rPr lang="en-US" sz="1000"/>
                        <a:t>Knowledge Graph</a:t>
                      </a:r>
                    </a:p>
                  </a:txBody>
                  <a:tcPr marL="63040" marR="63040" marT="31520" marB="31520" anchor="ctr"/>
                </a:tc>
                <a:extLst>
                  <a:ext uri="{0D108BD9-81ED-4DB2-BD59-A6C34878D82A}">
                    <a16:rowId xmlns:a16="http://schemas.microsoft.com/office/drawing/2014/main" val="2427791609"/>
                  </a:ext>
                </a:extLst>
              </a:tr>
              <a:tr h="594694">
                <a:tc>
                  <a:txBody>
                    <a:bodyPr/>
                    <a:lstStyle/>
                    <a:p>
                      <a:pPr>
                        <a:buNone/>
                      </a:pPr>
                      <a:r>
                        <a:rPr lang="en-US" sz="1000"/>
                        <a:t>Week 2</a:t>
                      </a:r>
                    </a:p>
                  </a:txBody>
                  <a:tcPr marL="63040" marR="63040" marT="31520" marB="31520" anchor="ctr"/>
                </a:tc>
                <a:tc>
                  <a:txBody>
                    <a:bodyPr/>
                    <a:lstStyle/>
                    <a:p>
                      <a:pPr>
                        <a:buNone/>
                      </a:pPr>
                      <a:r>
                        <a:rPr lang="en-US" sz="1000"/>
                        <a:t>Multi-Agent Framework</a:t>
                      </a:r>
                    </a:p>
                  </a:txBody>
                  <a:tcPr marL="63040" marR="63040" marT="31520" marB="31520" anchor="ctr"/>
                </a:tc>
                <a:tc>
                  <a:txBody>
                    <a:bodyPr/>
                    <a:lstStyle/>
                    <a:p>
                      <a:pPr>
                        <a:buNone/>
                      </a:pPr>
                      <a:r>
                        <a:rPr lang="en-US" sz="1000"/>
                        <a:t>Develop collaboration framework among agents</a:t>
                      </a:r>
                    </a:p>
                  </a:txBody>
                  <a:tcPr marL="63040" marR="63040" marT="31520" marB="31520" anchor="ctr"/>
                </a:tc>
                <a:tc>
                  <a:txBody>
                    <a:bodyPr/>
                    <a:lstStyle/>
                    <a:p>
                      <a:pPr>
                        <a:buNone/>
                      </a:pPr>
                      <a:r>
                        <a:rPr lang="en-US" sz="1000"/>
                        <a:t>Multi-Agent Controller</a:t>
                      </a:r>
                    </a:p>
                  </a:txBody>
                  <a:tcPr marL="63040" marR="63040" marT="31520" marB="31520" anchor="ctr"/>
                </a:tc>
                <a:extLst>
                  <a:ext uri="{0D108BD9-81ED-4DB2-BD59-A6C34878D82A}">
                    <a16:rowId xmlns:a16="http://schemas.microsoft.com/office/drawing/2014/main" val="2177655357"/>
                  </a:ext>
                </a:extLst>
              </a:tr>
              <a:tr h="422040">
                <a:tc>
                  <a:txBody>
                    <a:bodyPr/>
                    <a:lstStyle/>
                    <a:p>
                      <a:pPr>
                        <a:buNone/>
                      </a:pPr>
                      <a:r>
                        <a:rPr lang="en-US" sz="1000"/>
                        <a:t>Week 2</a:t>
                      </a:r>
                    </a:p>
                  </a:txBody>
                  <a:tcPr marL="63040" marR="63040" marT="31520" marB="31520" anchor="ctr"/>
                </a:tc>
                <a:tc>
                  <a:txBody>
                    <a:bodyPr/>
                    <a:lstStyle/>
                    <a:p>
                      <a:pPr>
                        <a:buNone/>
                      </a:pPr>
                      <a:r>
                        <a:rPr lang="en-US" sz="1000"/>
                        <a:t>Agent Communication</a:t>
                      </a:r>
                    </a:p>
                  </a:txBody>
                  <a:tcPr marL="63040" marR="63040" marT="31520" marB="31520" anchor="ctr"/>
                </a:tc>
                <a:tc>
                  <a:txBody>
                    <a:bodyPr/>
                    <a:lstStyle/>
                    <a:p>
                      <a:pPr>
                        <a:buNone/>
                      </a:pPr>
                      <a:r>
                        <a:rPr lang="en-US" sz="1000"/>
                        <a:t>Implement agent-to-agent communication</a:t>
                      </a:r>
                    </a:p>
                  </a:txBody>
                  <a:tcPr marL="63040" marR="63040" marT="31520" marB="31520" anchor="ctr"/>
                </a:tc>
                <a:tc>
                  <a:txBody>
                    <a:bodyPr/>
                    <a:lstStyle/>
                    <a:p>
                      <a:pPr>
                        <a:buNone/>
                      </a:pPr>
                      <a:r>
                        <a:rPr lang="en-US" sz="1000"/>
                        <a:t>Collaboration Engine</a:t>
                      </a:r>
                    </a:p>
                  </a:txBody>
                  <a:tcPr marL="63040" marR="63040" marT="31520" marB="31520" anchor="ctr"/>
                </a:tc>
                <a:extLst>
                  <a:ext uri="{0D108BD9-81ED-4DB2-BD59-A6C34878D82A}">
                    <a16:rowId xmlns:a16="http://schemas.microsoft.com/office/drawing/2014/main" val="3325432084"/>
                  </a:ext>
                </a:extLst>
              </a:tr>
              <a:tr h="422040">
                <a:tc>
                  <a:txBody>
                    <a:bodyPr/>
                    <a:lstStyle/>
                    <a:p>
                      <a:pPr>
                        <a:buNone/>
                      </a:pPr>
                      <a:r>
                        <a:rPr lang="en-US" sz="1000"/>
                        <a:t>Week 3</a:t>
                      </a:r>
                    </a:p>
                  </a:txBody>
                  <a:tcPr marL="63040" marR="63040" marT="31520" marB="31520" anchor="ctr"/>
                </a:tc>
                <a:tc>
                  <a:txBody>
                    <a:bodyPr/>
                    <a:lstStyle/>
                    <a:p>
                      <a:pPr>
                        <a:buNone/>
                      </a:pPr>
                      <a:r>
                        <a:rPr lang="en-US" sz="1000"/>
                        <a:t>Federated Learning</a:t>
                      </a:r>
                    </a:p>
                  </a:txBody>
                  <a:tcPr marL="63040" marR="63040" marT="31520" marB="31520" anchor="ctr"/>
                </a:tc>
                <a:tc>
                  <a:txBody>
                    <a:bodyPr/>
                    <a:lstStyle/>
                    <a:p>
                      <a:pPr>
                        <a:buNone/>
                      </a:pPr>
                      <a:r>
                        <a:rPr lang="en-US" sz="1000"/>
                        <a:t>Develop distributed training framework</a:t>
                      </a:r>
                    </a:p>
                  </a:txBody>
                  <a:tcPr marL="63040" marR="63040" marT="31520" marB="31520" anchor="ctr"/>
                </a:tc>
                <a:tc>
                  <a:txBody>
                    <a:bodyPr/>
                    <a:lstStyle/>
                    <a:p>
                      <a:pPr>
                        <a:buNone/>
                      </a:pPr>
                      <a:r>
                        <a:rPr lang="en-US" sz="1000"/>
                        <a:t>Federated Learning Framework</a:t>
                      </a:r>
                    </a:p>
                  </a:txBody>
                  <a:tcPr marL="63040" marR="63040" marT="31520" marB="31520" anchor="ctr"/>
                </a:tc>
                <a:extLst>
                  <a:ext uri="{0D108BD9-81ED-4DB2-BD59-A6C34878D82A}">
                    <a16:rowId xmlns:a16="http://schemas.microsoft.com/office/drawing/2014/main" val="626520652"/>
                  </a:ext>
                </a:extLst>
              </a:tr>
              <a:tr h="422040">
                <a:tc>
                  <a:txBody>
                    <a:bodyPr/>
                    <a:lstStyle/>
                    <a:p>
                      <a:pPr>
                        <a:buNone/>
                      </a:pPr>
                      <a:r>
                        <a:rPr lang="en-US" sz="1000"/>
                        <a:t>Week 3</a:t>
                      </a:r>
                    </a:p>
                  </a:txBody>
                  <a:tcPr marL="63040" marR="63040" marT="31520" marB="31520" anchor="ctr"/>
                </a:tc>
                <a:tc>
                  <a:txBody>
                    <a:bodyPr/>
                    <a:lstStyle/>
                    <a:p>
                      <a:pPr>
                        <a:buNone/>
                      </a:pPr>
                      <a:r>
                        <a:rPr lang="en-US" sz="1000"/>
                        <a:t>Knowledge Integration</a:t>
                      </a:r>
                    </a:p>
                  </a:txBody>
                  <a:tcPr marL="63040" marR="63040" marT="31520" marB="31520" anchor="ctr"/>
                </a:tc>
                <a:tc>
                  <a:txBody>
                    <a:bodyPr/>
                    <a:lstStyle/>
                    <a:p>
                      <a:pPr>
                        <a:buNone/>
                      </a:pPr>
                      <a:r>
                        <a:rPr lang="en-US" sz="1000"/>
                        <a:t>Integrate Knowledge Graph with AI Agents</a:t>
                      </a:r>
                    </a:p>
                  </a:txBody>
                  <a:tcPr marL="63040" marR="63040" marT="31520" marB="31520" anchor="ctr"/>
                </a:tc>
                <a:tc>
                  <a:txBody>
                    <a:bodyPr/>
                    <a:lstStyle/>
                    <a:p>
                      <a:pPr>
                        <a:buNone/>
                      </a:pPr>
                      <a:r>
                        <a:rPr lang="en-US" sz="1000"/>
                        <a:t>Knowledge-Aware Agents</a:t>
                      </a:r>
                    </a:p>
                  </a:txBody>
                  <a:tcPr marL="63040" marR="63040" marT="31520" marB="31520" anchor="ctr"/>
                </a:tc>
                <a:extLst>
                  <a:ext uri="{0D108BD9-81ED-4DB2-BD59-A6C34878D82A}">
                    <a16:rowId xmlns:a16="http://schemas.microsoft.com/office/drawing/2014/main" val="1945172932"/>
                  </a:ext>
                </a:extLst>
              </a:tr>
              <a:tr h="422040">
                <a:tc>
                  <a:txBody>
                    <a:bodyPr/>
                    <a:lstStyle/>
                    <a:p>
                      <a:pPr>
                        <a:buNone/>
                      </a:pPr>
                      <a:r>
                        <a:rPr lang="en-US" sz="1000"/>
                        <a:t>Week 4</a:t>
                      </a:r>
                    </a:p>
                  </a:txBody>
                  <a:tcPr marL="63040" marR="63040" marT="31520" marB="31520" anchor="ctr"/>
                </a:tc>
                <a:tc>
                  <a:txBody>
                    <a:bodyPr/>
                    <a:lstStyle/>
                    <a:p>
                      <a:pPr>
                        <a:buNone/>
                      </a:pPr>
                      <a:r>
                        <a:rPr lang="en-US" sz="1000"/>
                        <a:t>Integrated Training</a:t>
                      </a:r>
                    </a:p>
                  </a:txBody>
                  <a:tcPr marL="63040" marR="63040" marT="31520" marB="31520" anchor="ctr"/>
                </a:tc>
                <a:tc>
                  <a:txBody>
                    <a:bodyPr/>
                    <a:lstStyle/>
                    <a:p>
                      <a:pPr>
                        <a:buNone/>
                      </a:pPr>
                      <a:r>
                        <a:rPr lang="en-US" sz="1000"/>
                        <a:t>Train all agents collaboratively</a:t>
                      </a:r>
                    </a:p>
                  </a:txBody>
                  <a:tcPr marL="63040" marR="63040" marT="31520" marB="31520" anchor="ctr"/>
                </a:tc>
                <a:tc>
                  <a:txBody>
                    <a:bodyPr/>
                    <a:lstStyle/>
                    <a:p>
                      <a:pPr>
                        <a:buNone/>
                      </a:pPr>
                      <a:r>
                        <a:rPr lang="en-US" sz="1000"/>
                        <a:t>Integrated Multi-Agent Model</a:t>
                      </a:r>
                    </a:p>
                  </a:txBody>
                  <a:tcPr marL="63040" marR="63040" marT="31520" marB="31520" anchor="ctr"/>
                </a:tc>
                <a:extLst>
                  <a:ext uri="{0D108BD9-81ED-4DB2-BD59-A6C34878D82A}">
                    <a16:rowId xmlns:a16="http://schemas.microsoft.com/office/drawing/2014/main" val="438741751"/>
                  </a:ext>
                </a:extLst>
              </a:tr>
              <a:tr h="422040">
                <a:tc>
                  <a:txBody>
                    <a:bodyPr/>
                    <a:lstStyle/>
                    <a:p>
                      <a:pPr>
                        <a:buNone/>
                      </a:pPr>
                      <a:r>
                        <a:rPr lang="en-US" sz="1000"/>
                        <a:t>Week 4</a:t>
                      </a:r>
                    </a:p>
                  </a:txBody>
                  <a:tcPr marL="63040" marR="63040" marT="31520" marB="31520" anchor="ctr"/>
                </a:tc>
                <a:tc>
                  <a:txBody>
                    <a:bodyPr/>
                    <a:lstStyle/>
                    <a:p>
                      <a:pPr>
                        <a:buNone/>
                      </a:pPr>
                      <a:r>
                        <a:rPr lang="en-US" sz="1000"/>
                        <a:t>Validation</a:t>
                      </a:r>
                    </a:p>
                  </a:txBody>
                  <a:tcPr marL="63040" marR="63040" marT="31520" marB="31520" anchor="ctr"/>
                </a:tc>
                <a:tc>
                  <a:txBody>
                    <a:bodyPr/>
                    <a:lstStyle/>
                    <a:p>
                      <a:pPr>
                        <a:buNone/>
                      </a:pPr>
                      <a:r>
                        <a:rPr lang="en-US" sz="1000"/>
                        <a:t>Validate in Digital Twin Environment</a:t>
                      </a:r>
                    </a:p>
                  </a:txBody>
                  <a:tcPr marL="63040" marR="63040" marT="31520" marB="31520" anchor="ctr"/>
                </a:tc>
                <a:tc>
                  <a:txBody>
                    <a:bodyPr/>
                    <a:lstStyle/>
                    <a:p>
                      <a:pPr>
                        <a:buNone/>
                      </a:pPr>
                      <a:r>
                        <a:rPr lang="en-US" sz="1000" dirty="0"/>
                        <a:t>Validation Report</a:t>
                      </a:r>
                    </a:p>
                  </a:txBody>
                  <a:tcPr marL="63040" marR="63040" marT="31520" marB="31520" anchor="ctr"/>
                </a:tc>
                <a:extLst>
                  <a:ext uri="{0D108BD9-81ED-4DB2-BD59-A6C34878D82A}">
                    <a16:rowId xmlns:a16="http://schemas.microsoft.com/office/drawing/2014/main" val="2886668829"/>
                  </a:ext>
                </a:extLst>
              </a:tr>
            </a:tbl>
          </a:graphicData>
        </a:graphic>
      </p:graphicFrame>
    </p:spTree>
    <p:extLst>
      <p:ext uri="{BB962C8B-B14F-4D97-AF65-F5344CB8AC3E}">
        <p14:creationId xmlns:p14="http://schemas.microsoft.com/office/powerpoint/2010/main" val="1610757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C58B5-E445-CD8F-F09E-6D08B995D8DF}"/>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137DBB3C-F1EE-D1E5-68AB-C5E258F82935}"/>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BD8450B0-BE81-9402-EBAB-F625EFE5EAB8}"/>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Month 3 Deliverables</a:t>
            </a:r>
            <a:br>
              <a:rPr lang="en-US" dirty="0"/>
            </a:br>
            <a:endParaRPr lang="en-US" dirty="0"/>
          </a:p>
        </p:txBody>
      </p:sp>
      <p:graphicFrame>
        <p:nvGraphicFramePr>
          <p:cNvPr id="2" name="Table 1">
            <a:extLst>
              <a:ext uri="{FF2B5EF4-FFF2-40B4-BE49-F238E27FC236}">
                <a16:creationId xmlns:a16="http://schemas.microsoft.com/office/drawing/2014/main" id="{B6885F83-34AF-39C9-9987-88FB4FB5AE4E}"/>
              </a:ext>
            </a:extLst>
          </p:cNvPr>
          <p:cNvGraphicFramePr>
            <a:graphicFrameLocks noGrp="1"/>
          </p:cNvGraphicFramePr>
          <p:nvPr>
            <p:extLst>
              <p:ext uri="{D42A27DB-BD31-4B8C-83A1-F6EECF244321}">
                <p14:modId xmlns:p14="http://schemas.microsoft.com/office/powerpoint/2010/main" val="2126560807"/>
              </p:ext>
            </p:extLst>
          </p:nvPr>
        </p:nvGraphicFramePr>
        <p:xfrm>
          <a:off x="417531" y="895665"/>
          <a:ext cx="7886700" cy="1783080"/>
        </p:xfrm>
        <a:graphic>
          <a:graphicData uri="http://schemas.openxmlformats.org/drawingml/2006/table">
            <a:tbl>
              <a:tblPr>
                <a:tableStyleId>{69CF1AB2-1976-4502-BF36-3FF5EA218861}</a:tableStyleId>
              </a:tblPr>
              <a:tblGrid>
                <a:gridCol w="3943350">
                  <a:extLst>
                    <a:ext uri="{9D8B030D-6E8A-4147-A177-3AD203B41FA5}">
                      <a16:colId xmlns:a16="http://schemas.microsoft.com/office/drawing/2014/main" val="2848465215"/>
                    </a:ext>
                  </a:extLst>
                </a:gridCol>
                <a:gridCol w="3943350">
                  <a:extLst>
                    <a:ext uri="{9D8B030D-6E8A-4147-A177-3AD203B41FA5}">
                      <a16:colId xmlns:a16="http://schemas.microsoft.com/office/drawing/2014/main" val="822169523"/>
                    </a:ext>
                  </a:extLst>
                </a:gridCol>
              </a:tblGrid>
              <a:tr h="0">
                <a:tc>
                  <a:txBody>
                    <a:bodyPr/>
                    <a:lstStyle/>
                    <a:p>
                      <a:pPr>
                        <a:buNone/>
                      </a:pPr>
                      <a:r>
                        <a:rPr lang="en-US" b="1"/>
                        <a:t>Deliverable</a:t>
                      </a:r>
                    </a:p>
                  </a:txBody>
                  <a:tcPr anchor="ctr"/>
                </a:tc>
                <a:tc>
                  <a:txBody>
                    <a:bodyPr/>
                    <a:lstStyle/>
                    <a:p>
                      <a:pPr>
                        <a:buNone/>
                      </a:pPr>
                      <a:r>
                        <a:rPr lang="en-US" b="1" dirty="0"/>
                        <a:t>Description</a:t>
                      </a:r>
                    </a:p>
                  </a:txBody>
                  <a:tcPr anchor="ctr"/>
                </a:tc>
                <a:extLst>
                  <a:ext uri="{0D108BD9-81ED-4DB2-BD59-A6C34878D82A}">
                    <a16:rowId xmlns:a16="http://schemas.microsoft.com/office/drawing/2014/main" val="3895940942"/>
                  </a:ext>
                </a:extLst>
              </a:tr>
              <a:tr h="0">
                <a:tc>
                  <a:txBody>
                    <a:bodyPr/>
                    <a:lstStyle/>
                    <a:p>
                      <a:pPr>
                        <a:buNone/>
                      </a:pPr>
                      <a:r>
                        <a:rPr lang="en-US"/>
                        <a:t>Digital Twin</a:t>
                      </a:r>
                    </a:p>
                  </a:txBody>
                  <a:tcPr anchor="ctr"/>
                </a:tc>
                <a:tc>
                  <a:txBody>
                    <a:bodyPr/>
                    <a:lstStyle/>
                    <a:p>
                      <a:pPr>
                        <a:buNone/>
                      </a:pPr>
                      <a:r>
                        <a:rPr lang="en-US"/>
                        <a:t>Virtual Telecom Network</a:t>
                      </a:r>
                    </a:p>
                  </a:txBody>
                  <a:tcPr anchor="ctr"/>
                </a:tc>
                <a:extLst>
                  <a:ext uri="{0D108BD9-81ED-4DB2-BD59-A6C34878D82A}">
                    <a16:rowId xmlns:a16="http://schemas.microsoft.com/office/drawing/2014/main" val="177327812"/>
                  </a:ext>
                </a:extLst>
              </a:tr>
              <a:tr h="0">
                <a:tc>
                  <a:txBody>
                    <a:bodyPr/>
                    <a:lstStyle/>
                    <a:p>
                      <a:pPr>
                        <a:buNone/>
                      </a:pPr>
                      <a:r>
                        <a:rPr lang="en-US"/>
                        <a:t>Knowledge Graph</a:t>
                      </a:r>
                    </a:p>
                  </a:txBody>
                  <a:tcPr anchor="ctr"/>
                </a:tc>
                <a:tc>
                  <a:txBody>
                    <a:bodyPr/>
                    <a:lstStyle/>
                    <a:p>
                      <a:pPr>
                        <a:buNone/>
                      </a:pPr>
                      <a:r>
                        <a:rPr lang="en-US"/>
                        <a:t>Telecom Intelligence Layer</a:t>
                      </a:r>
                    </a:p>
                  </a:txBody>
                  <a:tcPr anchor="ctr"/>
                </a:tc>
                <a:extLst>
                  <a:ext uri="{0D108BD9-81ED-4DB2-BD59-A6C34878D82A}">
                    <a16:rowId xmlns:a16="http://schemas.microsoft.com/office/drawing/2014/main" val="482141678"/>
                  </a:ext>
                </a:extLst>
              </a:tr>
              <a:tr h="0">
                <a:tc>
                  <a:txBody>
                    <a:bodyPr/>
                    <a:lstStyle/>
                    <a:p>
                      <a:pPr>
                        <a:buNone/>
                      </a:pPr>
                      <a:r>
                        <a:rPr lang="en-US"/>
                        <a:t>Multi-Agent Framework</a:t>
                      </a:r>
                    </a:p>
                  </a:txBody>
                  <a:tcPr anchor="ctr"/>
                </a:tc>
                <a:tc>
                  <a:txBody>
                    <a:bodyPr/>
                    <a:lstStyle/>
                    <a:p>
                      <a:pPr>
                        <a:buNone/>
                      </a:pPr>
                      <a:r>
                        <a:rPr lang="en-US"/>
                        <a:t>Collaborative AI System</a:t>
                      </a:r>
                    </a:p>
                  </a:txBody>
                  <a:tcPr anchor="ctr"/>
                </a:tc>
                <a:extLst>
                  <a:ext uri="{0D108BD9-81ED-4DB2-BD59-A6C34878D82A}">
                    <a16:rowId xmlns:a16="http://schemas.microsoft.com/office/drawing/2014/main" val="2019666853"/>
                  </a:ext>
                </a:extLst>
              </a:tr>
              <a:tr h="0">
                <a:tc>
                  <a:txBody>
                    <a:bodyPr/>
                    <a:lstStyle/>
                    <a:p>
                      <a:pPr>
                        <a:buNone/>
                      </a:pPr>
                      <a:r>
                        <a:rPr lang="en-US"/>
                        <a:t>Federated Learning</a:t>
                      </a:r>
                    </a:p>
                  </a:txBody>
                  <a:tcPr anchor="ctr"/>
                </a:tc>
                <a:tc>
                  <a:txBody>
                    <a:bodyPr/>
                    <a:lstStyle/>
                    <a:p>
                      <a:pPr>
                        <a:buNone/>
                      </a:pPr>
                      <a:r>
                        <a:rPr lang="en-US"/>
                        <a:t>Distributed Learning Platform</a:t>
                      </a:r>
                    </a:p>
                  </a:txBody>
                  <a:tcPr anchor="ctr"/>
                </a:tc>
                <a:extLst>
                  <a:ext uri="{0D108BD9-81ED-4DB2-BD59-A6C34878D82A}">
                    <a16:rowId xmlns:a16="http://schemas.microsoft.com/office/drawing/2014/main" val="1120096218"/>
                  </a:ext>
                </a:extLst>
              </a:tr>
              <a:tr h="0">
                <a:tc>
                  <a:txBody>
                    <a:bodyPr/>
                    <a:lstStyle/>
                    <a:p>
                      <a:pPr>
                        <a:buNone/>
                      </a:pPr>
                      <a:r>
                        <a:rPr lang="en-US"/>
                        <a:t>Integrated AI Platform</a:t>
                      </a:r>
                    </a:p>
                  </a:txBody>
                  <a:tcPr anchor="ctr"/>
                </a:tc>
                <a:tc>
                  <a:txBody>
                    <a:bodyPr/>
                    <a:lstStyle/>
                    <a:p>
                      <a:pPr>
                        <a:buNone/>
                      </a:pPr>
                      <a:r>
                        <a:rPr lang="en-US" dirty="0"/>
                        <a:t>Complete Multi-Agent Solution</a:t>
                      </a:r>
                    </a:p>
                  </a:txBody>
                  <a:tcPr anchor="ctr"/>
                </a:tc>
                <a:extLst>
                  <a:ext uri="{0D108BD9-81ED-4DB2-BD59-A6C34878D82A}">
                    <a16:rowId xmlns:a16="http://schemas.microsoft.com/office/drawing/2014/main" val="4174700175"/>
                  </a:ext>
                </a:extLst>
              </a:tr>
            </a:tbl>
          </a:graphicData>
        </a:graphic>
      </p:graphicFrame>
    </p:spTree>
    <p:extLst>
      <p:ext uri="{BB962C8B-B14F-4D97-AF65-F5344CB8AC3E}">
        <p14:creationId xmlns:p14="http://schemas.microsoft.com/office/powerpoint/2010/main" val="2539872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5AB1B-1ECA-8189-5AD1-0674B73DB7AF}"/>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FF9E8F6D-9061-3C0A-B7AE-180F76D4E733}"/>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1BD9B3C0-EB08-1B49-9D5E-9C86F5E023AE}"/>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Month 4: O-RAN Integration, Evaluation and Final Demonstration</a:t>
            </a:r>
            <a:br>
              <a:rPr lang="en-US" dirty="0"/>
            </a:br>
            <a:endParaRPr lang="en-US" dirty="0"/>
          </a:p>
        </p:txBody>
      </p:sp>
      <p:graphicFrame>
        <p:nvGraphicFramePr>
          <p:cNvPr id="2" name="Table 1">
            <a:extLst>
              <a:ext uri="{FF2B5EF4-FFF2-40B4-BE49-F238E27FC236}">
                <a16:creationId xmlns:a16="http://schemas.microsoft.com/office/drawing/2014/main" id="{278BA598-DF25-5465-EF35-211AC9422A4C}"/>
              </a:ext>
            </a:extLst>
          </p:cNvPr>
          <p:cNvGraphicFramePr>
            <a:graphicFrameLocks noGrp="1"/>
          </p:cNvGraphicFramePr>
          <p:nvPr>
            <p:extLst>
              <p:ext uri="{D42A27DB-BD31-4B8C-83A1-F6EECF244321}">
                <p14:modId xmlns:p14="http://schemas.microsoft.com/office/powerpoint/2010/main" val="1452299286"/>
              </p:ext>
            </p:extLst>
          </p:nvPr>
        </p:nvGraphicFramePr>
        <p:xfrm>
          <a:off x="417531" y="555171"/>
          <a:ext cx="8308800" cy="4077155"/>
        </p:xfrm>
        <a:graphic>
          <a:graphicData uri="http://schemas.openxmlformats.org/drawingml/2006/table">
            <a:tbl>
              <a:tblPr>
                <a:tableStyleId>{8A107856-5554-42FB-B03E-39F5DBC370BA}</a:tableStyleId>
              </a:tblPr>
              <a:tblGrid>
                <a:gridCol w="888755">
                  <a:extLst>
                    <a:ext uri="{9D8B030D-6E8A-4147-A177-3AD203B41FA5}">
                      <a16:colId xmlns:a16="http://schemas.microsoft.com/office/drawing/2014/main" val="3521727585"/>
                    </a:ext>
                  </a:extLst>
                </a:gridCol>
                <a:gridCol w="1796143">
                  <a:extLst>
                    <a:ext uri="{9D8B030D-6E8A-4147-A177-3AD203B41FA5}">
                      <a16:colId xmlns:a16="http://schemas.microsoft.com/office/drawing/2014/main" val="3906234843"/>
                    </a:ext>
                  </a:extLst>
                </a:gridCol>
                <a:gridCol w="3546702">
                  <a:extLst>
                    <a:ext uri="{9D8B030D-6E8A-4147-A177-3AD203B41FA5}">
                      <a16:colId xmlns:a16="http://schemas.microsoft.com/office/drawing/2014/main" val="3876701814"/>
                    </a:ext>
                  </a:extLst>
                </a:gridCol>
                <a:gridCol w="2077200">
                  <a:extLst>
                    <a:ext uri="{9D8B030D-6E8A-4147-A177-3AD203B41FA5}">
                      <a16:colId xmlns:a16="http://schemas.microsoft.com/office/drawing/2014/main" val="3679249418"/>
                    </a:ext>
                  </a:extLst>
                </a:gridCol>
              </a:tblGrid>
              <a:tr h="226509">
                <a:tc>
                  <a:txBody>
                    <a:bodyPr/>
                    <a:lstStyle/>
                    <a:p>
                      <a:pPr>
                        <a:buNone/>
                      </a:pPr>
                      <a:r>
                        <a:rPr lang="en-US" sz="1000" b="1"/>
                        <a:t>Week</a:t>
                      </a:r>
                    </a:p>
                  </a:txBody>
                  <a:tcPr marL="55766" marR="55766" marT="27883" marB="27883" anchor="ctr"/>
                </a:tc>
                <a:tc>
                  <a:txBody>
                    <a:bodyPr/>
                    <a:lstStyle/>
                    <a:p>
                      <a:pPr>
                        <a:buNone/>
                      </a:pPr>
                      <a:r>
                        <a:rPr lang="en-US" sz="1000" b="1"/>
                        <a:t>Activity</a:t>
                      </a:r>
                    </a:p>
                  </a:txBody>
                  <a:tcPr marL="55766" marR="55766" marT="27883" marB="27883" anchor="ctr"/>
                </a:tc>
                <a:tc>
                  <a:txBody>
                    <a:bodyPr/>
                    <a:lstStyle/>
                    <a:p>
                      <a:pPr>
                        <a:buNone/>
                      </a:pPr>
                      <a:r>
                        <a:rPr lang="en-US" sz="1000" b="1"/>
                        <a:t>Detailed Tasks</a:t>
                      </a:r>
                    </a:p>
                  </a:txBody>
                  <a:tcPr marL="55766" marR="55766" marT="27883" marB="27883" anchor="ctr"/>
                </a:tc>
                <a:tc>
                  <a:txBody>
                    <a:bodyPr/>
                    <a:lstStyle/>
                    <a:p>
                      <a:pPr>
                        <a:buNone/>
                      </a:pPr>
                      <a:r>
                        <a:rPr lang="en-US" sz="1000" b="1" dirty="0"/>
                        <a:t>Deliverables</a:t>
                      </a:r>
                    </a:p>
                  </a:txBody>
                  <a:tcPr marL="55766" marR="55766" marT="27883" marB="27883" anchor="ctr"/>
                </a:tc>
                <a:extLst>
                  <a:ext uri="{0D108BD9-81ED-4DB2-BD59-A6C34878D82A}">
                    <a16:rowId xmlns:a16="http://schemas.microsoft.com/office/drawing/2014/main" val="1253119558"/>
                  </a:ext>
                </a:extLst>
              </a:tr>
              <a:tr h="540136">
                <a:tc>
                  <a:txBody>
                    <a:bodyPr/>
                    <a:lstStyle/>
                    <a:p>
                      <a:pPr>
                        <a:buNone/>
                      </a:pPr>
                      <a:r>
                        <a:rPr lang="en-US" sz="1000"/>
                        <a:t>Week 1</a:t>
                      </a:r>
                    </a:p>
                  </a:txBody>
                  <a:tcPr marL="55766" marR="55766" marT="27883" marB="27883" anchor="ctr"/>
                </a:tc>
                <a:tc>
                  <a:txBody>
                    <a:bodyPr/>
                    <a:lstStyle/>
                    <a:p>
                      <a:pPr>
                        <a:buNone/>
                      </a:pPr>
                      <a:r>
                        <a:rPr lang="en-US" sz="1000"/>
                        <a:t>O-RAN Integration</a:t>
                      </a:r>
                    </a:p>
                  </a:txBody>
                  <a:tcPr marL="55766" marR="55766" marT="27883" marB="27883" anchor="ctr"/>
                </a:tc>
                <a:tc>
                  <a:txBody>
                    <a:bodyPr/>
                    <a:lstStyle/>
                    <a:p>
                      <a:pPr>
                        <a:buNone/>
                      </a:pPr>
                      <a:r>
                        <a:rPr lang="en-US" sz="1000"/>
                        <a:t>Integrate agents into Near-RT RIC and Non-RT RIC</a:t>
                      </a:r>
                    </a:p>
                  </a:txBody>
                  <a:tcPr marL="55766" marR="55766" marT="27883" marB="27883" anchor="ctr"/>
                </a:tc>
                <a:tc>
                  <a:txBody>
                    <a:bodyPr/>
                    <a:lstStyle/>
                    <a:p>
                      <a:pPr>
                        <a:buNone/>
                      </a:pPr>
                      <a:r>
                        <a:rPr lang="en-US" sz="1000" dirty="0"/>
                        <a:t>xApps and </a:t>
                      </a:r>
                      <a:r>
                        <a:rPr lang="en-US" sz="1000" dirty="0" err="1"/>
                        <a:t>rApps</a:t>
                      </a:r>
                      <a:endParaRPr lang="en-US" sz="1000" dirty="0"/>
                    </a:p>
                  </a:txBody>
                  <a:tcPr marL="55766" marR="55766" marT="27883" marB="27883" anchor="ctr"/>
                </a:tc>
                <a:extLst>
                  <a:ext uri="{0D108BD9-81ED-4DB2-BD59-A6C34878D82A}">
                    <a16:rowId xmlns:a16="http://schemas.microsoft.com/office/drawing/2014/main" val="1959510894"/>
                  </a:ext>
                </a:extLst>
              </a:tr>
              <a:tr h="540136">
                <a:tc>
                  <a:txBody>
                    <a:bodyPr/>
                    <a:lstStyle/>
                    <a:p>
                      <a:pPr>
                        <a:buNone/>
                      </a:pPr>
                      <a:r>
                        <a:rPr lang="en-US" sz="1000"/>
                        <a:t>Week 1</a:t>
                      </a:r>
                    </a:p>
                  </a:txBody>
                  <a:tcPr marL="55766" marR="55766" marT="27883" marB="27883" anchor="ctr"/>
                </a:tc>
                <a:tc>
                  <a:txBody>
                    <a:bodyPr/>
                    <a:lstStyle/>
                    <a:p>
                      <a:pPr>
                        <a:buNone/>
                      </a:pPr>
                      <a:r>
                        <a:rPr lang="en-US" sz="1000"/>
                        <a:t>SMO Integration</a:t>
                      </a:r>
                    </a:p>
                  </a:txBody>
                  <a:tcPr marL="55766" marR="55766" marT="27883" marB="27883" anchor="ctr"/>
                </a:tc>
                <a:tc>
                  <a:txBody>
                    <a:bodyPr/>
                    <a:lstStyle/>
                    <a:p>
                      <a:pPr>
                        <a:buNone/>
                      </a:pPr>
                      <a:r>
                        <a:rPr lang="en-US" sz="1000"/>
                        <a:t>Integrate with Service Management and Orchestration</a:t>
                      </a:r>
                    </a:p>
                  </a:txBody>
                  <a:tcPr marL="55766" marR="55766" marT="27883" marB="27883" anchor="ctr"/>
                </a:tc>
                <a:tc>
                  <a:txBody>
                    <a:bodyPr/>
                    <a:lstStyle/>
                    <a:p>
                      <a:pPr>
                        <a:buNone/>
                      </a:pPr>
                      <a:r>
                        <a:rPr lang="en-US" sz="1000"/>
                        <a:t>SMO Framework</a:t>
                      </a:r>
                    </a:p>
                  </a:txBody>
                  <a:tcPr marL="55766" marR="55766" marT="27883" marB="27883" anchor="ctr"/>
                </a:tc>
                <a:extLst>
                  <a:ext uri="{0D108BD9-81ED-4DB2-BD59-A6C34878D82A}">
                    <a16:rowId xmlns:a16="http://schemas.microsoft.com/office/drawing/2014/main" val="3609250153"/>
                  </a:ext>
                </a:extLst>
              </a:tr>
              <a:tr h="540136">
                <a:tc>
                  <a:txBody>
                    <a:bodyPr/>
                    <a:lstStyle/>
                    <a:p>
                      <a:pPr>
                        <a:buNone/>
                      </a:pPr>
                      <a:r>
                        <a:rPr lang="en-US" sz="1000"/>
                        <a:t>Week 2</a:t>
                      </a:r>
                    </a:p>
                  </a:txBody>
                  <a:tcPr marL="55766" marR="55766" marT="27883" marB="27883" anchor="ctr"/>
                </a:tc>
                <a:tc>
                  <a:txBody>
                    <a:bodyPr/>
                    <a:lstStyle/>
                    <a:p>
                      <a:pPr>
                        <a:buNone/>
                      </a:pPr>
                      <a:r>
                        <a:rPr lang="en-US" sz="1000"/>
                        <a:t>Closed-Loop Automation</a:t>
                      </a:r>
                    </a:p>
                  </a:txBody>
                  <a:tcPr marL="55766" marR="55766" marT="27883" marB="27883" anchor="ctr"/>
                </a:tc>
                <a:tc>
                  <a:txBody>
                    <a:bodyPr/>
                    <a:lstStyle/>
                    <a:p>
                      <a:pPr>
                        <a:buNone/>
                      </a:pPr>
                      <a:r>
                        <a:rPr lang="en-US" sz="1000"/>
                        <a:t>Implement Observe-Analyze-Predict-Plan-Act-Learn</a:t>
                      </a:r>
                    </a:p>
                  </a:txBody>
                  <a:tcPr marL="55766" marR="55766" marT="27883" marB="27883" anchor="ctr"/>
                </a:tc>
                <a:tc>
                  <a:txBody>
                    <a:bodyPr/>
                    <a:lstStyle/>
                    <a:p>
                      <a:pPr>
                        <a:buNone/>
                      </a:pPr>
                      <a:r>
                        <a:rPr lang="en-US" sz="1000"/>
                        <a:t>Autonomous Loop</a:t>
                      </a:r>
                    </a:p>
                  </a:txBody>
                  <a:tcPr marL="55766" marR="55766" marT="27883" marB="27883" anchor="ctr"/>
                </a:tc>
                <a:extLst>
                  <a:ext uri="{0D108BD9-81ED-4DB2-BD59-A6C34878D82A}">
                    <a16:rowId xmlns:a16="http://schemas.microsoft.com/office/drawing/2014/main" val="1458101091"/>
                  </a:ext>
                </a:extLst>
              </a:tr>
              <a:tr h="540136">
                <a:tc>
                  <a:txBody>
                    <a:bodyPr/>
                    <a:lstStyle/>
                    <a:p>
                      <a:pPr>
                        <a:buNone/>
                      </a:pPr>
                      <a:r>
                        <a:rPr lang="en-US" sz="1000"/>
                        <a:t>Week 2</a:t>
                      </a:r>
                    </a:p>
                  </a:txBody>
                  <a:tcPr marL="55766" marR="55766" marT="27883" marB="27883" anchor="ctr"/>
                </a:tc>
                <a:tc>
                  <a:txBody>
                    <a:bodyPr/>
                    <a:lstStyle/>
                    <a:p>
                      <a:pPr>
                        <a:buNone/>
                      </a:pPr>
                      <a:r>
                        <a:rPr lang="en-US" sz="1000"/>
                        <a:t>KPI Monitoring</a:t>
                      </a:r>
                    </a:p>
                  </a:txBody>
                  <a:tcPr marL="55766" marR="55766" marT="27883" marB="27883" anchor="ctr"/>
                </a:tc>
                <a:tc>
                  <a:txBody>
                    <a:bodyPr/>
                    <a:lstStyle/>
                    <a:p>
                      <a:pPr>
                        <a:buNone/>
                      </a:pPr>
                      <a:r>
                        <a:rPr lang="en-US" sz="1000"/>
                        <a:t>Setup monitoring and observability framework</a:t>
                      </a:r>
                    </a:p>
                  </a:txBody>
                  <a:tcPr marL="55766" marR="55766" marT="27883" marB="27883" anchor="ctr"/>
                </a:tc>
                <a:tc>
                  <a:txBody>
                    <a:bodyPr/>
                    <a:lstStyle/>
                    <a:p>
                      <a:pPr>
                        <a:buNone/>
                      </a:pPr>
                      <a:r>
                        <a:rPr lang="en-US" sz="1000"/>
                        <a:t>Monitoring Dashboard</a:t>
                      </a:r>
                    </a:p>
                  </a:txBody>
                  <a:tcPr marL="55766" marR="55766" marT="27883" marB="27883" anchor="ctr"/>
                </a:tc>
                <a:extLst>
                  <a:ext uri="{0D108BD9-81ED-4DB2-BD59-A6C34878D82A}">
                    <a16:rowId xmlns:a16="http://schemas.microsoft.com/office/drawing/2014/main" val="2054941056"/>
                  </a:ext>
                </a:extLst>
              </a:tr>
              <a:tr h="383322">
                <a:tc>
                  <a:txBody>
                    <a:bodyPr/>
                    <a:lstStyle/>
                    <a:p>
                      <a:pPr>
                        <a:buNone/>
                      </a:pPr>
                      <a:r>
                        <a:rPr lang="en-US" sz="1000"/>
                        <a:t>Week 3</a:t>
                      </a:r>
                    </a:p>
                  </a:txBody>
                  <a:tcPr marL="55766" marR="55766" marT="27883" marB="27883" anchor="ctr"/>
                </a:tc>
                <a:tc>
                  <a:txBody>
                    <a:bodyPr/>
                    <a:lstStyle/>
                    <a:p>
                      <a:pPr>
                        <a:buNone/>
                      </a:pPr>
                      <a:r>
                        <a:rPr lang="en-US" sz="1000"/>
                        <a:t>Benchmarking</a:t>
                      </a:r>
                    </a:p>
                  </a:txBody>
                  <a:tcPr marL="55766" marR="55766" marT="27883" marB="27883" anchor="ctr"/>
                </a:tc>
                <a:tc>
                  <a:txBody>
                    <a:bodyPr/>
                    <a:lstStyle/>
                    <a:p>
                      <a:pPr>
                        <a:buNone/>
                      </a:pPr>
                      <a:r>
                        <a:rPr lang="en-US" sz="1000"/>
                        <a:t>Compare with PF, RR, SON, Static Allocation</a:t>
                      </a:r>
                    </a:p>
                  </a:txBody>
                  <a:tcPr marL="55766" marR="55766" marT="27883" marB="27883" anchor="ctr"/>
                </a:tc>
                <a:tc>
                  <a:txBody>
                    <a:bodyPr/>
                    <a:lstStyle/>
                    <a:p>
                      <a:pPr>
                        <a:buNone/>
                      </a:pPr>
                      <a:r>
                        <a:rPr lang="en-US" sz="1000"/>
                        <a:t>Benchmark Report</a:t>
                      </a:r>
                    </a:p>
                  </a:txBody>
                  <a:tcPr marL="55766" marR="55766" marT="27883" marB="27883" anchor="ctr"/>
                </a:tc>
                <a:extLst>
                  <a:ext uri="{0D108BD9-81ED-4DB2-BD59-A6C34878D82A}">
                    <a16:rowId xmlns:a16="http://schemas.microsoft.com/office/drawing/2014/main" val="2181250259"/>
                  </a:ext>
                </a:extLst>
              </a:tr>
              <a:tr h="383322">
                <a:tc>
                  <a:txBody>
                    <a:bodyPr/>
                    <a:lstStyle/>
                    <a:p>
                      <a:pPr>
                        <a:buNone/>
                      </a:pPr>
                      <a:r>
                        <a:rPr lang="en-US" sz="1000"/>
                        <a:t>Week 3</a:t>
                      </a:r>
                    </a:p>
                  </a:txBody>
                  <a:tcPr marL="55766" marR="55766" marT="27883" marB="27883" anchor="ctr"/>
                </a:tc>
                <a:tc>
                  <a:txBody>
                    <a:bodyPr/>
                    <a:lstStyle/>
                    <a:p>
                      <a:pPr>
                        <a:buNone/>
                      </a:pPr>
                      <a:r>
                        <a:rPr lang="en-US" sz="1000"/>
                        <a:t>Performance Testing</a:t>
                      </a:r>
                    </a:p>
                  </a:txBody>
                  <a:tcPr marL="55766" marR="55766" marT="27883" marB="27883" anchor="ctr"/>
                </a:tc>
                <a:tc>
                  <a:txBody>
                    <a:bodyPr/>
                    <a:lstStyle/>
                    <a:p>
                      <a:pPr>
                        <a:buNone/>
                      </a:pPr>
                      <a:r>
                        <a:rPr lang="en-US" sz="1000"/>
                        <a:t>Stress Testing and Scalability Validation</a:t>
                      </a:r>
                    </a:p>
                  </a:txBody>
                  <a:tcPr marL="55766" marR="55766" marT="27883" marB="27883" anchor="ctr"/>
                </a:tc>
                <a:tc>
                  <a:txBody>
                    <a:bodyPr/>
                    <a:lstStyle/>
                    <a:p>
                      <a:pPr>
                        <a:buNone/>
                      </a:pPr>
                      <a:r>
                        <a:rPr lang="en-US" sz="1000"/>
                        <a:t>Performance Report</a:t>
                      </a:r>
                    </a:p>
                  </a:txBody>
                  <a:tcPr marL="55766" marR="55766" marT="27883" marB="27883" anchor="ctr"/>
                </a:tc>
                <a:extLst>
                  <a:ext uri="{0D108BD9-81ED-4DB2-BD59-A6C34878D82A}">
                    <a16:rowId xmlns:a16="http://schemas.microsoft.com/office/drawing/2014/main" val="2075220292"/>
                  </a:ext>
                </a:extLst>
              </a:tr>
              <a:tr h="540136">
                <a:tc>
                  <a:txBody>
                    <a:bodyPr/>
                    <a:lstStyle/>
                    <a:p>
                      <a:pPr>
                        <a:buNone/>
                      </a:pPr>
                      <a:r>
                        <a:rPr lang="en-US" sz="1000"/>
                        <a:t>Week 4</a:t>
                      </a:r>
                    </a:p>
                  </a:txBody>
                  <a:tcPr marL="55766" marR="55766" marT="27883" marB="27883" anchor="ctr"/>
                </a:tc>
                <a:tc>
                  <a:txBody>
                    <a:bodyPr/>
                    <a:lstStyle/>
                    <a:p>
                      <a:pPr>
                        <a:buNone/>
                      </a:pPr>
                      <a:r>
                        <a:rPr lang="en-US" sz="1000"/>
                        <a:t>Final Demonstration</a:t>
                      </a:r>
                    </a:p>
                  </a:txBody>
                  <a:tcPr marL="55766" marR="55766" marT="27883" marB="27883" anchor="ctr"/>
                </a:tc>
                <a:tc>
                  <a:txBody>
                    <a:bodyPr/>
                    <a:lstStyle/>
                    <a:p>
                      <a:pPr>
                        <a:buNone/>
                      </a:pPr>
                      <a:r>
                        <a:rPr lang="en-US" sz="1000"/>
                        <a:t>End-to-End Autonomous Network Demo</a:t>
                      </a:r>
                    </a:p>
                  </a:txBody>
                  <a:tcPr marL="55766" marR="55766" marT="27883" marB="27883" anchor="ctr"/>
                </a:tc>
                <a:tc>
                  <a:txBody>
                    <a:bodyPr/>
                    <a:lstStyle/>
                    <a:p>
                      <a:pPr>
                        <a:buNone/>
                      </a:pPr>
                      <a:r>
                        <a:rPr lang="en-US" sz="1000"/>
                        <a:t>Demo Platform</a:t>
                      </a:r>
                    </a:p>
                  </a:txBody>
                  <a:tcPr marL="55766" marR="55766" marT="27883" marB="27883" anchor="ctr"/>
                </a:tc>
                <a:extLst>
                  <a:ext uri="{0D108BD9-81ED-4DB2-BD59-A6C34878D82A}">
                    <a16:rowId xmlns:a16="http://schemas.microsoft.com/office/drawing/2014/main" val="1760997993"/>
                  </a:ext>
                </a:extLst>
              </a:tr>
              <a:tr h="383322">
                <a:tc>
                  <a:txBody>
                    <a:bodyPr/>
                    <a:lstStyle/>
                    <a:p>
                      <a:pPr>
                        <a:buNone/>
                      </a:pPr>
                      <a:r>
                        <a:rPr lang="en-US" sz="1000"/>
                        <a:t>Week 4</a:t>
                      </a:r>
                    </a:p>
                  </a:txBody>
                  <a:tcPr marL="55766" marR="55766" marT="27883" marB="27883" anchor="ctr"/>
                </a:tc>
                <a:tc>
                  <a:txBody>
                    <a:bodyPr/>
                    <a:lstStyle/>
                    <a:p>
                      <a:pPr>
                        <a:buNone/>
                      </a:pPr>
                      <a:r>
                        <a:rPr lang="en-US" sz="1000"/>
                        <a:t>Documentation &amp; Publication</a:t>
                      </a:r>
                    </a:p>
                  </a:txBody>
                  <a:tcPr marL="55766" marR="55766" marT="27883" marB="27883" anchor="ctr"/>
                </a:tc>
                <a:tc>
                  <a:txBody>
                    <a:bodyPr/>
                    <a:lstStyle/>
                    <a:p>
                      <a:pPr>
                        <a:buNone/>
                      </a:pPr>
                      <a:r>
                        <a:rPr lang="en-US" sz="1000"/>
                        <a:t>Prepare paper, patent, whitepaper</a:t>
                      </a:r>
                    </a:p>
                  </a:txBody>
                  <a:tcPr marL="55766" marR="55766" marT="27883" marB="27883" anchor="ctr"/>
                </a:tc>
                <a:tc>
                  <a:txBody>
                    <a:bodyPr/>
                    <a:lstStyle/>
                    <a:p>
                      <a:pPr>
                        <a:buNone/>
                      </a:pPr>
                      <a:r>
                        <a:rPr lang="en-US" sz="1000" dirty="0"/>
                        <a:t>Final Report</a:t>
                      </a:r>
                    </a:p>
                  </a:txBody>
                  <a:tcPr marL="55766" marR="55766" marT="27883" marB="27883" anchor="ctr"/>
                </a:tc>
                <a:extLst>
                  <a:ext uri="{0D108BD9-81ED-4DB2-BD59-A6C34878D82A}">
                    <a16:rowId xmlns:a16="http://schemas.microsoft.com/office/drawing/2014/main" val="1826666326"/>
                  </a:ext>
                </a:extLst>
              </a:tr>
            </a:tbl>
          </a:graphicData>
        </a:graphic>
      </p:graphicFrame>
    </p:spTree>
    <p:extLst>
      <p:ext uri="{BB962C8B-B14F-4D97-AF65-F5344CB8AC3E}">
        <p14:creationId xmlns:p14="http://schemas.microsoft.com/office/powerpoint/2010/main" val="417361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26833-6997-0EC3-94AD-96B6BFDF1902}"/>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2A26C1F9-5323-F52B-7B96-1A767452F953}"/>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3FFBD11E-F9B9-B155-1447-C0287725F079}"/>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Month 4 Deliverables</a:t>
            </a:r>
            <a:br>
              <a:rPr lang="en-US" dirty="0"/>
            </a:br>
            <a:endParaRPr lang="en-US" dirty="0"/>
          </a:p>
        </p:txBody>
      </p:sp>
      <p:graphicFrame>
        <p:nvGraphicFramePr>
          <p:cNvPr id="2" name="Table 1">
            <a:extLst>
              <a:ext uri="{FF2B5EF4-FFF2-40B4-BE49-F238E27FC236}">
                <a16:creationId xmlns:a16="http://schemas.microsoft.com/office/drawing/2014/main" id="{14769657-8BEA-C326-B003-EC2393CAAD59}"/>
              </a:ext>
            </a:extLst>
          </p:cNvPr>
          <p:cNvGraphicFramePr>
            <a:graphicFrameLocks noGrp="1"/>
          </p:cNvGraphicFramePr>
          <p:nvPr>
            <p:extLst>
              <p:ext uri="{D42A27DB-BD31-4B8C-83A1-F6EECF244321}">
                <p14:modId xmlns:p14="http://schemas.microsoft.com/office/powerpoint/2010/main" val="2638426820"/>
              </p:ext>
            </p:extLst>
          </p:nvPr>
        </p:nvGraphicFramePr>
        <p:xfrm>
          <a:off x="417531" y="801711"/>
          <a:ext cx="7886700" cy="2080260"/>
        </p:xfrm>
        <a:graphic>
          <a:graphicData uri="http://schemas.openxmlformats.org/drawingml/2006/table">
            <a:tbl>
              <a:tblPr>
                <a:tableStyleId>{0505E3EF-67EA-436B-97B2-0124C06EBD24}</a:tableStyleId>
              </a:tblPr>
              <a:tblGrid>
                <a:gridCol w="3943350">
                  <a:extLst>
                    <a:ext uri="{9D8B030D-6E8A-4147-A177-3AD203B41FA5}">
                      <a16:colId xmlns:a16="http://schemas.microsoft.com/office/drawing/2014/main" val="1872230634"/>
                    </a:ext>
                  </a:extLst>
                </a:gridCol>
                <a:gridCol w="3943350">
                  <a:extLst>
                    <a:ext uri="{9D8B030D-6E8A-4147-A177-3AD203B41FA5}">
                      <a16:colId xmlns:a16="http://schemas.microsoft.com/office/drawing/2014/main" val="1359745689"/>
                    </a:ext>
                  </a:extLst>
                </a:gridCol>
              </a:tblGrid>
              <a:tr h="0">
                <a:tc>
                  <a:txBody>
                    <a:bodyPr/>
                    <a:lstStyle/>
                    <a:p>
                      <a:pPr>
                        <a:buNone/>
                      </a:pPr>
                      <a:r>
                        <a:rPr lang="en-US" b="1"/>
                        <a:t>Deliverable</a:t>
                      </a:r>
                    </a:p>
                  </a:txBody>
                  <a:tcPr anchor="ctr"/>
                </a:tc>
                <a:tc>
                  <a:txBody>
                    <a:bodyPr/>
                    <a:lstStyle/>
                    <a:p>
                      <a:pPr>
                        <a:buNone/>
                      </a:pPr>
                      <a:r>
                        <a:rPr lang="en-US" b="1" dirty="0"/>
                        <a:t>Description</a:t>
                      </a:r>
                    </a:p>
                  </a:txBody>
                  <a:tcPr anchor="ctr"/>
                </a:tc>
                <a:extLst>
                  <a:ext uri="{0D108BD9-81ED-4DB2-BD59-A6C34878D82A}">
                    <a16:rowId xmlns:a16="http://schemas.microsoft.com/office/drawing/2014/main" val="208070122"/>
                  </a:ext>
                </a:extLst>
              </a:tr>
              <a:tr h="0">
                <a:tc>
                  <a:txBody>
                    <a:bodyPr/>
                    <a:lstStyle/>
                    <a:p>
                      <a:pPr>
                        <a:buNone/>
                      </a:pPr>
                      <a:r>
                        <a:rPr lang="en-US"/>
                        <a:t>O-RAN xApps</a:t>
                      </a:r>
                    </a:p>
                  </a:txBody>
                  <a:tcPr anchor="ctr"/>
                </a:tc>
                <a:tc>
                  <a:txBody>
                    <a:bodyPr/>
                    <a:lstStyle/>
                    <a:p>
                      <a:pPr>
                        <a:buNone/>
                      </a:pPr>
                      <a:r>
                        <a:rPr lang="en-US"/>
                        <a:t>Scheduler, Resource, Mobility, Security xApps</a:t>
                      </a:r>
                    </a:p>
                  </a:txBody>
                  <a:tcPr anchor="ctr"/>
                </a:tc>
                <a:extLst>
                  <a:ext uri="{0D108BD9-81ED-4DB2-BD59-A6C34878D82A}">
                    <a16:rowId xmlns:a16="http://schemas.microsoft.com/office/drawing/2014/main" val="3640915016"/>
                  </a:ext>
                </a:extLst>
              </a:tr>
              <a:tr h="0">
                <a:tc>
                  <a:txBody>
                    <a:bodyPr/>
                    <a:lstStyle/>
                    <a:p>
                      <a:pPr>
                        <a:buNone/>
                      </a:pPr>
                      <a:r>
                        <a:rPr lang="en-US"/>
                        <a:t>O-RAN rApps</a:t>
                      </a:r>
                    </a:p>
                  </a:txBody>
                  <a:tcPr anchor="ctr"/>
                </a:tc>
                <a:tc>
                  <a:txBody>
                    <a:bodyPr/>
                    <a:lstStyle/>
                    <a:p>
                      <a:pPr>
                        <a:buNone/>
                      </a:pPr>
                      <a:r>
                        <a:rPr lang="en-US"/>
                        <a:t>AI Model Management, Analytics</a:t>
                      </a:r>
                    </a:p>
                  </a:txBody>
                  <a:tcPr anchor="ctr"/>
                </a:tc>
                <a:extLst>
                  <a:ext uri="{0D108BD9-81ED-4DB2-BD59-A6C34878D82A}">
                    <a16:rowId xmlns:a16="http://schemas.microsoft.com/office/drawing/2014/main" val="2921525837"/>
                  </a:ext>
                </a:extLst>
              </a:tr>
              <a:tr h="0">
                <a:tc>
                  <a:txBody>
                    <a:bodyPr/>
                    <a:lstStyle/>
                    <a:p>
                      <a:pPr>
                        <a:buNone/>
                      </a:pPr>
                      <a:r>
                        <a:rPr lang="en-US"/>
                        <a:t>Autonomous Platform</a:t>
                      </a:r>
                    </a:p>
                  </a:txBody>
                  <a:tcPr anchor="ctr"/>
                </a:tc>
                <a:tc>
                  <a:txBody>
                    <a:bodyPr/>
                    <a:lstStyle/>
                    <a:p>
                      <a:pPr>
                        <a:buNone/>
                      </a:pPr>
                      <a:r>
                        <a:rPr lang="en-US"/>
                        <a:t>Closed-Loop AI-Native RAN</a:t>
                      </a:r>
                    </a:p>
                  </a:txBody>
                  <a:tcPr anchor="ctr"/>
                </a:tc>
                <a:extLst>
                  <a:ext uri="{0D108BD9-81ED-4DB2-BD59-A6C34878D82A}">
                    <a16:rowId xmlns:a16="http://schemas.microsoft.com/office/drawing/2014/main" val="283167270"/>
                  </a:ext>
                </a:extLst>
              </a:tr>
              <a:tr h="0">
                <a:tc>
                  <a:txBody>
                    <a:bodyPr/>
                    <a:lstStyle/>
                    <a:p>
                      <a:pPr>
                        <a:buNone/>
                      </a:pPr>
                      <a:r>
                        <a:rPr lang="en-US"/>
                        <a:t>Benchmarking Report</a:t>
                      </a:r>
                    </a:p>
                  </a:txBody>
                  <a:tcPr anchor="ctr"/>
                </a:tc>
                <a:tc>
                  <a:txBody>
                    <a:bodyPr/>
                    <a:lstStyle/>
                    <a:p>
                      <a:pPr>
                        <a:buNone/>
                      </a:pPr>
                      <a:r>
                        <a:rPr lang="en-US"/>
                        <a:t>KPI Comparison Results</a:t>
                      </a:r>
                    </a:p>
                  </a:txBody>
                  <a:tcPr anchor="ctr"/>
                </a:tc>
                <a:extLst>
                  <a:ext uri="{0D108BD9-81ED-4DB2-BD59-A6C34878D82A}">
                    <a16:rowId xmlns:a16="http://schemas.microsoft.com/office/drawing/2014/main" val="1864269376"/>
                  </a:ext>
                </a:extLst>
              </a:tr>
              <a:tr h="0">
                <a:tc>
                  <a:txBody>
                    <a:bodyPr/>
                    <a:lstStyle/>
                    <a:p>
                      <a:pPr>
                        <a:buNone/>
                      </a:pPr>
                      <a:r>
                        <a:rPr lang="en-US"/>
                        <a:t>Final Demonstration</a:t>
                      </a:r>
                    </a:p>
                  </a:txBody>
                  <a:tcPr anchor="ctr"/>
                </a:tc>
                <a:tc>
                  <a:txBody>
                    <a:bodyPr/>
                    <a:lstStyle/>
                    <a:p>
                      <a:pPr>
                        <a:buNone/>
                      </a:pPr>
                      <a:r>
                        <a:rPr lang="en-US"/>
                        <a:t>End-to-End Working System</a:t>
                      </a:r>
                    </a:p>
                  </a:txBody>
                  <a:tcPr anchor="ctr"/>
                </a:tc>
                <a:extLst>
                  <a:ext uri="{0D108BD9-81ED-4DB2-BD59-A6C34878D82A}">
                    <a16:rowId xmlns:a16="http://schemas.microsoft.com/office/drawing/2014/main" val="2821924165"/>
                  </a:ext>
                </a:extLst>
              </a:tr>
              <a:tr h="0">
                <a:tc>
                  <a:txBody>
                    <a:bodyPr/>
                    <a:lstStyle/>
                    <a:p>
                      <a:pPr>
                        <a:buNone/>
                      </a:pPr>
                      <a:r>
                        <a:rPr lang="en-US"/>
                        <a:t>Research Publications</a:t>
                      </a:r>
                    </a:p>
                  </a:txBody>
                  <a:tcPr anchor="ctr"/>
                </a:tc>
                <a:tc>
                  <a:txBody>
                    <a:bodyPr/>
                    <a:lstStyle/>
                    <a:p>
                      <a:pPr>
                        <a:buNone/>
                      </a:pPr>
                      <a:r>
                        <a:rPr lang="en-US" dirty="0"/>
                        <a:t>Paper, Patent, Whitepaper</a:t>
                      </a:r>
                    </a:p>
                  </a:txBody>
                  <a:tcPr anchor="ctr"/>
                </a:tc>
                <a:extLst>
                  <a:ext uri="{0D108BD9-81ED-4DB2-BD59-A6C34878D82A}">
                    <a16:rowId xmlns:a16="http://schemas.microsoft.com/office/drawing/2014/main" val="1003654438"/>
                  </a:ext>
                </a:extLst>
              </a:tr>
            </a:tbl>
          </a:graphicData>
        </a:graphic>
      </p:graphicFrame>
    </p:spTree>
    <p:extLst>
      <p:ext uri="{BB962C8B-B14F-4D97-AF65-F5344CB8AC3E}">
        <p14:creationId xmlns:p14="http://schemas.microsoft.com/office/powerpoint/2010/main" val="3702612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FE5F0-BAE1-F818-D732-D43C9825FE24}"/>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AD26E273-C14B-86FA-F8B0-2E76CB03508A}"/>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B954C227-2D0B-2C9F-2120-62BEF101FE1C}"/>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End-to-End Workflow Table</a:t>
            </a:r>
            <a:br>
              <a:rPr lang="en-US" dirty="0"/>
            </a:br>
            <a:endParaRPr lang="en-US" dirty="0"/>
          </a:p>
        </p:txBody>
      </p:sp>
      <p:graphicFrame>
        <p:nvGraphicFramePr>
          <p:cNvPr id="2" name="Table 1">
            <a:extLst>
              <a:ext uri="{FF2B5EF4-FFF2-40B4-BE49-F238E27FC236}">
                <a16:creationId xmlns:a16="http://schemas.microsoft.com/office/drawing/2014/main" id="{931B268D-513B-D62B-82AC-C0D09810C495}"/>
              </a:ext>
            </a:extLst>
          </p:cNvPr>
          <p:cNvGraphicFramePr>
            <a:graphicFrameLocks noGrp="1"/>
          </p:cNvGraphicFramePr>
          <p:nvPr>
            <p:extLst>
              <p:ext uri="{D42A27DB-BD31-4B8C-83A1-F6EECF244321}">
                <p14:modId xmlns:p14="http://schemas.microsoft.com/office/powerpoint/2010/main" val="771977267"/>
              </p:ext>
            </p:extLst>
          </p:nvPr>
        </p:nvGraphicFramePr>
        <p:xfrm>
          <a:off x="498021" y="587829"/>
          <a:ext cx="8228312" cy="4088634"/>
        </p:xfrm>
        <a:graphic>
          <a:graphicData uri="http://schemas.openxmlformats.org/drawingml/2006/table">
            <a:tbl>
              <a:tblPr>
                <a:tableStyleId>{C4B1156A-380E-4F78-BDF5-A606A8083BF9}</a:tableStyleId>
              </a:tblPr>
              <a:tblGrid>
                <a:gridCol w="2057078">
                  <a:extLst>
                    <a:ext uri="{9D8B030D-6E8A-4147-A177-3AD203B41FA5}">
                      <a16:colId xmlns:a16="http://schemas.microsoft.com/office/drawing/2014/main" val="754505506"/>
                    </a:ext>
                  </a:extLst>
                </a:gridCol>
                <a:gridCol w="2057078">
                  <a:extLst>
                    <a:ext uri="{9D8B030D-6E8A-4147-A177-3AD203B41FA5}">
                      <a16:colId xmlns:a16="http://schemas.microsoft.com/office/drawing/2014/main" val="45723379"/>
                    </a:ext>
                  </a:extLst>
                </a:gridCol>
                <a:gridCol w="2057078">
                  <a:extLst>
                    <a:ext uri="{9D8B030D-6E8A-4147-A177-3AD203B41FA5}">
                      <a16:colId xmlns:a16="http://schemas.microsoft.com/office/drawing/2014/main" val="433811342"/>
                    </a:ext>
                  </a:extLst>
                </a:gridCol>
                <a:gridCol w="2057078">
                  <a:extLst>
                    <a:ext uri="{9D8B030D-6E8A-4147-A177-3AD203B41FA5}">
                      <a16:colId xmlns:a16="http://schemas.microsoft.com/office/drawing/2014/main" val="655130776"/>
                    </a:ext>
                  </a:extLst>
                </a:gridCol>
              </a:tblGrid>
              <a:tr h="239101">
                <a:tc>
                  <a:txBody>
                    <a:bodyPr/>
                    <a:lstStyle/>
                    <a:p>
                      <a:pPr>
                        <a:buNone/>
                      </a:pPr>
                      <a:r>
                        <a:rPr lang="en-US" sz="1000" b="1"/>
                        <a:t>Phase</a:t>
                      </a:r>
                    </a:p>
                  </a:txBody>
                  <a:tcPr marL="58780" marR="58780" marT="29390" marB="29390" anchor="ctr"/>
                </a:tc>
                <a:tc>
                  <a:txBody>
                    <a:bodyPr/>
                    <a:lstStyle/>
                    <a:p>
                      <a:pPr>
                        <a:buNone/>
                      </a:pPr>
                      <a:r>
                        <a:rPr lang="en-US" sz="1000" b="1"/>
                        <a:t>Input</a:t>
                      </a:r>
                    </a:p>
                  </a:txBody>
                  <a:tcPr marL="58780" marR="58780" marT="29390" marB="29390" anchor="ctr"/>
                </a:tc>
                <a:tc>
                  <a:txBody>
                    <a:bodyPr/>
                    <a:lstStyle/>
                    <a:p>
                      <a:pPr>
                        <a:buNone/>
                      </a:pPr>
                      <a:r>
                        <a:rPr lang="en-US" sz="1000" b="1"/>
                        <a:t>Processing</a:t>
                      </a:r>
                    </a:p>
                  </a:txBody>
                  <a:tcPr marL="58780" marR="58780" marT="29390" marB="29390" anchor="ctr"/>
                </a:tc>
                <a:tc>
                  <a:txBody>
                    <a:bodyPr/>
                    <a:lstStyle/>
                    <a:p>
                      <a:pPr>
                        <a:buNone/>
                      </a:pPr>
                      <a:r>
                        <a:rPr lang="en-US" sz="1000" b="1" dirty="0"/>
                        <a:t>Output</a:t>
                      </a:r>
                    </a:p>
                  </a:txBody>
                  <a:tcPr marL="58780" marR="58780" marT="29390" marB="29390" anchor="ctr"/>
                </a:tc>
                <a:extLst>
                  <a:ext uri="{0D108BD9-81ED-4DB2-BD59-A6C34878D82A}">
                    <a16:rowId xmlns:a16="http://schemas.microsoft.com/office/drawing/2014/main" val="3961981209"/>
                  </a:ext>
                </a:extLst>
              </a:tr>
              <a:tr h="406474">
                <a:tc>
                  <a:txBody>
                    <a:bodyPr/>
                    <a:lstStyle/>
                    <a:p>
                      <a:pPr>
                        <a:buNone/>
                      </a:pPr>
                      <a:r>
                        <a:rPr lang="en-US" sz="1000"/>
                        <a:t>Requirements Definition</a:t>
                      </a:r>
                    </a:p>
                  </a:txBody>
                  <a:tcPr marL="58780" marR="58780" marT="29390" marB="29390" anchor="ctr"/>
                </a:tc>
                <a:tc>
                  <a:txBody>
                    <a:bodyPr/>
                    <a:lstStyle/>
                    <a:p>
                      <a:pPr>
                        <a:buNone/>
                      </a:pPr>
                      <a:r>
                        <a:rPr lang="en-US" sz="1000"/>
                        <a:t>Use Cases, KPIs</a:t>
                      </a:r>
                    </a:p>
                  </a:txBody>
                  <a:tcPr marL="58780" marR="58780" marT="29390" marB="29390" anchor="ctr"/>
                </a:tc>
                <a:tc>
                  <a:txBody>
                    <a:bodyPr/>
                    <a:lstStyle/>
                    <a:p>
                      <a:pPr>
                        <a:buNone/>
                      </a:pPr>
                      <a:r>
                        <a:rPr lang="en-US" sz="1000"/>
                        <a:t>Analysis</a:t>
                      </a:r>
                    </a:p>
                  </a:txBody>
                  <a:tcPr marL="58780" marR="58780" marT="29390" marB="29390" anchor="ctr"/>
                </a:tc>
                <a:tc>
                  <a:txBody>
                    <a:bodyPr/>
                    <a:lstStyle/>
                    <a:p>
                      <a:pPr>
                        <a:buNone/>
                      </a:pPr>
                      <a:r>
                        <a:rPr lang="en-US" sz="1000"/>
                        <a:t>Requirements Document</a:t>
                      </a:r>
                    </a:p>
                  </a:txBody>
                  <a:tcPr marL="58780" marR="58780" marT="29390" marB="29390" anchor="ctr"/>
                </a:tc>
                <a:extLst>
                  <a:ext uri="{0D108BD9-81ED-4DB2-BD59-A6C34878D82A}">
                    <a16:rowId xmlns:a16="http://schemas.microsoft.com/office/drawing/2014/main" val="486713201"/>
                  </a:ext>
                </a:extLst>
              </a:tr>
              <a:tr h="406474">
                <a:tc>
                  <a:txBody>
                    <a:bodyPr/>
                    <a:lstStyle/>
                    <a:p>
                      <a:pPr>
                        <a:buNone/>
                      </a:pPr>
                      <a:r>
                        <a:rPr lang="en-US" sz="1000"/>
                        <a:t>Data Collection</a:t>
                      </a:r>
                    </a:p>
                  </a:txBody>
                  <a:tcPr marL="58780" marR="58780" marT="29390" marB="29390" anchor="ctr"/>
                </a:tc>
                <a:tc>
                  <a:txBody>
                    <a:bodyPr/>
                    <a:lstStyle/>
                    <a:p>
                      <a:pPr>
                        <a:buNone/>
                      </a:pPr>
                      <a:r>
                        <a:rPr lang="en-US" sz="1000"/>
                        <a:t>RAN/Core/Security Data</a:t>
                      </a:r>
                    </a:p>
                  </a:txBody>
                  <a:tcPr marL="58780" marR="58780" marT="29390" marB="29390" anchor="ctr"/>
                </a:tc>
                <a:tc>
                  <a:txBody>
                    <a:bodyPr/>
                    <a:lstStyle/>
                    <a:p>
                      <a:pPr>
                        <a:buNone/>
                      </a:pPr>
                      <a:r>
                        <a:rPr lang="en-US" sz="1000"/>
                        <a:t>Collection</a:t>
                      </a:r>
                    </a:p>
                  </a:txBody>
                  <a:tcPr marL="58780" marR="58780" marT="29390" marB="29390" anchor="ctr"/>
                </a:tc>
                <a:tc>
                  <a:txBody>
                    <a:bodyPr/>
                    <a:lstStyle/>
                    <a:p>
                      <a:pPr>
                        <a:buNone/>
                      </a:pPr>
                      <a:r>
                        <a:rPr lang="en-US" sz="1000"/>
                        <a:t>Raw Dataset</a:t>
                      </a:r>
                    </a:p>
                  </a:txBody>
                  <a:tcPr marL="58780" marR="58780" marT="29390" marB="29390" anchor="ctr"/>
                </a:tc>
                <a:extLst>
                  <a:ext uri="{0D108BD9-81ED-4DB2-BD59-A6C34878D82A}">
                    <a16:rowId xmlns:a16="http://schemas.microsoft.com/office/drawing/2014/main" val="319158266"/>
                  </a:ext>
                </a:extLst>
              </a:tr>
              <a:tr h="239101">
                <a:tc>
                  <a:txBody>
                    <a:bodyPr/>
                    <a:lstStyle/>
                    <a:p>
                      <a:pPr>
                        <a:buNone/>
                      </a:pPr>
                      <a:r>
                        <a:rPr lang="en-US" sz="1000"/>
                        <a:t>Data Engineering</a:t>
                      </a:r>
                    </a:p>
                  </a:txBody>
                  <a:tcPr marL="58780" marR="58780" marT="29390" marB="29390" anchor="ctr"/>
                </a:tc>
                <a:tc>
                  <a:txBody>
                    <a:bodyPr/>
                    <a:lstStyle/>
                    <a:p>
                      <a:pPr>
                        <a:buNone/>
                      </a:pPr>
                      <a:r>
                        <a:rPr lang="en-US" sz="1000"/>
                        <a:t>Raw Dataset</a:t>
                      </a:r>
                    </a:p>
                  </a:txBody>
                  <a:tcPr marL="58780" marR="58780" marT="29390" marB="29390" anchor="ctr"/>
                </a:tc>
                <a:tc>
                  <a:txBody>
                    <a:bodyPr/>
                    <a:lstStyle/>
                    <a:p>
                      <a:pPr>
                        <a:buNone/>
                      </a:pPr>
                      <a:r>
                        <a:rPr lang="en-US" sz="1000"/>
                        <a:t>Cleaning, Labeling</a:t>
                      </a:r>
                    </a:p>
                  </a:txBody>
                  <a:tcPr marL="58780" marR="58780" marT="29390" marB="29390" anchor="ctr"/>
                </a:tc>
                <a:tc>
                  <a:txBody>
                    <a:bodyPr/>
                    <a:lstStyle/>
                    <a:p>
                      <a:pPr>
                        <a:buNone/>
                      </a:pPr>
                      <a:r>
                        <a:rPr lang="en-US" sz="1000"/>
                        <a:t>Feature Store</a:t>
                      </a:r>
                    </a:p>
                  </a:txBody>
                  <a:tcPr marL="58780" marR="58780" marT="29390" marB="29390" anchor="ctr"/>
                </a:tc>
                <a:extLst>
                  <a:ext uri="{0D108BD9-81ED-4DB2-BD59-A6C34878D82A}">
                    <a16:rowId xmlns:a16="http://schemas.microsoft.com/office/drawing/2014/main" val="21405590"/>
                  </a:ext>
                </a:extLst>
              </a:tr>
              <a:tr h="239101">
                <a:tc>
                  <a:txBody>
                    <a:bodyPr/>
                    <a:lstStyle/>
                    <a:p>
                      <a:pPr>
                        <a:buNone/>
                      </a:pPr>
                      <a:r>
                        <a:rPr lang="en-US" sz="1000"/>
                        <a:t>Knowledge Graph</a:t>
                      </a:r>
                    </a:p>
                  </a:txBody>
                  <a:tcPr marL="58780" marR="58780" marT="29390" marB="29390" anchor="ctr"/>
                </a:tc>
                <a:tc>
                  <a:txBody>
                    <a:bodyPr/>
                    <a:lstStyle/>
                    <a:p>
                      <a:pPr>
                        <a:buNone/>
                      </a:pPr>
                      <a:r>
                        <a:rPr lang="en-US" sz="1000"/>
                        <a:t>Feature Data</a:t>
                      </a:r>
                    </a:p>
                  </a:txBody>
                  <a:tcPr marL="58780" marR="58780" marT="29390" marB="29390" anchor="ctr"/>
                </a:tc>
                <a:tc>
                  <a:txBody>
                    <a:bodyPr/>
                    <a:lstStyle/>
                    <a:p>
                      <a:pPr>
                        <a:buNone/>
                      </a:pPr>
                      <a:r>
                        <a:rPr lang="en-US" sz="1000"/>
                        <a:t>Ontology Creation</a:t>
                      </a:r>
                    </a:p>
                  </a:txBody>
                  <a:tcPr marL="58780" marR="58780" marT="29390" marB="29390" anchor="ctr"/>
                </a:tc>
                <a:tc>
                  <a:txBody>
                    <a:bodyPr/>
                    <a:lstStyle/>
                    <a:p>
                      <a:pPr>
                        <a:buNone/>
                      </a:pPr>
                      <a:r>
                        <a:rPr lang="en-US" sz="1000"/>
                        <a:t>Telecom KG</a:t>
                      </a:r>
                    </a:p>
                  </a:txBody>
                  <a:tcPr marL="58780" marR="58780" marT="29390" marB="29390" anchor="ctr"/>
                </a:tc>
                <a:extLst>
                  <a:ext uri="{0D108BD9-81ED-4DB2-BD59-A6C34878D82A}">
                    <a16:rowId xmlns:a16="http://schemas.microsoft.com/office/drawing/2014/main" val="3830807373"/>
                  </a:ext>
                </a:extLst>
              </a:tr>
              <a:tr h="239101">
                <a:tc>
                  <a:txBody>
                    <a:bodyPr/>
                    <a:lstStyle/>
                    <a:p>
                      <a:pPr>
                        <a:buNone/>
                      </a:pPr>
                      <a:r>
                        <a:rPr lang="en-US" sz="1000"/>
                        <a:t>Digital Twin</a:t>
                      </a:r>
                    </a:p>
                  </a:txBody>
                  <a:tcPr marL="58780" marR="58780" marT="29390" marB="29390" anchor="ctr"/>
                </a:tc>
                <a:tc>
                  <a:txBody>
                    <a:bodyPr/>
                    <a:lstStyle/>
                    <a:p>
                      <a:pPr>
                        <a:buNone/>
                      </a:pPr>
                      <a:r>
                        <a:rPr lang="en-US" sz="1000"/>
                        <a:t>Network Data</a:t>
                      </a:r>
                    </a:p>
                  </a:txBody>
                  <a:tcPr marL="58780" marR="58780" marT="29390" marB="29390" anchor="ctr"/>
                </a:tc>
                <a:tc>
                  <a:txBody>
                    <a:bodyPr/>
                    <a:lstStyle/>
                    <a:p>
                      <a:pPr>
                        <a:buNone/>
                      </a:pPr>
                      <a:r>
                        <a:rPr lang="en-US" sz="1000"/>
                        <a:t>Virtual Modeling</a:t>
                      </a:r>
                    </a:p>
                  </a:txBody>
                  <a:tcPr marL="58780" marR="58780" marT="29390" marB="29390" anchor="ctr"/>
                </a:tc>
                <a:tc>
                  <a:txBody>
                    <a:bodyPr/>
                    <a:lstStyle/>
                    <a:p>
                      <a:pPr>
                        <a:buNone/>
                      </a:pPr>
                      <a:r>
                        <a:rPr lang="en-US" sz="1000"/>
                        <a:t>Twin Environment</a:t>
                      </a:r>
                    </a:p>
                  </a:txBody>
                  <a:tcPr marL="58780" marR="58780" marT="29390" marB="29390" anchor="ctr"/>
                </a:tc>
                <a:extLst>
                  <a:ext uri="{0D108BD9-81ED-4DB2-BD59-A6C34878D82A}">
                    <a16:rowId xmlns:a16="http://schemas.microsoft.com/office/drawing/2014/main" val="3623090888"/>
                  </a:ext>
                </a:extLst>
              </a:tr>
              <a:tr h="239101">
                <a:tc>
                  <a:txBody>
                    <a:bodyPr/>
                    <a:lstStyle/>
                    <a:p>
                      <a:pPr>
                        <a:buNone/>
                      </a:pPr>
                      <a:r>
                        <a:rPr lang="en-US" sz="1000"/>
                        <a:t>Scheduler Agent</a:t>
                      </a:r>
                    </a:p>
                  </a:txBody>
                  <a:tcPr marL="58780" marR="58780" marT="29390" marB="29390" anchor="ctr"/>
                </a:tc>
                <a:tc>
                  <a:txBody>
                    <a:bodyPr/>
                    <a:lstStyle/>
                    <a:p>
                      <a:pPr>
                        <a:buNone/>
                      </a:pPr>
                      <a:r>
                        <a:rPr lang="en-US" sz="1000"/>
                        <a:t>CQI, SINR</a:t>
                      </a:r>
                    </a:p>
                  </a:txBody>
                  <a:tcPr marL="58780" marR="58780" marT="29390" marB="29390" anchor="ctr"/>
                </a:tc>
                <a:tc>
                  <a:txBody>
                    <a:bodyPr/>
                    <a:lstStyle/>
                    <a:p>
                      <a:pPr>
                        <a:buNone/>
                      </a:pPr>
                      <a:r>
                        <a:rPr lang="en-US" sz="1000"/>
                        <a:t>RL Training</a:t>
                      </a:r>
                    </a:p>
                  </a:txBody>
                  <a:tcPr marL="58780" marR="58780" marT="29390" marB="29390" anchor="ctr"/>
                </a:tc>
                <a:tc>
                  <a:txBody>
                    <a:bodyPr/>
                    <a:lstStyle/>
                    <a:p>
                      <a:pPr>
                        <a:buNone/>
                      </a:pPr>
                      <a:r>
                        <a:rPr lang="en-US" sz="1000"/>
                        <a:t>Scheduling Policy</a:t>
                      </a:r>
                    </a:p>
                  </a:txBody>
                  <a:tcPr marL="58780" marR="58780" marT="29390" marB="29390" anchor="ctr"/>
                </a:tc>
                <a:extLst>
                  <a:ext uri="{0D108BD9-81ED-4DB2-BD59-A6C34878D82A}">
                    <a16:rowId xmlns:a16="http://schemas.microsoft.com/office/drawing/2014/main" val="1606152679"/>
                  </a:ext>
                </a:extLst>
              </a:tr>
              <a:tr h="239101">
                <a:tc>
                  <a:txBody>
                    <a:bodyPr/>
                    <a:lstStyle/>
                    <a:p>
                      <a:pPr>
                        <a:buNone/>
                      </a:pPr>
                      <a:r>
                        <a:rPr lang="en-US" sz="1000"/>
                        <a:t>Resource Agent</a:t>
                      </a:r>
                    </a:p>
                  </a:txBody>
                  <a:tcPr marL="58780" marR="58780" marT="29390" marB="29390" anchor="ctr"/>
                </a:tc>
                <a:tc>
                  <a:txBody>
                    <a:bodyPr/>
                    <a:lstStyle/>
                    <a:p>
                      <a:pPr>
                        <a:buNone/>
                      </a:pPr>
                      <a:r>
                        <a:rPr lang="en-US" sz="1000"/>
                        <a:t>Spectrum Data</a:t>
                      </a:r>
                    </a:p>
                  </a:txBody>
                  <a:tcPr marL="58780" marR="58780" marT="29390" marB="29390" anchor="ctr"/>
                </a:tc>
                <a:tc>
                  <a:txBody>
                    <a:bodyPr/>
                    <a:lstStyle/>
                    <a:p>
                      <a:pPr>
                        <a:buNone/>
                      </a:pPr>
                      <a:r>
                        <a:rPr lang="en-US" sz="1000"/>
                        <a:t>RL Optimization</a:t>
                      </a:r>
                    </a:p>
                  </a:txBody>
                  <a:tcPr marL="58780" marR="58780" marT="29390" marB="29390" anchor="ctr"/>
                </a:tc>
                <a:tc>
                  <a:txBody>
                    <a:bodyPr/>
                    <a:lstStyle/>
                    <a:p>
                      <a:pPr>
                        <a:buNone/>
                      </a:pPr>
                      <a:r>
                        <a:rPr lang="en-US" sz="1000"/>
                        <a:t>Resource Policy</a:t>
                      </a:r>
                    </a:p>
                  </a:txBody>
                  <a:tcPr marL="58780" marR="58780" marT="29390" marB="29390" anchor="ctr"/>
                </a:tc>
                <a:extLst>
                  <a:ext uri="{0D108BD9-81ED-4DB2-BD59-A6C34878D82A}">
                    <a16:rowId xmlns:a16="http://schemas.microsoft.com/office/drawing/2014/main" val="206824238"/>
                  </a:ext>
                </a:extLst>
              </a:tr>
              <a:tr h="239101">
                <a:tc>
                  <a:txBody>
                    <a:bodyPr/>
                    <a:lstStyle/>
                    <a:p>
                      <a:pPr>
                        <a:buNone/>
                      </a:pPr>
                      <a:r>
                        <a:rPr lang="en-US" sz="1000"/>
                        <a:t>Mobility Agent</a:t>
                      </a:r>
                    </a:p>
                  </a:txBody>
                  <a:tcPr marL="58780" marR="58780" marT="29390" marB="29390" anchor="ctr"/>
                </a:tc>
                <a:tc>
                  <a:txBody>
                    <a:bodyPr/>
                    <a:lstStyle/>
                    <a:p>
                      <a:pPr>
                        <a:buNone/>
                      </a:pPr>
                      <a:r>
                        <a:rPr lang="en-US" sz="1000"/>
                        <a:t>Mobility Data</a:t>
                      </a:r>
                    </a:p>
                  </a:txBody>
                  <a:tcPr marL="58780" marR="58780" marT="29390" marB="29390" anchor="ctr"/>
                </a:tc>
                <a:tc>
                  <a:txBody>
                    <a:bodyPr/>
                    <a:lstStyle/>
                    <a:p>
                      <a:pPr>
                        <a:buNone/>
                      </a:pPr>
                      <a:r>
                        <a:rPr lang="en-US" sz="1000"/>
                        <a:t>Prediction Models</a:t>
                      </a:r>
                    </a:p>
                  </a:txBody>
                  <a:tcPr marL="58780" marR="58780" marT="29390" marB="29390" anchor="ctr"/>
                </a:tc>
                <a:tc>
                  <a:txBody>
                    <a:bodyPr/>
                    <a:lstStyle/>
                    <a:p>
                      <a:pPr>
                        <a:buNone/>
                      </a:pPr>
                      <a:r>
                        <a:rPr lang="en-US" sz="1000"/>
                        <a:t>Handover Policy</a:t>
                      </a:r>
                    </a:p>
                  </a:txBody>
                  <a:tcPr marL="58780" marR="58780" marT="29390" marB="29390" anchor="ctr"/>
                </a:tc>
                <a:extLst>
                  <a:ext uri="{0D108BD9-81ED-4DB2-BD59-A6C34878D82A}">
                    <a16:rowId xmlns:a16="http://schemas.microsoft.com/office/drawing/2014/main" val="1950925588"/>
                  </a:ext>
                </a:extLst>
              </a:tr>
              <a:tr h="239101">
                <a:tc>
                  <a:txBody>
                    <a:bodyPr/>
                    <a:lstStyle/>
                    <a:p>
                      <a:pPr>
                        <a:buNone/>
                      </a:pPr>
                      <a:r>
                        <a:rPr lang="en-US" sz="1000"/>
                        <a:t>Security Agent</a:t>
                      </a:r>
                    </a:p>
                  </a:txBody>
                  <a:tcPr marL="58780" marR="58780" marT="29390" marB="29390" anchor="ctr"/>
                </a:tc>
                <a:tc>
                  <a:txBody>
                    <a:bodyPr/>
                    <a:lstStyle/>
                    <a:p>
                      <a:pPr>
                        <a:buNone/>
                      </a:pPr>
                      <a:r>
                        <a:rPr lang="en-US" sz="1000"/>
                        <a:t>Threat Data</a:t>
                      </a:r>
                    </a:p>
                  </a:txBody>
                  <a:tcPr marL="58780" marR="58780" marT="29390" marB="29390" anchor="ctr"/>
                </a:tc>
                <a:tc>
                  <a:txBody>
                    <a:bodyPr/>
                    <a:lstStyle/>
                    <a:p>
                      <a:pPr>
                        <a:buNone/>
                      </a:pPr>
                      <a:r>
                        <a:rPr lang="en-US" sz="1000"/>
                        <a:t>Threat Intelligence</a:t>
                      </a:r>
                    </a:p>
                  </a:txBody>
                  <a:tcPr marL="58780" marR="58780" marT="29390" marB="29390" anchor="ctr"/>
                </a:tc>
                <a:tc>
                  <a:txBody>
                    <a:bodyPr/>
                    <a:lstStyle/>
                    <a:p>
                      <a:pPr>
                        <a:buNone/>
                      </a:pPr>
                      <a:r>
                        <a:rPr lang="en-US" sz="1000"/>
                        <a:t>Security Policy</a:t>
                      </a:r>
                    </a:p>
                  </a:txBody>
                  <a:tcPr marL="58780" marR="58780" marT="29390" marB="29390" anchor="ctr"/>
                </a:tc>
                <a:extLst>
                  <a:ext uri="{0D108BD9-81ED-4DB2-BD59-A6C34878D82A}">
                    <a16:rowId xmlns:a16="http://schemas.microsoft.com/office/drawing/2014/main" val="322767963"/>
                  </a:ext>
                </a:extLst>
              </a:tr>
              <a:tr h="239101">
                <a:tc>
                  <a:txBody>
                    <a:bodyPr/>
                    <a:lstStyle/>
                    <a:p>
                      <a:pPr>
                        <a:buNone/>
                      </a:pPr>
                      <a:r>
                        <a:rPr lang="en-US" sz="1000"/>
                        <a:t>Energy Agent</a:t>
                      </a:r>
                    </a:p>
                  </a:txBody>
                  <a:tcPr marL="58780" marR="58780" marT="29390" marB="29390" anchor="ctr"/>
                </a:tc>
                <a:tc>
                  <a:txBody>
                    <a:bodyPr/>
                    <a:lstStyle/>
                    <a:p>
                      <a:pPr>
                        <a:buNone/>
                      </a:pPr>
                      <a:r>
                        <a:rPr lang="en-US" sz="1000"/>
                        <a:t>Energy Data</a:t>
                      </a:r>
                    </a:p>
                  </a:txBody>
                  <a:tcPr marL="58780" marR="58780" marT="29390" marB="29390" anchor="ctr"/>
                </a:tc>
                <a:tc>
                  <a:txBody>
                    <a:bodyPr/>
                    <a:lstStyle/>
                    <a:p>
                      <a:pPr>
                        <a:buNone/>
                      </a:pPr>
                      <a:r>
                        <a:rPr lang="en-US" sz="1000"/>
                        <a:t>Optimization</a:t>
                      </a:r>
                    </a:p>
                  </a:txBody>
                  <a:tcPr marL="58780" marR="58780" marT="29390" marB="29390" anchor="ctr"/>
                </a:tc>
                <a:tc>
                  <a:txBody>
                    <a:bodyPr/>
                    <a:lstStyle/>
                    <a:p>
                      <a:pPr>
                        <a:buNone/>
                      </a:pPr>
                      <a:r>
                        <a:rPr lang="en-US" sz="1000"/>
                        <a:t>Energy Policy</a:t>
                      </a:r>
                    </a:p>
                  </a:txBody>
                  <a:tcPr marL="58780" marR="58780" marT="29390" marB="29390" anchor="ctr"/>
                </a:tc>
                <a:extLst>
                  <a:ext uri="{0D108BD9-81ED-4DB2-BD59-A6C34878D82A}">
                    <a16:rowId xmlns:a16="http://schemas.microsoft.com/office/drawing/2014/main" val="4123279715"/>
                  </a:ext>
                </a:extLst>
              </a:tr>
              <a:tr h="239101">
                <a:tc>
                  <a:txBody>
                    <a:bodyPr/>
                    <a:lstStyle/>
                    <a:p>
                      <a:pPr>
                        <a:buNone/>
                      </a:pPr>
                      <a:r>
                        <a:rPr lang="en-US" sz="1000"/>
                        <a:t>Multi-Agent Learning</a:t>
                      </a:r>
                    </a:p>
                  </a:txBody>
                  <a:tcPr marL="58780" marR="58780" marT="29390" marB="29390" anchor="ctr"/>
                </a:tc>
                <a:tc>
                  <a:txBody>
                    <a:bodyPr/>
                    <a:lstStyle/>
                    <a:p>
                      <a:pPr>
                        <a:buNone/>
                      </a:pPr>
                      <a:r>
                        <a:rPr lang="en-US" sz="1000"/>
                        <a:t>Agent Outputs</a:t>
                      </a:r>
                    </a:p>
                  </a:txBody>
                  <a:tcPr marL="58780" marR="58780" marT="29390" marB="29390" anchor="ctr"/>
                </a:tc>
                <a:tc>
                  <a:txBody>
                    <a:bodyPr/>
                    <a:lstStyle/>
                    <a:p>
                      <a:pPr>
                        <a:buNone/>
                      </a:pPr>
                      <a:r>
                        <a:rPr lang="en-US" sz="1000"/>
                        <a:t>Collaboration</a:t>
                      </a:r>
                    </a:p>
                  </a:txBody>
                  <a:tcPr marL="58780" marR="58780" marT="29390" marB="29390" anchor="ctr"/>
                </a:tc>
                <a:tc>
                  <a:txBody>
                    <a:bodyPr/>
                    <a:lstStyle/>
                    <a:p>
                      <a:pPr>
                        <a:buNone/>
                      </a:pPr>
                      <a:r>
                        <a:rPr lang="en-US" sz="1000"/>
                        <a:t>Global Policy</a:t>
                      </a:r>
                    </a:p>
                  </a:txBody>
                  <a:tcPr marL="58780" marR="58780" marT="29390" marB="29390" anchor="ctr"/>
                </a:tc>
                <a:extLst>
                  <a:ext uri="{0D108BD9-81ED-4DB2-BD59-A6C34878D82A}">
                    <a16:rowId xmlns:a16="http://schemas.microsoft.com/office/drawing/2014/main" val="1518226430"/>
                  </a:ext>
                </a:extLst>
              </a:tr>
              <a:tr h="239101">
                <a:tc>
                  <a:txBody>
                    <a:bodyPr/>
                    <a:lstStyle/>
                    <a:p>
                      <a:pPr>
                        <a:buNone/>
                      </a:pPr>
                      <a:r>
                        <a:rPr lang="en-US" sz="1000"/>
                        <a:t>Federated Learning</a:t>
                      </a:r>
                    </a:p>
                  </a:txBody>
                  <a:tcPr marL="58780" marR="58780" marT="29390" marB="29390" anchor="ctr"/>
                </a:tc>
                <a:tc>
                  <a:txBody>
                    <a:bodyPr/>
                    <a:lstStyle/>
                    <a:p>
                      <a:pPr>
                        <a:buNone/>
                      </a:pPr>
                      <a:r>
                        <a:rPr lang="en-US" sz="1000"/>
                        <a:t>Local Models</a:t>
                      </a:r>
                    </a:p>
                  </a:txBody>
                  <a:tcPr marL="58780" marR="58780" marT="29390" marB="29390" anchor="ctr"/>
                </a:tc>
                <a:tc>
                  <a:txBody>
                    <a:bodyPr/>
                    <a:lstStyle/>
                    <a:p>
                      <a:pPr>
                        <a:buNone/>
                      </a:pPr>
                      <a:r>
                        <a:rPr lang="en-US" sz="1000"/>
                        <a:t>Aggregation</a:t>
                      </a:r>
                    </a:p>
                  </a:txBody>
                  <a:tcPr marL="58780" marR="58780" marT="29390" marB="29390" anchor="ctr"/>
                </a:tc>
                <a:tc>
                  <a:txBody>
                    <a:bodyPr/>
                    <a:lstStyle/>
                    <a:p>
                      <a:pPr>
                        <a:buNone/>
                      </a:pPr>
                      <a:r>
                        <a:rPr lang="en-US" sz="1000"/>
                        <a:t>Global Model</a:t>
                      </a:r>
                    </a:p>
                  </a:txBody>
                  <a:tcPr marL="58780" marR="58780" marT="29390" marB="29390" anchor="ctr"/>
                </a:tc>
                <a:extLst>
                  <a:ext uri="{0D108BD9-81ED-4DB2-BD59-A6C34878D82A}">
                    <a16:rowId xmlns:a16="http://schemas.microsoft.com/office/drawing/2014/main" val="2801678470"/>
                  </a:ext>
                </a:extLst>
              </a:tr>
              <a:tr h="239101">
                <a:tc>
                  <a:txBody>
                    <a:bodyPr/>
                    <a:lstStyle/>
                    <a:p>
                      <a:pPr>
                        <a:buNone/>
                      </a:pPr>
                      <a:r>
                        <a:rPr lang="en-US" sz="1000"/>
                        <a:t>O-RAN Integration</a:t>
                      </a:r>
                    </a:p>
                  </a:txBody>
                  <a:tcPr marL="58780" marR="58780" marT="29390" marB="29390" anchor="ctr"/>
                </a:tc>
                <a:tc>
                  <a:txBody>
                    <a:bodyPr/>
                    <a:lstStyle/>
                    <a:p>
                      <a:pPr>
                        <a:buNone/>
                      </a:pPr>
                      <a:r>
                        <a:rPr lang="en-US" sz="1000"/>
                        <a:t>Policies</a:t>
                      </a:r>
                    </a:p>
                  </a:txBody>
                  <a:tcPr marL="58780" marR="58780" marT="29390" marB="29390" anchor="ctr"/>
                </a:tc>
                <a:tc>
                  <a:txBody>
                    <a:bodyPr/>
                    <a:lstStyle/>
                    <a:p>
                      <a:pPr>
                        <a:buNone/>
                      </a:pPr>
                      <a:r>
                        <a:rPr lang="en-US" sz="1000"/>
                        <a:t>xApps/rApps</a:t>
                      </a:r>
                    </a:p>
                  </a:txBody>
                  <a:tcPr marL="58780" marR="58780" marT="29390" marB="29390" anchor="ctr"/>
                </a:tc>
                <a:tc>
                  <a:txBody>
                    <a:bodyPr/>
                    <a:lstStyle/>
                    <a:p>
                      <a:pPr>
                        <a:buNone/>
                      </a:pPr>
                      <a:r>
                        <a:rPr lang="en-US" sz="1000"/>
                        <a:t>O-RAN Deployment</a:t>
                      </a:r>
                    </a:p>
                  </a:txBody>
                  <a:tcPr marL="58780" marR="58780" marT="29390" marB="29390" anchor="ctr"/>
                </a:tc>
                <a:extLst>
                  <a:ext uri="{0D108BD9-81ED-4DB2-BD59-A6C34878D82A}">
                    <a16:rowId xmlns:a16="http://schemas.microsoft.com/office/drawing/2014/main" val="1216762058"/>
                  </a:ext>
                </a:extLst>
              </a:tr>
              <a:tr h="406474">
                <a:tc>
                  <a:txBody>
                    <a:bodyPr/>
                    <a:lstStyle/>
                    <a:p>
                      <a:pPr>
                        <a:buNone/>
                      </a:pPr>
                      <a:r>
                        <a:rPr lang="en-US" sz="1000"/>
                        <a:t>Closed-Loop Operation</a:t>
                      </a:r>
                    </a:p>
                  </a:txBody>
                  <a:tcPr marL="58780" marR="58780" marT="29390" marB="29390" anchor="ctr"/>
                </a:tc>
                <a:tc>
                  <a:txBody>
                    <a:bodyPr/>
                    <a:lstStyle/>
                    <a:p>
                      <a:pPr>
                        <a:buNone/>
                      </a:pPr>
                      <a:r>
                        <a:rPr lang="en-US" sz="1000"/>
                        <a:t>Network KPIs</a:t>
                      </a:r>
                    </a:p>
                  </a:txBody>
                  <a:tcPr marL="58780" marR="58780" marT="29390" marB="29390" anchor="ctr"/>
                </a:tc>
                <a:tc>
                  <a:txBody>
                    <a:bodyPr/>
                    <a:lstStyle/>
                    <a:p>
                      <a:pPr>
                        <a:buNone/>
                      </a:pPr>
                      <a:r>
                        <a:rPr lang="en-US" sz="1000"/>
                        <a:t>Observe→Learn</a:t>
                      </a:r>
                    </a:p>
                  </a:txBody>
                  <a:tcPr marL="58780" marR="58780" marT="29390" marB="29390" anchor="ctr"/>
                </a:tc>
                <a:tc>
                  <a:txBody>
                    <a:bodyPr/>
                    <a:lstStyle/>
                    <a:p>
                      <a:pPr>
                        <a:buNone/>
                      </a:pPr>
                      <a:r>
                        <a:rPr lang="en-US" sz="1000" dirty="0"/>
                        <a:t>Autonomous Optimization</a:t>
                      </a:r>
                    </a:p>
                  </a:txBody>
                  <a:tcPr marL="58780" marR="58780" marT="29390" marB="29390" anchor="ctr"/>
                </a:tc>
                <a:extLst>
                  <a:ext uri="{0D108BD9-81ED-4DB2-BD59-A6C34878D82A}">
                    <a16:rowId xmlns:a16="http://schemas.microsoft.com/office/drawing/2014/main" val="1018118248"/>
                  </a:ext>
                </a:extLst>
              </a:tr>
            </a:tbl>
          </a:graphicData>
        </a:graphic>
      </p:graphicFrame>
    </p:spTree>
    <p:extLst>
      <p:ext uri="{BB962C8B-B14F-4D97-AF65-F5344CB8AC3E}">
        <p14:creationId xmlns:p14="http://schemas.microsoft.com/office/powerpoint/2010/main" val="1020677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AE875-0DC4-A6A1-2F27-61C727D43088}"/>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5A7859E8-856C-8DE0-B016-29787111272B}"/>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845B1B74-F296-DD74-5106-C0FC5EE8DDB1}"/>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Final Deliverables Summary</a:t>
            </a:r>
            <a:br>
              <a:rPr lang="en-US" dirty="0"/>
            </a:br>
            <a:endParaRPr lang="en-US" dirty="0"/>
          </a:p>
        </p:txBody>
      </p:sp>
      <p:graphicFrame>
        <p:nvGraphicFramePr>
          <p:cNvPr id="2" name="Table 1">
            <a:extLst>
              <a:ext uri="{FF2B5EF4-FFF2-40B4-BE49-F238E27FC236}">
                <a16:creationId xmlns:a16="http://schemas.microsoft.com/office/drawing/2014/main" id="{828DE1A9-CAAD-1006-466A-C3F9366989D1}"/>
              </a:ext>
            </a:extLst>
          </p:cNvPr>
          <p:cNvGraphicFramePr>
            <a:graphicFrameLocks noGrp="1"/>
          </p:cNvGraphicFramePr>
          <p:nvPr>
            <p:extLst>
              <p:ext uri="{D42A27DB-BD31-4B8C-83A1-F6EECF244321}">
                <p14:modId xmlns:p14="http://schemas.microsoft.com/office/powerpoint/2010/main" val="639107425"/>
              </p:ext>
            </p:extLst>
          </p:nvPr>
        </p:nvGraphicFramePr>
        <p:xfrm>
          <a:off x="417531" y="898049"/>
          <a:ext cx="7886700" cy="3177540"/>
        </p:xfrm>
        <a:graphic>
          <a:graphicData uri="http://schemas.openxmlformats.org/drawingml/2006/table">
            <a:tbl>
              <a:tblPr>
                <a:tableStyleId>{22838BEF-8BB2-4498-84A7-C5851F593DF1}</a:tableStyleId>
              </a:tblPr>
              <a:tblGrid>
                <a:gridCol w="3943350">
                  <a:extLst>
                    <a:ext uri="{9D8B030D-6E8A-4147-A177-3AD203B41FA5}">
                      <a16:colId xmlns:a16="http://schemas.microsoft.com/office/drawing/2014/main" val="577954710"/>
                    </a:ext>
                  </a:extLst>
                </a:gridCol>
                <a:gridCol w="3943350">
                  <a:extLst>
                    <a:ext uri="{9D8B030D-6E8A-4147-A177-3AD203B41FA5}">
                      <a16:colId xmlns:a16="http://schemas.microsoft.com/office/drawing/2014/main" val="2335183604"/>
                    </a:ext>
                  </a:extLst>
                </a:gridCol>
              </a:tblGrid>
              <a:tr h="0">
                <a:tc>
                  <a:txBody>
                    <a:bodyPr/>
                    <a:lstStyle/>
                    <a:p>
                      <a:pPr>
                        <a:buNone/>
                      </a:pPr>
                      <a:r>
                        <a:rPr lang="en-US" b="1"/>
                        <a:t>Category</a:t>
                      </a:r>
                    </a:p>
                  </a:txBody>
                  <a:tcPr anchor="ctr"/>
                </a:tc>
                <a:tc>
                  <a:txBody>
                    <a:bodyPr/>
                    <a:lstStyle/>
                    <a:p>
                      <a:pPr>
                        <a:buNone/>
                      </a:pPr>
                      <a:r>
                        <a:rPr lang="en-US" b="1" dirty="0"/>
                        <a:t>Deliverables</a:t>
                      </a:r>
                    </a:p>
                  </a:txBody>
                  <a:tcPr anchor="ctr"/>
                </a:tc>
                <a:extLst>
                  <a:ext uri="{0D108BD9-81ED-4DB2-BD59-A6C34878D82A}">
                    <a16:rowId xmlns:a16="http://schemas.microsoft.com/office/drawing/2014/main" val="1923915411"/>
                  </a:ext>
                </a:extLst>
              </a:tr>
              <a:tr h="0">
                <a:tc>
                  <a:txBody>
                    <a:bodyPr/>
                    <a:lstStyle/>
                    <a:p>
                      <a:pPr>
                        <a:buNone/>
                      </a:pPr>
                      <a:r>
                        <a:rPr lang="en-US"/>
                        <a:t>Architecture</a:t>
                      </a:r>
                    </a:p>
                  </a:txBody>
                  <a:tcPr anchor="ctr"/>
                </a:tc>
                <a:tc>
                  <a:txBody>
                    <a:bodyPr/>
                    <a:lstStyle/>
                    <a:p>
                      <a:pPr>
                        <a:buNone/>
                      </a:pPr>
                      <a:r>
                        <a:rPr lang="en-US"/>
                        <a:t>AI-Native Autonomous RAN Architecture</a:t>
                      </a:r>
                    </a:p>
                  </a:txBody>
                  <a:tcPr anchor="ctr"/>
                </a:tc>
                <a:extLst>
                  <a:ext uri="{0D108BD9-81ED-4DB2-BD59-A6C34878D82A}">
                    <a16:rowId xmlns:a16="http://schemas.microsoft.com/office/drawing/2014/main" val="2060147918"/>
                  </a:ext>
                </a:extLst>
              </a:tr>
              <a:tr h="0">
                <a:tc>
                  <a:txBody>
                    <a:bodyPr/>
                    <a:lstStyle/>
                    <a:p>
                      <a:pPr>
                        <a:buNone/>
                      </a:pPr>
                      <a:r>
                        <a:rPr lang="en-US"/>
                        <a:t>AI Models</a:t>
                      </a:r>
                    </a:p>
                  </a:txBody>
                  <a:tcPr anchor="ctr"/>
                </a:tc>
                <a:tc>
                  <a:txBody>
                    <a:bodyPr/>
                    <a:lstStyle/>
                    <a:p>
                      <a:pPr>
                        <a:buNone/>
                      </a:pPr>
                      <a:r>
                        <a:rPr lang="en-US"/>
                        <a:t>Scheduler, Resource, Mobility, Security, Energy Agents</a:t>
                      </a:r>
                    </a:p>
                  </a:txBody>
                  <a:tcPr anchor="ctr"/>
                </a:tc>
                <a:extLst>
                  <a:ext uri="{0D108BD9-81ED-4DB2-BD59-A6C34878D82A}">
                    <a16:rowId xmlns:a16="http://schemas.microsoft.com/office/drawing/2014/main" val="1618678987"/>
                  </a:ext>
                </a:extLst>
              </a:tr>
              <a:tr h="0">
                <a:tc>
                  <a:txBody>
                    <a:bodyPr/>
                    <a:lstStyle/>
                    <a:p>
                      <a:pPr>
                        <a:buNone/>
                      </a:pPr>
                      <a:r>
                        <a:rPr lang="en-US"/>
                        <a:t>Intelligence Layer</a:t>
                      </a:r>
                    </a:p>
                  </a:txBody>
                  <a:tcPr anchor="ctr"/>
                </a:tc>
                <a:tc>
                  <a:txBody>
                    <a:bodyPr/>
                    <a:lstStyle/>
                    <a:p>
                      <a:pPr>
                        <a:buNone/>
                      </a:pPr>
                      <a:r>
                        <a:rPr lang="en-US"/>
                        <a:t>Knowledge Graph + Federated Learning</a:t>
                      </a:r>
                    </a:p>
                  </a:txBody>
                  <a:tcPr anchor="ctr"/>
                </a:tc>
                <a:extLst>
                  <a:ext uri="{0D108BD9-81ED-4DB2-BD59-A6C34878D82A}">
                    <a16:rowId xmlns:a16="http://schemas.microsoft.com/office/drawing/2014/main" val="3249037525"/>
                  </a:ext>
                </a:extLst>
              </a:tr>
              <a:tr h="0">
                <a:tc>
                  <a:txBody>
                    <a:bodyPr/>
                    <a:lstStyle/>
                    <a:p>
                      <a:pPr>
                        <a:buNone/>
                      </a:pPr>
                      <a:r>
                        <a:rPr lang="en-US"/>
                        <a:t>Digital Twin</a:t>
                      </a:r>
                    </a:p>
                  </a:txBody>
                  <a:tcPr anchor="ctr"/>
                </a:tc>
                <a:tc>
                  <a:txBody>
                    <a:bodyPr/>
                    <a:lstStyle/>
                    <a:p>
                      <a:pPr>
                        <a:buNone/>
                      </a:pPr>
                      <a:r>
                        <a:rPr lang="en-US"/>
                        <a:t>Complete Telecom Digital Twin</a:t>
                      </a:r>
                    </a:p>
                  </a:txBody>
                  <a:tcPr anchor="ctr"/>
                </a:tc>
                <a:extLst>
                  <a:ext uri="{0D108BD9-81ED-4DB2-BD59-A6C34878D82A}">
                    <a16:rowId xmlns:a16="http://schemas.microsoft.com/office/drawing/2014/main" val="3796860702"/>
                  </a:ext>
                </a:extLst>
              </a:tr>
              <a:tr h="0">
                <a:tc>
                  <a:txBody>
                    <a:bodyPr/>
                    <a:lstStyle/>
                    <a:p>
                      <a:pPr>
                        <a:buNone/>
                      </a:pPr>
                      <a:r>
                        <a:rPr lang="en-US"/>
                        <a:t>O-RAN Components</a:t>
                      </a:r>
                    </a:p>
                  </a:txBody>
                  <a:tcPr anchor="ctr"/>
                </a:tc>
                <a:tc>
                  <a:txBody>
                    <a:bodyPr/>
                    <a:lstStyle/>
                    <a:p>
                      <a:pPr>
                        <a:buNone/>
                      </a:pPr>
                      <a:r>
                        <a:rPr lang="en-US"/>
                        <a:t>Near-RT RIC xApps, Non-RT RIC rApps</a:t>
                      </a:r>
                    </a:p>
                  </a:txBody>
                  <a:tcPr anchor="ctr"/>
                </a:tc>
                <a:extLst>
                  <a:ext uri="{0D108BD9-81ED-4DB2-BD59-A6C34878D82A}">
                    <a16:rowId xmlns:a16="http://schemas.microsoft.com/office/drawing/2014/main" val="3679006842"/>
                  </a:ext>
                </a:extLst>
              </a:tr>
              <a:tr h="0">
                <a:tc>
                  <a:txBody>
                    <a:bodyPr/>
                    <a:lstStyle/>
                    <a:p>
                      <a:pPr>
                        <a:buNone/>
                      </a:pPr>
                      <a:r>
                        <a:rPr lang="en-US"/>
                        <a:t>Security</a:t>
                      </a:r>
                    </a:p>
                  </a:txBody>
                  <a:tcPr anchor="ctr"/>
                </a:tc>
                <a:tc>
                  <a:txBody>
                    <a:bodyPr/>
                    <a:lstStyle/>
                    <a:p>
                      <a:pPr>
                        <a:buNone/>
                      </a:pPr>
                      <a:r>
                        <a:rPr lang="en-US"/>
                        <a:t>Autonomous Security Intelligence Framework</a:t>
                      </a:r>
                    </a:p>
                  </a:txBody>
                  <a:tcPr anchor="ctr"/>
                </a:tc>
                <a:extLst>
                  <a:ext uri="{0D108BD9-81ED-4DB2-BD59-A6C34878D82A}">
                    <a16:rowId xmlns:a16="http://schemas.microsoft.com/office/drawing/2014/main" val="2562584133"/>
                  </a:ext>
                </a:extLst>
              </a:tr>
              <a:tr h="0">
                <a:tc>
                  <a:txBody>
                    <a:bodyPr/>
                    <a:lstStyle/>
                    <a:p>
                      <a:pPr>
                        <a:buNone/>
                      </a:pPr>
                      <a:r>
                        <a:rPr lang="en-US"/>
                        <a:t>Evaluation</a:t>
                      </a:r>
                    </a:p>
                  </a:txBody>
                  <a:tcPr anchor="ctr"/>
                </a:tc>
                <a:tc>
                  <a:txBody>
                    <a:bodyPr/>
                    <a:lstStyle/>
                    <a:p>
                      <a:pPr>
                        <a:buNone/>
                      </a:pPr>
                      <a:r>
                        <a:rPr lang="en-US"/>
                        <a:t>KPI and Benchmarking Reports</a:t>
                      </a:r>
                    </a:p>
                  </a:txBody>
                  <a:tcPr anchor="ctr"/>
                </a:tc>
                <a:extLst>
                  <a:ext uri="{0D108BD9-81ED-4DB2-BD59-A6C34878D82A}">
                    <a16:rowId xmlns:a16="http://schemas.microsoft.com/office/drawing/2014/main" val="954164171"/>
                  </a:ext>
                </a:extLst>
              </a:tr>
              <a:tr h="0">
                <a:tc>
                  <a:txBody>
                    <a:bodyPr/>
                    <a:lstStyle/>
                    <a:p>
                      <a:pPr>
                        <a:buNone/>
                      </a:pPr>
                      <a:r>
                        <a:rPr lang="en-US"/>
                        <a:t>Publications</a:t>
                      </a:r>
                    </a:p>
                  </a:txBody>
                  <a:tcPr anchor="ctr"/>
                </a:tc>
                <a:tc>
                  <a:txBody>
                    <a:bodyPr/>
                    <a:lstStyle/>
                    <a:p>
                      <a:pPr>
                        <a:buNone/>
                      </a:pPr>
                      <a:r>
                        <a:rPr lang="en-US"/>
                        <a:t>IEEE Paper, Whitepaper, Patent</a:t>
                      </a:r>
                    </a:p>
                  </a:txBody>
                  <a:tcPr anchor="ctr"/>
                </a:tc>
                <a:extLst>
                  <a:ext uri="{0D108BD9-81ED-4DB2-BD59-A6C34878D82A}">
                    <a16:rowId xmlns:a16="http://schemas.microsoft.com/office/drawing/2014/main" val="714626402"/>
                  </a:ext>
                </a:extLst>
              </a:tr>
              <a:tr h="0">
                <a:tc>
                  <a:txBody>
                    <a:bodyPr/>
                    <a:lstStyle/>
                    <a:p>
                      <a:pPr>
                        <a:buNone/>
                      </a:pPr>
                      <a:r>
                        <a:rPr lang="en-US"/>
                        <a:t>Final Outcome</a:t>
                      </a:r>
                    </a:p>
                  </a:txBody>
                  <a:tcPr anchor="ctr"/>
                </a:tc>
                <a:tc>
                  <a:txBody>
                    <a:bodyPr/>
                    <a:lstStyle/>
                    <a:p>
                      <a:pPr>
                        <a:buNone/>
                      </a:pPr>
                      <a:r>
                        <a:rPr lang="it-IT" dirty="0"/>
                        <a:t>AI-Native Autonomous 6G RAN Prototype</a:t>
                      </a:r>
                    </a:p>
                  </a:txBody>
                  <a:tcPr anchor="ctr"/>
                </a:tc>
                <a:extLst>
                  <a:ext uri="{0D108BD9-81ED-4DB2-BD59-A6C34878D82A}">
                    <a16:rowId xmlns:a16="http://schemas.microsoft.com/office/drawing/2014/main" val="3676464505"/>
                  </a:ext>
                </a:extLst>
              </a:tr>
            </a:tbl>
          </a:graphicData>
        </a:graphic>
      </p:graphicFrame>
    </p:spTree>
    <p:extLst>
      <p:ext uri="{BB962C8B-B14F-4D97-AF65-F5344CB8AC3E}">
        <p14:creationId xmlns:p14="http://schemas.microsoft.com/office/powerpoint/2010/main" val="1411352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1298A-73D4-CE63-062E-A2F74D236E0C}"/>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F8F31DDD-3418-3F09-A840-ECE7B8971D6B}"/>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27F40A97-158A-6325-78C9-AD43CE608103}"/>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Target KPIs</a:t>
            </a:r>
            <a:br>
              <a:rPr lang="en-US" dirty="0"/>
            </a:br>
            <a:endParaRPr lang="en-US" dirty="0"/>
          </a:p>
        </p:txBody>
      </p:sp>
      <p:graphicFrame>
        <p:nvGraphicFramePr>
          <p:cNvPr id="2" name="Table 1">
            <a:extLst>
              <a:ext uri="{FF2B5EF4-FFF2-40B4-BE49-F238E27FC236}">
                <a16:creationId xmlns:a16="http://schemas.microsoft.com/office/drawing/2014/main" id="{B2BD34EF-5972-78EE-4B65-E08671E681B9}"/>
              </a:ext>
            </a:extLst>
          </p:cNvPr>
          <p:cNvGraphicFramePr>
            <a:graphicFrameLocks noGrp="1"/>
          </p:cNvGraphicFramePr>
          <p:nvPr>
            <p:extLst>
              <p:ext uri="{D42A27DB-BD31-4B8C-83A1-F6EECF244321}">
                <p14:modId xmlns:p14="http://schemas.microsoft.com/office/powerpoint/2010/main" val="72307182"/>
              </p:ext>
            </p:extLst>
          </p:nvPr>
        </p:nvGraphicFramePr>
        <p:xfrm>
          <a:off x="506186" y="919276"/>
          <a:ext cx="7886700" cy="2971800"/>
        </p:xfrm>
        <a:graphic>
          <a:graphicData uri="http://schemas.openxmlformats.org/drawingml/2006/table">
            <a:tbl>
              <a:tblPr>
                <a:tableStyleId>{16D9F66E-5EB9-4882-86FB-DCBF35E3C3E4}</a:tableStyleId>
              </a:tblPr>
              <a:tblGrid>
                <a:gridCol w="2628900">
                  <a:extLst>
                    <a:ext uri="{9D8B030D-6E8A-4147-A177-3AD203B41FA5}">
                      <a16:colId xmlns:a16="http://schemas.microsoft.com/office/drawing/2014/main" val="3399208924"/>
                    </a:ext>
                  </a:extLst>
                </a:gridCol>
                <a:gridCol w="2628900">
                  <a:extLst>
                    <a:ext uri="{9D8B030D-6E8A-4147-A177-3AD203B41FA5}">
                      <a16:colId xmlns:a16="http://schemas.microsoft.com/office/drawing/2014/main" val="2764278721"/>
                    </a:ext>
                  </a:extLst>
                </a:gridCol>
                <a:gridCol w="2628900">
                  <a:extLst>
                    <a:ext uri="{9D8B030D-6E8A-4147-A177-3AD203B41FA5}">
                      <a16:colId xmlns:a16="http://schemas.microsoft.com/office/drawing/2014/main" val="1629247636"/>
                    </a:ext>
                  </a:extLst>
                </a:gridCol>
              </a:tblGrid>
              <a:tr h="0">
                <a:tc>
                  <a:txBody>
                    <a:bodyPr/>
                    <a:lstStyle/>
                    <a:p>
                      <a:pPr>
                        <a:buNone/>
                      </a:pPr>
                      <a:r>
                        <a:rPr lang="en-US" b="1"/>
                        <a:t>KPI</a:t>
                      </a:r>
                    </a:p>
                  </a:txBody>
                  <a:tcPr anchor="ctr"/>
                </a:tc>
                <a:tc>
                  <a:txBody>
                    <a:bodyPr/>
                    <a:lstStyle/>
                    <a:p>
                      <a:pPr>
                        <a:buNone/>
                      </a:pPr>
                      <a:r>
                        <a:rPr lang="en-US" b="1"/>
                        <a:t>Baseline</a:t>
                      </a:r>
                    </a:p>
                  </a:txBody>
                  <a:tcPr anchor="ctr"/>
                </a:tc>
                <a:tc>
                  <a:txBody>
                    <a:bodyPr/>
                    <a:lstStyle/>
                    <a:p>
                      <a:pPr>
                        <a:buNone/>
                      </a:pPr>
                      <a:r>
                        <a:rPr lang="en-US" b="1" dirty="0"/>
                        <a:t>Target</a:t>
                      </a:r>
                    </a:p>
                  </a:txBody>
                  <a:tcPr anchor="ctr"/>
                </a:tc>
                <a:extLst>
                  <a:ext uri="{0D108BD9-81ED-4DB2-BD59-A6C34878D82A}">
                    <a16:rowId xmlns:a16="http://schemas.microsoft.com/office/drawing/2014/main" val="3822568720"/>
                  </a:ext>
                </a:extLst>
              </a:tr>
              <a:tr h="0">
                <a:tc>
                  <a:txBody>
                    <a:bodyPr/>
                    <a:lstStyle/>
                    <a:p>
                      <a:pPr>
                        <a:buNone/>
                      </a:pPr>
                      <a:r>
                        <a:rPr lang="en-US"/>
                        <a:t>Throughput</a:t>
                      </a:r>
                    </a:p>
                  </a:txBody>
                  <a:tcPr anchor="ctr"/>
                </a:tc>
                <a:tc>
                  <a:txBody>
                    <a:bodyPr/>
                    <a:lstStyle/>
                    <a:p>
                      <a:pPr>
                        <a:buNone/>
                      </a:pPr>
                      <a:r>
                        <a:rPr lang="en-US"/>
                        <a:t>Existing RAN</a:t>
                      </a:r>
                    </a:p>
                  </a:txBody>
                  <a:tcPr anchor="ctr"/>
                </a:tc>
                <a:tc>
                  <a:txBody>
                    <a:bodyPr/>
                    <a:lstStyle/>
                    <a:p>
                      <a:pPr>
                        <a:buNone/>
                      </a:pPr>
                      <a:r>
                        <a:rPr lang="en-US"/>
                        <a:t>+20% to +30%</a:t>
                      </a:r>
                    </a:p>
                  </a:txBody>
                  <a:tcPr anchor="ctr"/>
                </a:tc>
                <a:extLst>
                  <a:ext uri="{0D108BD9-81ED-4DB2-BD59-A6C34878D82A}">
                    <a16:rowId xmlns:a16="http://schemas.microsoft.com/office/drawing/2014/main" val="2229961021"/>
                  </a:ext>
                </a:extLst>
              </a:tr>
              <a:tr h="0">
                <a:tc>
                  <a:txBody>
                    <a:bodyPr/>
                    <a:lstStyle/>
                    <a:p>
                      <a:pPr>
                        <a:buNone/>
                      </a:pPr>
                      <a:r>
                        <a:rPr lang="en-US"/>
                        <a:t>Latency</a:t>
                      </a:r>
                    </a:p>
                  </a:txBody>
                  <a:tcPr anchor="ctr"/>
                </a:tc>
                <a:tc>
                  <a:txBody>
                    <a:bodyPr/>
                    <a:lstStyle/>
                    <a:p>
                      <a:pPr>
                        <a:buNone/>
                      </a:pPr>
                      <a:r>
                        <a:rPr lang="en-US"/>
                        <a:t>Existing RAN</a:t>
                      </a:r>
                    </a:p>
                  </a:txBody>
                  <a:tcPr anchor="ctr"/>
                </a:tc>
                <a:tc>
                  <a:txBody>
                    <a:bodyPr/>
                    <a:lstStyle/>
                    <a:p>
                      <a:pPr>
                        <a:buNone/>
                      </a:pPr>
                      <a:r>
                        <a:rPr lang="en-US"/>
                        <a:t>-20% to -40%</a:t>
                      </a:r>
                    </a:p>
                  </a:txBody>
                  <a:tcPr anchor="ctr"/>
                </a:tc>
                <a:extLst>
                  <a:ext uri="{0D108BD9-81ED-4DB2-BD59-A6C34878D82A}">
                    <a16:rowId xmlns:a16="http://schemas.microsoft.com/office/drawing/2014/main" val="1312869737"/>
                  </a:ext>
                </a:extLst>
              </a:tr>
              <a:tr h="0">
                <a:tc>
                  <a:txBody>
                    <a:bodyPr/>
                    <a:lstStyle/>
                    <a:p>
                      <a:pPr>
                        <a:buNone/>
                      </a:pPr>
                      <a:r>
                        <a:rPr lang="en-US"/>
                        <a:t>Energy Consumption</a:t>
                      </a:r>
                    </a:p>
                  </a:txBody>
                  <a:tcPr anchor="ctr"/>
                </a:tc>
                <a:tc>
                  <a:txBody>
                    <a:bodyPr/>
                    <a:lstStyle/>
                    <a:p>
                      <a:pPr>
                        <a:buNone/>
                      </a:pPr>
                      <a:r>
                        <a:rPr lang="en-US"/>
                        <a:t>Existing RAN</a:t>
                      </a:r>
                    </a:p>
                  </a:txBody>
                  <a:tcPr anchor="ctr"/>
                </a:tc>
                <a:tc>
                  <a:txBody>
                    <a:bodyPr/>
                    <a:lstStyle/>
                    <a:p>
                      <a:pPr>
                        <a:buNone/>
                      </a:pPr>
                      <a:r>
                        <a:rPr lang="en-US"/>
                        <a:t>-25% to -40%</a:t>
                      </a:r>
                    </a:p>
                  </a:txBody>
                  <a:tcPr anchor="ctr"/>
                </a:tc>
                <a:extLst>
                  <a:ext uri="{0D108BD9-81ED-4DB2-BD59-A6C34878D82A}">
                    <a16:rowId xmlns:a16="http://schemas.microsoft.com/office/drawing/2014/main" val="1750414148"/>
                  </a:ext>
                </a:extLst>
              </a:tr>
              <a:tr h="0">
                <a:tc>
                  <a:txBody>
                    <a:bodyPr/>
                    <a:lstStyle/>
                    <a:p>
                      <a:pPr>
                        <a:buNone/>
                      </a:pPr>
                      <a:r>
                        <a:rPr lang="en-US"/>
                        <a:t>Security Detection Accuracy</a:t>
                      </a:r>
                    </a:p>
                  </a:txBody>
                  <a:tcPr anchor="ctr"/>
                </a:tc>
                <a:tc>
                  <a:txBody>
                    <a:bodyPr/>
                    <a:lstStyle/>
                    <a:p>
                      <a:pPr>
                        <a:buNone/>
                      </a:pPr>
                      <a:r>
                        <a:rPr lang="en-US"/>
                        <a:t>Conventional IDS</a:t>
                      </a:r>
                    </a:p>
                  </a:txBody>
                  <a:tcPr anchor="ctr"/>
                </a:tc>
                <a:tc>
                  <a:txBody>
                    <a:bodyPr/>
                    <a:lstStyle/>
                    <a:p>
                      <a:pPr>
                        <a:buNone/>
                      </a:pPr>
                      <a:r>
                        <a:rPr lang="en-US"/>
                        <a:t>&gt;95%</a:t>
                      </a:r>
                    </a:p>
                  </a:txBody>
                  <a:tcPr anchor="ctr"/>
                </a:tc>
                <a:extLst>
                  <a:ext uri="{0D108BD9-81ED-4DB2-BD59-A6C34878D82A}">
                    <a16:rowId xmlns:a16="http://schemas.microsoft.com/office/drawing/2014/main" val="1974798859"/>
                  </a:ext>
                </a:extLst>
              </a:tr>
              <a:tr h="0">
                <a:tc>
                  <a:txBody>
                    <a:bodyPr/>
                    <a:lstStyle/>
                    <a:p>
                      <a:pPr>
                        <a:buNone/>
                      </a:pPr>
                      <a:r>
                        <a:rPr lang="en-US"/>
                        <a:t>Handover Success Rate</a:t>
                      </a:r>
                    </a:p>
                  </a:txBody>
                  <a:tcPr anchor="ctr"/>
                </a:tc>
                <a:tc>
                  <a:txBody>
                    <a:bodyPr/>
                    <a:lstStyle/>
                    <a:p>
                      <a:pPr>
                        <a:buNone/>
                      </a:pPr>
                      <a:r>
                        <a:rPr lang="en-US"/>
                        <a:t>Current Networks</a:t>
                      </a:r>
                    </a:p>
                  </a:txBody>
                  <a:tcPr anchor="ctr"/>
                </a:tc>
                <a:tc>
                  <a:txBody>
                    <a:bodyPr/>
                    <a:lstStyle/>
                    <a:p>
                      <a:pPr>
                        <a:buNone/>
                      </a:pPr>
                      <a:r>
                        <a:rPr lang="en-US"/>
                        <a:t>&gt;98%</a:t>
                      </a:r>
                    </a:p>
                  </a:txBody>
                  <a:tcPr anchor="ctr"/>
                </a:tc>
                <a:extLst>
                  <a:ext uri="{0D108BD9-81ED-4DB2-BD59-A6C34878D82A}">
                    <a16:rowId xmlns:a16="http://schemas.microsoft.com/office/drawing/2014/main" val="3713757349"/>
                  </a:ext>
                </a:extLst>
              </a:tr>
              <a:tr h="0">
                <a:tc>
                  <a:txBody>
                    <a:bodyPr/>
                    <a:lstStyle/>
                    <a:p>
                      <a:pPr>
                        <a:buNone/>
                      </a:pPr>
                      <a:r>
                        <a:rPr lang="en-US"/>
                        <a:t>QoE Improvement</a:t>
                      </a:r>
                    </a:p>
                  </a:txBody>
                  <a:tcPr anchor="ctr"/>
                </a:tc>
                <a:tc>
                  <a:txBody>
                    <a:bodyPr/>
                    <a:lstStyle/>
                    <a:p>
                      <a:pPr>
                        <a:buNone/>
                      </a:pPr>
                      <a:r>
                        <a:rPr lang="en-US"/>
                        <a:t>Baseline QoE</a:t>
                      </a:r>
                    </a:p>
                  </a:txBody>
                  <a:tcPr anchor="ctr"/>
                </a:tc>
                <a:tc>
                  <a:txBody>
                    <a:bodyPr/>
                    <a:lstStyle/>
                    <a:p>
                      <a:pPr>
                        <a:buNone/>
                      </a:pPr>
                      <a:r>
                        <a:rPr lang="en-US"/>
                        <a:t>+20% to +30%</a:t>
                      </a:r>
                    </a:p>
                  </a:txBody>
                  <a:tcPr anchor="ctr"/>
                </a:tc>
                <a:extLst>
                  <a:ext uri="{0D108BD9-81ED-4DB2-BD59-A6C34878D82A}">
                    <a16:rowId xmlns:a16="http://schemas.microsoft.com/office/drawing/2014/main" val="947465030"/>
                  </a:ext>
                </a:extLst>
              </a:tr>
              <a:tr h="0">
                <a:tc>
                  <a:txBody>
                    <a:bodyPr/>
                    <a:lstStyle/>
                    <a:p>
                      <a:pPr>
                        <a:buNone/>
                      </a:pPr>
                      <a:r>
                        <a:rPr lang="en-US"/>
                        <a:t>Slice Efficiency</a:t>
                      </a:r>
                    </a:p>
                  </a:txBody>
                  <a:tcPr anchor="ctr"/>
                </a:tc>
                <a:tc>
                  <a:txBody>
                    <a:bodyPr/>
                    <a:lstStyle/>
                    <a:p>
                      <a:pPr>
                        <a:buNone/>
                      </a:pPr>
                      <a:r>
                        <a:rPr lang="en-US"/>
                        <a:t>Baseline</a:t>
                      </a:r>
                    </a:p>
                  </a:txBody>
                  <a:tcPr anchor="ctr"/>
                </a:tc>
                <a:tc>
                  <a:txBody>
                    <a:bodyPr/>
                    <a:lstStyle/>
                    <a:p>
                      <a:pPr>
                        <a:buNone/>
                      </a:pPr>
                      <a:r>
                        <a:rPr lang="en-US"/>
                        <a:t>+20% to +25%</a:t>
                      </a:r>
                    </a:p>
                  </a:txBody>
                  <a:tcPr anchor="ctr"/>
                </a:tc>
                <a:extLst>
                  <a:ext uri="{0D108BD9-81ED-4DB2-BD59-A6C34878D82A}">
                    <a16:rowId xmlns:a16="http://schemas.microsoft.com/office/drawing/2014/main" val="2929786130"/>
                  </a:ext>
                </a:extLst>
              </a:tr>
              <a:tr h="0">
                <a:tc>
                  <a:txBody>
                    <a:bodyPr/>
                    <a:lstStyle/>
                    <a:p>
                      <a:pPr>
                        <a:buNone/>
                      </a:pPr>
                      <a:r>
                        <a:rPr lang="en-US"/>
                        <a:t>Automation Level</a:t>
                      </a:r>
                    </a:p>
                  </a:txBody>
                  <a:tcPr anchor="ctr"/>
                </a:tc>
                <a:tc>
                  <a:txBody>
                    <a:bodyPr/>
                    <a:lstStyle/>
                    <a:p>
                      <a:pPr>
                        <a:buNone/>
                      </a:pPr>
                      <a:r>
                        <a:rPr lang="en-US"/>
                        <a:t>Semi-Automated</a:t>
                      </a:r>
                    </a:p>
                  </a:txBody>
                  <a:tcPr anchor="ctr"/>
                </a:tc>
                <a:tc>
                  <a:txBody>
                    <a:bodyPr/>
                    <a:lstStyle/>
                    <a:p>
                      <a:pPr>
                        <a:buNone/>
                      </a:pPr>
                      <a:r>
                        <a:rPr lang="en-US"/>
                        <a:t>&gt;90%</a:t>
                      </a:r>
                    </a:p>
                  </a:txBody>
                  <a:tcPr anchor="ctr"/>
                </a:tc>
                <a:extLst>
                  <a:ext uri="{0D108BD9-81ED-4DB2-BD59-A6C34878D82A}">
                    <a16:rowId xmlns:a16="http://schemas.microsoft.com/office/drawing/2014/main" val="1191557346"/>
                  </a:ext>
                </a:extLst>
              </a:tr>
              <a:tr h="0">
                <a:tc>
                  <a:txBody>
                    <a:bodyPr/>
                    <a:lstStyle/>
                    <a:p>
                      <a:pPr>
                        <a:buNone/>
                      </a:pPr>
                      <a:r>
                        <a:rPr lang="en-US"/>
                        <a:t>OPEX Reduction</a:t>
                      </a:r>
                    </a:p>
                  </a:txBody>
                  <a:tcPr anchor="ctr"/>
                </a:tc>
                <a:tc>
                  <a:txBody>
                    <a:bodyPr/>
                    <a:lstStyle/>
                    <a:p>
                      <a:pPr>
                        <a:buNone/>
                      </a:pPr>
                      <a:r>
                        <a:rPr lang="en-US"/>
                        <a:t>Existing Network</a:t>
                      </a:r>
                    </a:p>
                  </a:txBody>
                  <a:tcPr anchor="ctr"/>
                </a:tc>
                <a:tc>
                  <a:txBody>
                    <a:bodyPr/>
                    <a:lstStyle/>
                    <a:p>
                      <a:pPr>
                        <a:buNone/>
                      </a:pPr>
                      <a:r>
                        <a:rPr lang="en-US" dirty="0"/>
                        <a:t>20% to 40%</a:t>
                      </a:r>
                    </a:p>
                  </a:txBody>
                  <a:tcPr anchor="ctr"/>
                </a:tc>
                <a:extLst>
                  <a:ext uri="{0D108BD9-81ED-4DB2-BD59-A6C34878D82A}">
                    <a16:rowId xmlns:a16="http://schemas.microsoft.com/office/drawing/2014/main" val="4242395920"/>
                  </a:ext>
                </a:extLst>
              </a:tr>
            </a:tbl>
          </a:graphicData>
        </a:graphic>
      </p:graphicFrame>
    </p:spTree>
    <p:extLst>
      <p:ext uri="{BB962C8B-B14F-4D97-AF65-F5344CB8AC3E}">
        <p14:creationId xmlns:p14="http://schemas.microsoft.com/office/powerpoint/2010/main" val="3844397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1351B-F8B9-AE78-B624-D0E5582D3779}"/>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D36825E4-45A4-1326-2EE0-A1AE9BFCF8C4}"/>
              </a:ext>
            </a:extLst>
          </p:cNvPr>
          <p:cNvSpPr>
            <a:spLocks noGrp="1"/>
          </p:cNvSpPr>
          <p:nvPr>
            <p:ph type="ftr" sz="quarter" idx="3"/>
          </p:nvPr>
        </p:nvSpPr>
        <p:spPr/>
        <p:txBody>
          <a:bodyPr/>
          <a:lstStyle/>
          <a:p>
            <a:r>
              <a:rPr lang="en-US"/>
              <a:t>Apply a document ID (if applicable).</a:t>
            </a:r>
            <a:endParaRPr lang="en-US" dirty="0"/>
          </a:p>
        </p:txBody>
      </p:sp>
      <p:sp>
        <p:nvSpPr>
          <p:cNvPr id="11" name="Title 5">
            <a:extLst>
              <a:ext uri="{FF2B5EF4-FFF2-40B4-BE49-F238E27FC236}">
                <a16:creationId xmlns:a16="http://schemas.microsoft.com/office/drawing/2014/main" id="{7206A7E8-A6D6-D031-2A89-D9999BE591D3}"/>
              </a:ext>
            </a:extLst>
          </p:cNvPr>
          <p:cNvSpPr txBox="1">
            <a:spLocks/>
          </p:cNvSpPr>
          <p:nvPr/>
        </p:nvSpPr>
        <p:spPr>
          <a:xfrm>
            <a:off x="417531" y="155490"/>
            <a:ext cx="8308800" cy="3420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solidFill>
                  <a:schemeClr val="accent1"/>
                </a:solidFill>
              </a:rPr>
              <a:t>Recommended Tool Selection for the Project</a:t>
            </a:r>
            <a:br>
              <a:rPr lang="en-US" dirty="0"/>
            </a:br>
            <a:endParaRPr lang="en-US" dirty="0"/>
          </a:p>
        </p:txBody>
      </p:sp>
      <p:graphicFrame>
        <p:nvGraphicFramePr>
          <p:cNvPr id="2" name="Table 1">
            <a:extLst>
              <a:ext uri="{FF2B5EF4-FFF2-40B4-BE49-F238E27FC236}">
                <a16:creationId xmlns:a16="http://schemas.microsoft.com/office/drawing/2014/main" id="{B895D2A2-5EEF-AECE-27C3-98BF7D60F1D2}"/>
              </a:ext>
            </a:extLst>
          </p:cNvPr>
          <p:cNvGraphicFramePr>
            <a:graphicFrameLocks noGrp="1"/>
          </p:cNvGraphicFramePr>
          <p:nvPr>
            <p:extLst>
              <p:ext uri="{D42A27DB-BD31-4B8C-83A1-F6EECF244321}">
                <p14:modId xmlns:p14="http://schemas.microsoft.com/office/powerpoint/2010/main" val="280079118"/>
              </p:ext>
            </p:extLst>
          </p:nvPr>
        </p:nvGraphicFramePr>
        <p:xfrm>
          <a:off x="604156" y="595993"/>
          <a:ext cx="8033658" cy="4080552"/>
        </p:xfrm>
        <a:graphic>
          <a:graphicData uri="http://schemas.openxmlformats.org/drawingml/2006/table">
            <a:tbl>
              <a:tblPr>
                <a:tableStyleId>{69CF1AB2-1976-4502-BF36-3FF5EA218861}</a:tableStyleId>
              </a:tblPr>
              <a:tblGrid>
                <a:gridCol w="4016829">
                  <a:extLst>
                    <a:ext uri="{9D8B030D-6E8A-4147-A177-3AD203B41FA5}">
                      <a16:colId xmlns:a16="http://schemas.microsoft.com/office/drawing/2014/main" val="1841937817"/>
                    </a:ext>
                  </a:extLst>
                </a:gridCol>
                <a:gridCol w="4016829">
                  <a:extLst>
                    <a:ext uri="{9D8B030D-6E8A-4147-A177-3AD203B41FA5}">
                      <a16:colId xmlns:a16="http://schemas.microsoft.com/office/drawing/2014/main" val="4201406742"/>
                    </a:ext>
                  </a:extLst>
                </a:gridCol>
              </a:tblGrid>
              <a:tr h="291468">
                <a:tc>
                  <a:txBody>
                    <a:bodyPr/>
                    <a:lstStyle/>
                    <a:p>
                      <a:pPr>
                        <a:buNone/>
                      </a:pPr>
                      <a:r>
                        <a:rPr lang="en-US" sz="1100" b="1"/>
                        <a:t>Module</a:t>
                      </a:r>
                    </a:p>
                  </a:txBody>
                  <a:tcPr marL="71699" marR="71699" marT="35850" marB="35850" anchor="ctr"/>
                </a:tc>
                <a:tc>
                  <a:txBody>
                    <a:bodyPr/>
                    <a:lstStyle/>
                    <a:p>
                      <a:pPr>
                        <a:buNone/>
                      </a:pPr>
                      <a:r>
                        <a:rPr lang="en-US" sz="1100" b="1" dirty="0"/>
                        <a:t>Recommended Tool</a:t>
                      </a:r>
                    </a:p>
                  </a:txBody>
                  <a:tcPr marL="71699" marR="71699" marT="35850" marB="35850" anchor="ctr"/>
                </a:tc>
                <a:extLst>
                  <a:ext uri="{0D108BD9-81ED-4DB2-BD59-A6C34878D82A}">
                    <a16:rowId xmlns:a16="http://schemas.microsoft.com/office/drawing/2014/main" val="2222144862"/>
                  </a:ext>
                </a:extLst>
              </a:tr>
              <a:tr h="291468">
                <a:tc>
                  <a:txBody>
                    <a:bodyPr/>
                    <a:lstStyle/>
                    <a:p>
                      <a:pPr>
                        <a:buNone/>
                      </a:pPr>
                      <a:r>
                        <a:rPr lang="en-US" sz="1100" dirty="0"/>
                        <a:t>Scheduler Agent</a:t>
                      </a:r>
                    </a:p>
                  </a:txBody>
                  <a:tcPr marL="71699" marR="71699" marT="35850" marB="35850" anchor="ctr"/>
                </a:tc>
                <a:tc>
                  <a:txBody>
                    <a:bodyPr/>
                    <a:lstStyle/>
                    <a:p>
                      <a:pPr>
                        <a:buNone/>
                      </a:pPr>
                      <a:r>
                        <a:rPr lang="en-US" sz="1100" dirty="0"/>
                        <a:t>PyTorch + RLlib</a:t>
                      </a:r>
                    </a:p>
                  </a:txBody>
                  <a:tcPr marL="71699" marR="71699" marT="35850" marB="35850" anchor="ctr"/>
                </a:tc>
                <a:extLst>
                  <a:ext uri="{0D108BD9-81ED-4DB2-BD59-A6C34878D82A}">
                    <a16:rowId xmlns:a16="http://schemas.microsoft.com/office/drawing/2014/main" val="3035206762"/>
                  </a:ext>
                </a:extLst>
              </a:tr>
              <a:tr h="291468">
                <a:tc>
                  <a:txBody>
                    <a:bodyPr/>
                    <a:lstStyle/>
                    <a:p>
                      <a:pPr>
                        <a:buNone/>
                      </a:pPr>
                      <a:r>
                        <a:rPr lang="en-US" sz="1100"/>
                        <a:t>Resource Allocation Agent</a:t>
                      </a:r>
                    </a:p>
                  </a:txBody>
                  <a:tcPr marL="71699" marR="71699" marT="35850" marB="35850" anchor="ctr"/>
                </a:tc>
                <a:tc>
                  <a:txBody>
                    <a:bodyPr/>
                    <a:lstStyle/>
                    <a:p>
                      <a:pPr>
                        <a:buNone/>
                      </a:pPr>
                      <a:r>
                        <a:rPr lang="en-US" sz="1100"/>
                        <a:t>PyTorch + RLlib</a:t>
                      </a:r>
                    </a:p>
                  </a:txBody>
                  <a:tcPr marL="71699" marR="71699" marT="35850" marB="35850" anchor="ctr"/>
                </a:tc>
                <a:extLst>
                  <a:ext uri="{0D108BD9-81ED-4DB2-BD59-A6C34878D82A}">
                    <a16:rowId xmlns:a16="http://schemas.microsoft.com/office/drawing/2014/main" val="3877948282"/>
                  </a:ext>
                </a:extLst>
              </a:tr>
              <a:tr h="291468">
                <a:tc>
                  <a:txBody>
                    <a:bodyPr/>
                    <a:lstStyle/>
                    <a:p>
                      <a:pPr>
                        <a:buNone/>
                      </a:pPr>
                      <a:r>
                        <a:rPr lang="en-US" sz="1100"/>
                        <a:t>Mobility Agent</a:t>
                      </a:r>
                    </a:p>
                  </a:txBody>
                  <a:tcPr marL="71699" marR="71699" marT="35850" marB="35850" anchor="ctr"/>
                </a:tc>
                <a:tc>
                  <a:txBody>
                    <a:bodyPr/>
                    <a:lstStyle/>
                    <a:p>
                      <a:pPr>
                        <a:buNone/>
                      </a:pPr>
                      <a:r>
                        <a:rPr lang="en-US" sz="1100"/>
                        <a:t>PyTorch + Transformers</a:t>
                      </a:r>
                    </a:p>
                  </a:txBody>
                  <a:tcPr marL="71699" marR="71699" marT="35850" marB="35850" anchor="ctr"/>
                </a:tc>
                <a:extLst>
                  <a:ext uri="{0D108BD9-81ED-4DB2-BD59-A6C34878D82A}">
                    <a16:rowId xmlns:a16="http://schemas.microsoft.com/office/drawing/2014/main" val="3144285758"/>
                  </a:ext>
                </a:extLst>
              </a:tr>
              <a:tr h="291468">
                <a:tc>
                  <a:txBody>
                    <a:bodyPr/>
                    <a:lstStyle/>
                    <a:p>
                      <a:pPr>
                        <a:buNone/>
                      </a:pPr>
                      <a:r>
                        <a:rPr lang="en-US" sz="1100"/>
                        <a:t>Security Agent</a:t>
                      </a:r>
                    </a:p>
                  </a:txBody>
                  <a:tcPr marL="71699" marR="71699" marT="35850" marB="35850" anchor="ctr"/>
                </a:tc>
                <a:tc>
                  <a:txBody>
                    <a:bodyPr/>
                    <a:lstStyle/>
                    <a:p>
                      <a:pPr>
                        <a:buNone/>
                      </a:pPr>
                      <a:r>
                        <a:rPr lang="en-US" sz="1100" dirty="0"/>
                        <a:t>PyTorch Geometric + Suricata or any security algorithms</a:t>
                      </a:r>
                    </a:p>
                  </a:txBody>
                  <a:tcPr marL="71699" marR="71699" marT="35850" marB="35850" anchor="ctr"/>
                </a:tc>
                <a:extLst>
                  <a:ext uri="{0D108BD9-81ED-4DB2-BD59-A6C34878D82A}">
                    <a16:rowId xmlns:a16="http://schemas.microsoft.com/office/drawing/2014/main" val="867861879"/>
                  </a:ext>
                </a:extLst>
              </a:tr>
              <a:tr h="291468">
                <a:tc>
                  <a:txBody>
                    <a:bodyPr/>
                    <a:lstStyle/>
                    <a:p>
                      <a:pPr>
                        <a:buNone/>
                      </a:pPr>
                      <a:r>
                        <a:rPr lang="en-US" sz="1100"/>
                        <a:t>Digital Twin</a:t>
                      </a:r>
                    </a:p>
                  </a:txBody>
                  <a:tcPr marL="71699" marR="71699" marT="35850" marB="35850" anchor="ctr"/>
                </a:tc>
                <a:tc>
                  <a:txBody>
                    <a:bodyPr/>
                    <a:lstStyle/>
                    <a:p>
                      <a:pPr>
                        <a:buNone/>
                      </a:pPr>
                      <a:r>
                        <a:rPr lang="en-US" sz="1100"/>
                        <a:t>NVIDIA Omniverse / NS-3</a:t>
                      </a:r>
                    </a:p>
                  </a:txBody>
                  <a:tcPr marL="71699" marR="71699" marT="35850" marB="35850" anchor="ctr"/>
                </a:tc>
                <a:extLst>
                  <a:ext uri="{0D108BD9-81ED-4DB2-BD59-A6C34878D82A}">
                    <a16:rowId xmlns:a16="http://schemas.microsoft.com/office/drawing/2014/main" val="1627257402"/>
                  </a:ext>
                </a:extLst>
              </a:tr>
              <a:tr h="291468">
                <a:tc>
                  <a:txBody>
                    <a:bodyPr/>
                    <a:lstStyle/>
                    <a:p>
                      <a:pPr>
                        <a:buNone/>
                      </a:pPr>
                      <a:r>
                        <a:rPr lang="en-US" sz="1100"/>
                        <a:t>Knowledge Graph</a:t>
                      </a:r>
                    </a:p>
                  </a:txBody>
                  <a:tcPr marL="71699" marR="71699" marT="35850" marB="35850" anchor="ctr"/>
                </a:tc>
                <a:tc>
                  <a:txBody>
                    <a:bodyPr/>
                    <a:lstStyle/>
                    <a:p>
                      <a:pPr>
                        <a:buNone/>
                      </a:pPr>
                      <a:r>
                        <a:rPr lang="en-US" sz="1100"/>
                        <a:t>Neo4j</a:t>
                      </a:r>
                    </a:p>
                  </a:txBody>
                  <a:tcPr marL="71699" marR="71699" marT="35850" marB="35850" anchor="ctr"/>
                </a:tc>
                <a:extLst>
                  <a:ext uri="{0D108BD9-81ED-4DB2-BD59-A6C34878D82A}">
                    <a16:rowId xmlns:a16="http://schemas.microsoft.com/office/drawing/2014/main" val="2492948845"/>
                  </a:ext>
                </a:extLst>
              </a:tr>
              <a:tr h="291468">
                <a:tc>
                  <a:txBody>
                    <a:bodyPr/>
                    <a:lstStyle/>
                    <a:p>
                      <a:pPr>
                        <a:buNone/>
                      </a:pPr>
                      <a:r>
                        <a:rPr lang="en-US" sz="1100"/>
                        <a:t>Federated Learning</a:t>
                      </a:r>
                    </a:p>
                  </a:txBody>
                  <a:tcPr marL="71699" marR="71699" marT="35850" marB="35850" anchor="ctr"/>
                </a:tc>
                <a:tc>
                  <a:txBody>
                    <a:bodyPr/>
                    <a:lstStyle/>
                    <a:p>
                      <a:pPr>
                        <a:buNone/>
                      </a:pPr>
                      <a:r>
                        <a:rPr lang="en-US" sz="1100"/>
                        <a:t>Flower</a:t>
                      </a:r>
                    </a:p>
                  </a:txBody>
                  <a:tcPr marL="71699" marR="71699" marT="35850" marB="35850" anchor="ctr"/>
                </a:tc>
                <a:extLst>
                  <a:ext uri="{0D108BD9-81ED-4DB2-BD59-A6C34878D82A}">
                    <a16:rowId xmlns:a16="http://schemas.microsoft.com/office/drawing/2014/main" val="4034773929"/>
                  </a:ext>
                </a:extLst>
              </a:tr>
              <a:tr h="291468">
                <a:tc>
                  <a:txBody>
                    <a:bodyPr/>
                    <a:lstStyle/>
                    <a:p>
                      <a:pPr>
                        <a:buNone/>
                      </a:pPr>
                      <a:r>
                        <a:rPr lang="en-US" sz="1100"/>
                        <a:t>Multi-Agent Framework</a:t>
                      </a:r>
                    </a:p>
                  </a:txBody>
                  <a:tcPr marL="71699" marR="71699" marT="35850" marB="35850" anchor="ctr"/>
                </a:tc>
                <a:tc>
                  <a:txBody>
                    <a:bodyPr/>
                    <a:lstStyle/>
                    <a:p>
                      <a:pPr>
                        <a:buNone/>
                      </a:pPr>
                      <a:r>
                        <a:rPr lang="en-US" sz="1100" dirty="0" err="1"/>
                        <a:t>PettingZoo</a:t>
                      </a:r>
                      <a:r>
                        <a:rPr lang="en-US" sz="1100" dirty="0"/>
                        <a:t> + RLlib or Agentic Platforms like AWS or relative</a:t>
                      </a:r>
                    </a:p>
                  </a:txBody>
                  <a:tcPr marL="71699" marR="71699" marT="35850" marB="35850" anchor="ctr"/>
                </a:tc>
                <a:extLst>
                  <a:ext uri="{0D108BD9-81ED-4DB2-BD59-A6C34878D82A}">
                    <a16:rowId xmlns:a16="http://schemas.microsoft.com/office/drawing/2014/main" val="3744450786"/>
                  </a:ext>
                </a:extLst>
              </a:tr>
              <a:tr h="291468">
                <a:tc>
                  <a:txBody>
                    <a:bodyPr/>
                    <a:lstStyle/>
                    <a:p>
                      <a:pPr>
                        <a:buNone/>
                      </a:pPr>
                      <a:r>
                        <a:rPr lang="en-US" sz="1100"/>
                        <a:t>O-RAN Integration</a:t>
                      </a:r>
                    </a:p>
                  </a:txBody>
                  <a:tcPr marL="71699" marR="71699" marT="35850" marB="35850" anchor="ctr"/>
                </a:tc>
                <a:tc>
                  <a:txBody>
                    <a:bodyPr/>
                    <a:lstStyle/>
                    <a:p>
                      <a:pPr>
                        <a:buNone/>
                      </a:pPr>
                      <a:r>
                        <a:rPr lang="en-US" sz="1100"/>
                        <a:t>O-RAN SC Near-RT RIC</a:t>
                      </a:r>
                    </a:p>
                  </a:txBody>
                  <a:tcPr marL="71699" marR="71699" marT="35850" marB="35850" anchor="ctr"/>
                </a:tc>
                <a:extLst>
                  <a:ext uri="{0D108BD9-81ED-4DB2-BD59-A6C34878D82A}">
                    <a16:rowId xmlns:a16="http://schemas.microsoft.com/office/drawing/2014/main" val="3776562645"/>
                  </a:ext>
                </a:extLst>
              </a:tr>
              <a:tr h="291468">
                <a:tc>
                  <a:txBody>
                    <a:bodyPr/>
                    <a:lstStyle/>
                    <a:p>
                      <a:pPr>
                        <a:buNone/>
                      </a:pPr>
                      <a:r>
                        <a:rPr lang="en-US" sz="1100"/>
                        <a:t>KPI Monitoring</a:t>
                      </a:r>
                    </a:p>
                  </a:txBody>
                  <a:tcPr marL="71699" marR="71699" marT="35850" marB="35850" anchor="ctr"/>
                </a:tc>
                <a:tc>
                  <a:txBody>
                    <a:bodyPr/>
                    <a:lstStyle/>
                    <a:p>
                      <a:pPr>
                        <a:buNone/>
                      </a:pPr>
                      <a:r>
                        <a:rPr lang="en-US" sz="1100"/>
                        <a:t>Prometheus + Grafana</a:t>
                      </a:r>
                    </a:p>
                  </a:txBody>
                  <a:tcPr marL="71699" marR="71699" marT="35850" marB="35850" anchor="ctr"/>
                </a:tc>
                <a:extLst>
                  <a:ext uri="{0D108BD9-81ED-4DB2-BD59-A6C34878D82A}">
                    <a16:rowId xmlns:a16="http://schemas.microsoft.com/office/drawing/2014/main" val="2324470555"/>
                  </a:ext>
                </a:extLst>
              </a:tr>
              <a:tr h="291468">
                <a:tc>
                  <a:txBody>
                    <a:bodyPr/>
                    <a:lstStyle/>
                    <a:p>
                      <a:pPr>
                        <a:buNone/>
                      </a:pPr>
                      <a:r>
                        <a:rPr lang="en-US" sz="1100"/>
                        <a:t>MLOps</a:t>
                      </a:r>
                    </a:p>
                  </a:txBody>
                  <a:tcPr marL="71699" marR="71699" marT="35850" marB="35850" anchor="ctr"/>
                </a:tc>
                <a:tc>
                  <a:txBody>
                    <a:bodyPr/>
                    <a:lstStyle/>
                    <a:p>
                      <a:pPr>
                        <a:buNone/>
                      </a:pPr>
                      <a:r>
                        <a:rPr lang="en-US" sz="1100"/>
                        <a:t>Kubeflow + MLflow</a:t>
                      </a:r>
                    </a:p>
                  </a:txBody>
                  <a:tcPr marL="71699" marR="71699" marT="35850" marB="35850" anchor="ctr"/>
                </a:tc>
                <a:extLst>
                  <a:ext uri="{0D108BD9-81ED-4DB2-BD59-A6C34878D82A}">
                    <a16:rowId xmlns:a16="http://schemas.microsoft.com/office/drawing/2014/main" val="1283113129"/>
                  </a:ext>
                </a:extLst>
              </a:tr>
              <a:tr h="291468">
                <a:tc>
                  <a:txBody>
                    <a:bodyPr/>
                    <a:lstStyle/>
                    <a:p>
                      <a:pPr>
                        <a:buNone/>
                      </a:pPr>
                      <a:r>
                        <a:rPr lang="en-US" sz="1100"/>
                        <a:t>Air Interface</a:t>
                      </a:r>
                    </a:p>
                  </a:txBody>
                  <a:tcPr marL="71699" marR="71699" marT="35850" marB="35850" anchor="ctr"/>
                </a:tc>
                <a:tc>
                  <a:txBody>
                    <a:bodyPr/>
                    <a:lstStyle/>
                    <a:p>
                      <a:pPr>
                        <a:buNone/>
                      </a:pPr>
                      <a:r>
                        <a:rPr lang="en-US" sz="1100"/>
                        <a:t>Sionna + MATLAB 5G Toolbox</a:t>
                      </a:r>
                    </a:p>
                  </a:txBody>
                  <a:tcPr marL="71699" marR="71699" marT="35850" marB="35850" anchor="ctr"/>
                </a:tc>
                <a:extLst>
                  <a:ext uri="{0D108BD9-81ED-4DB2-BD59-A6C34878D82A}">
                    <a16:rowId xmlns:a16="http://schemas.microsoft.com/office/drawing/2014/main" val="2909489066"/>
                  </a:ext>
                </a:extLst>
              </a:tr>
              <a:tr h="291468">
                <a:tc>
                  <a:txBody>
                    <a:bodyPr/>
                    <a:lstStyle/>
                    <a:p>
                      <a:pPr>
                        <a:buNone/>
                      </a:pPr>
                      <a:r>
                        <a:rPr lang="en-US" sz="1100"/>
                        <a:t>End-to-End Simulation</a:t>
                      </a:r>
                    </a:p>
                  </a:txBody>
                  <a:tcPr marL="71699" marR="71699" marT="35850" marB="35850" anchor="ctr"/>
                </a:tc>
                <a:tc>
                  <a:txBody>
                    <a:bodyPr/>
                    <a:lstStyle/>
                    <a:p>
                      <a:pPr>
                        <a:buNone/>
                      </a:pPr>
                      <a:r>
                        <a:rPr lang="en-US" sz="1100" dirty="0"/>
                        <a:t>NS-3 + OAI + O-RAN SC</a:t>
                      </a:r>
                    </a:p>
                  </a:txBody>
                  <a:tcPr marL="71699" marR="71699" marT="35850" marB="35850" anchor="ctr"/>
                </a:tc>
                <a:extLst>
                  <a:ext uri="{0D108BD9-81ED-4DB2-BD59-A6C34878D82A}">
                    <a16:rowId xmlns:a16="http://schemas.microsoft.com/office/drawing/2014/main" val="3923962422"/>
                  </a:ext>
                </a:extLst>
              </a:tr>
            </a:tbl>
          </a:graphicData>
        </a:graphic>
      </p:graphicFrame>
    </p:spTree>
    <p:extLst>
      <p:ext uri="{BB962C8B-B14F-4D97-AF65-F5344CB8AC3E}">
        <p14:creationId xmlns:p14="http://schemas.microsoft.com/office/powerpoint/2010/main" val="4275115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005164E-48B4-95A9-E540-50ACADA603CD}"/>
              </a:ext>
            </a:extLst>
          </p:cNvPr>
          <p:cNvSpPr>
            <a:spLocks noGrp="1"/>
          </p:cNvSpPr>
          <p:nvPr>
            <p:ph type="ftr" sz="quarter" idx="3"/>
          </p:nvPr>
        </p:nvSpPr>
        <p:spPr/>
        <p:txBody>
          <a:bodyPr/>
          <a:lstStyle/>
          <a:p>
            <a:r>
              <a:rPr lang="en-US"/>
              <a:t>Apply a document ID (if applicable).</a:t>
            </a:r>
            <a:endParaRPr lang="en-US" dirty="0"/>
          </a:p>
        </p:txBody>
      </p:sp>
      <p:pic>
        <p:nvPicPr>
          <p:cNvPr id="5" name="Picture 4">
            <a:extLst>
              <a:ext uri="{FF2B5EF4-FFF2-40B4-BE49-F238E27FC236}">
                <a16:creationId xmlns:a16="http://schemas.microsoft.com/office/drawing/2014/main" id="{0D162960-59C3-2A74-9D7C-A031B508D62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660" y="91167"/>
            <a:ext cx="8912679" cy="4456340"/>
          </a:xfrm>
          <a:prstGeom prst="rect">
            <a:avLst/>
          </a:prstGeom>
          <a:noFill/>
        </p:spPr>
      </p:pic>
    </p:spTree>
    <p:extLst>
      <p:ext uri="{BB962C8B-B14F-4D97-AF65-F5344CB8AC3E}">
        <p14:creationId xmlns:p14="http://schemas.microsoft.com/office/powerpoint/2010/main" val="3196088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95B21-3E7B-3CE6-739C-E8E3286B061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187AAC-34DE-8DF2-3D81-BCAA7C57BFEE}"/>
              </a:ext>
            </a:extLst>
          </p:cNvPr>
          <p:cNvSpPr>
            <a:spLocks noGrp="1"/>
          </p:cNvSpPr>
          <p:nvPr>
            <p:ph type="ftr" sz="quarter" idx="3"/>
          </p:nvPr>
        </p:nvSpPr>
        <p:spPr/>
        <p:txBody>
          <a:bodyPr/>
          <a:lstStyle/>
          <a:p>
            <a:r>
              <a:rPr lang="en-US"/>
              <a:t>Apply a document ID (if applicable).</a:t>
            </a:r>
            <a:endParaRPr lang="en-US" dirty="0"/>
          </a:p>
        </p:txBody>
      </p:sp>
      <p:pic>
        <p:nvPicPr>
          <p:cNvPr id="2" name="Picture 1">
            <a:extLst>
              <a:ext uri="{FF2B5EF4-FFF2-40B4-BE49-F238E27FC236}">
                <a16:creationId xmlns:a16="http://schemas.microsoft.com/office/drawing/2014/main" id="{587FDB95-B0C5-369F-5BDF-64C2EEEB229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8022" y="282853"/>
            <a:ext cx="8147956" cy="4409929"/>
          </a:xfrm>
          <a:prstGeom prst="rect">
            <a:avLst/>
          </a:prstGeom>
          <a:noFill/>
        </p:spPr>
      </p:pic>
    </p:spTree>
    <p:extLst>
      <p:ext uri="{BB962C8B-B14F-4D97-AF65-F5344CB8AC3E}">
        <p14:creationId xmlns:p14="http://schemas.microsoft.com/office/powerpoint/2010/main" val="2711677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821A3-D244-8AD3-8051-DCF1133B3AC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A42FD0A-FFA8-B785-391A-13F3D68EE22C}"/>
              </a:ext>
            </a:extLst>
          </p:cNvPr>
          <p:cNvSpPr>
            <a:spLocks noGrp="1"/>
          </p:cNvSpPr>
          <p:nvPr>
            <p:ph type="title"/>
          </p:nvPr>
        </p:nvSpPr>
        <p:spPr>
          <a:xfrm>
            <a:off x="417531" y="155490"/>
            <a:ext cx="8308800" cy="342000"/>
          </a:xfrm>
        </p:spPr>
        <p:txBody>
          <a:bodyPr/>
          <a:lstStyle/>
          <a:p>
            <a:r>
              <a:rPr lang="en-US" b="1" dirty="0"/>
              <a:t>Final Deliverables</a:t>
            </a:r>
            <a:br>
              <a:rPr lang="en-US" dirty="0"/>
            </a:br>
            <a:endParaRPr lang="en-US" dirty="0"/>
          </a:p>
        </p:txBody>
      </p:sp>
      <p:sp>
        <p:nvSpPr>
          <p:cNvPr id="8" name="Text Placeholder 7">
            <a:extLst>
              <a:ext uri="{FF2B5EF4-FFF2-40B4-BE49-F238E27FC236}">
                <a16:creationId xmlns:a16="http://schemas.microsoft.com/office/drawing/2014/main" id="{90FC234A-C4A0-33A7-5E8C-C441028C8362}"/>
              </a:ext>
            </a:extLst>
          </p:cNvPr>
          <p:cNvSpPr>
            <a:spLocks noGrp="1"/>
          </p:cNvSpPr>
          <p:nvPr>
            <p:ph type="body" sz="quarter" idx="15"/>
          </p:nvPr>
        </p:nvSpPr>
        <p:spPr>
          <a:xfrm>
            <a:off x="417531" y="622094"/>
            <a:ext cx="2774898" cy="3311485"/>
          </a:xfrm>
        </p:spPr>
        <p:txBody>
          <a:bodyPr/>
          <a:lstStyle/>
          <a:p>
            <a:r>
              <a:rPr lang="en-US" b="1" dirty="0"/>
              <a:t>Software Deliverables</a:t>
            </a:r>
          </a:p>
          <a:p>
            <a:r>
              <a:rPr lang="en-US" dirty="0"/>
              <a:t>AI-Native Air Interface Framework </a:t>
            </a:r>
          </a:p>
          <a:p>
            <a:r>
              <a:rPr lang="en-US" dirty="0"/>
              <a:t>Scheduler Agent </a:t>
            </a:r>
          </a:p>
          <a:p>
            <a:r>
              <a:rPr lang="en-US" dirty="0"/>
              <a:t>Resource Allocation Agent </a:t>
            </a:r>
          </a:p>
          <a:p>
            <a:r>
              <a:rPr lang="en-US" dirty="0"/>
              <a:t>Mobility Agent </a:t>
            </a:r>
          </a:p>
          <a:p>
            <a:r>
              <a:rPr lang="en-US" dirty="0"/>
              <a:t>Security Agent </a:t>
            </a:r>
          </a:p>
          <a:p>
            <a:r>
              <a:rPr lang="en-US" dirty="0"/>
              <a:t>Energy Agent </a:t>
            </a:r>
          </a:p>
          <a:p>
            <a:r>
              <a:rPr lang="en-US" dirty="0"/>
              <a:t>Digital Twin Platform </a:t>
            </a:r>
          </a:p>
          <a:p>
            <a:r>
              <a:rPr lang="en-US" dirty="0"/>
              <a:t>Knowledge Graph Engine </a:t>
            </a:r>
          </a:p>
          <a:p>
            <a:r>
              <a:rPr lang="en-US" dirty="0"/>
              <a:t>Federated Learning Framework </a:t>
            </a:r>
          </a:p>
          <a:p>
            <a:r>
              <a:rPr lang="en-US" dirty="0"/>
              <a:t>Multi-Agent Coordination Engine </a:t>
            </a:r>
          </a:p>
          <a:p>
            <a:r>
              <a:rPr lang="en-US" dirty="0"/>
              <a:t>O-RAN xApps </a:t>
            </a:r>
          </a:p>
          <a:p>
            <a:r>
              <a:rPr lang="en-US" dirty="0"/>
              <a:t>O-RAN </a:t>
            </a:r>
            <a:r>
              <a:rPr lang="en-US" dirty="0" err="1"/>
              <a:t>rApps</a:t>
            </a:r>
            <a:endParaRPr lang="en-US" dirty="0"/>
          </a:p>
          <a:p>
            <a:pPr marL="0" indent="0">
              <a:buNone/>
            </a:pPr>
            <a:endParaRPr lang="en-US" dirty="0"/>
          </a:p>
        </p:txBody>
      </p:sp>
      <p:sp>
        <p:nvSpPr>
          <p:cNvPr id="9" name="Text Placeholder 8">
            <a:extLst>
              <a:ext uri="{FF2B5EF4-FFF2-40B4-BE49-F238E27FC236}">
                <a16:creationId xmlns:a16="http://schemas.microsoft.com/office/drawing/2014/main" id="{051BC313-8945-E4B7-FA6C-34FFB6A3E1A6}"/>
              </a:ext>
            </a:extLst>
          </p:cNvPr>
          <p:cNvSpPr>
            <a:spLocks noGrp="1"/>
          </p:cNvSpPr>
          <p:nvPr>
            <p:ph type="body" sz="quarter" idx="16"/>
          </p:nvPr>
        </p:nvSpPr>
        <p:spPr>
          <a:xfrm>
            <a:off x="3638129" y="155121"/>
            <a:ext cx="3374993" cy="1794499"/>
          </a:xfrm>
        </p:spPr>
        <p:txBody>
          <a:bodyPr/>
          <a:lstStyle/>
          <a:p>
            <a:r>
              <a:rPr lang="en-US" b="1" dirty="0"/>
              <a:t>Documentation</a:t>
            </a:r>
            <a:endParaRPr lang="en-US" dirty="0"/>
          </a:p>
          <a:p>
            <a:pPr lvl="0"/>
            <a:r>
              <a:rPr lang="en-US" dirty="0"/>
              <a:t>Complete Architecture Design</a:t>
            </a:r>
          </a:p>
          <a:p>
            <a:pPr lvl="0"/>
            <a:r>
              <a:rPr lang="en-US" dirty="0"/>
              <a:t>Dataset Repository</a:t>
            </a:r>
          </a:p>
          <a:p>
            <a:pPr lvl="0"/>
            <a:r>
              <a:rPr lang="en-US" dirty="0"/>
              <a:t>Performance Evaluation Report</a:t>
            </a:r>
          </a:p>
          <a:p>
            <a:pPr lvl="0"/>
            <a:r>
              <a:rPr lang="en-US" dirty="0"/>
              <a:t>Benchmarking Report</a:t>
            </a:r>
          </a:p>
          <a:p>
            <a:pPr lvl="0"/>
            <a:r>
              <a:rPr lang="en-US" dirty="0"/>
              <a:t>Technical Whitepaper (If required)</a:t>
            </a:r>
          </a:p>
          <a:p>
            <a:r>
              <a:rPr lang="en-US" dirty="0"/>
              <a:t>IEEE Conference Paper (If required)</a:t>
            </a:r>
          </a:p>
          <a:p>
            <a:pPr marL="0" lvl="0" indent="0">
              <a:buNone/>
            </a:pPr>
            <a:endParaRPr lang="en-US" dirty="0"/>
          </a:p>
        </p:txBody>
      </p:sp>
      <p:sp>
        <p:nvSpPr>
          <p:cNvPr id="5" name="Footer Placeholder 4">
            <a:extLst>
              <a:ext uri="{FF2B5EF4-FFF2-40B4-BE49-F238E27FC236}">
                <a16:creationId xmlns:a16="http://schemas.microsoft.com/office/drawing/2014/main" id="{CB3858F9-4A7A-0A5D-E635-6EB42D06EB65}"/>
              </a:ext>
            </a:extLst>
          </p:cNvPr>
          <p:cNvSpPr>
            <a:spLocks noGrp="1"/>
          </p:cNvSpPr>
          <p:nvPr>
            <p:ph type="ftr" sz="quarter" idx="3"/>
          </p:nvPr>
        </p:nvSpPr>
        <p:spPr/>
        <p:txBody>
          <a:bodyPr/>
          <a:lstStyle/>
          <a:p>
            <a:r>
              <a:rPr lang="en-US"/>
              <a:t>Apply a document ID (if applicable).</a:t>
            </a:r>
            <a:endParaRPr lang="en-US" dirty="0"/>
          </a:p>
        </p:txBody>
      </p:sp>
      <p:sp>
        <p:nvSpPr>
          <p:cNvPr id="4" name="Text Placeholder 7">
            <a:extLst>
              <a:ext uri="{FF2B5EF4-FFF2-40B4-BE49-F238E27FC236}">
                <a16:creationId xmlns:a16="http://schemas.microsoft.com/office/drawing/2014/main" id="{C9934983-0BAA-3503-9B8E-08C71A00E32B}"/>
              </a:ext>
            </a:extLst>
          </p:cNvPr>
          <p:cNvSpPr txBox="1">
            <a:spLocks/>
          </p:cNvSpPr>
          <p:nvPr/>
        </p:nvSpPr>
        <p:spPr>
          <a:xfrm>
            <a:off x="6369102" y="213581"/>
            <a:ext cx="2538134" cy="2064256"/>
          </a:xfrm>
          <a:prstGeom prst="rect">
            <a:avLst/>
          </a:prstGeom>
        </p:spPr>
        <p:txBody>
          <a:bodyPr lIns="0" tIns="0" rIns="0" bIns="0"/>
          <a:lstStyle>
            <a:lvl1pPr marL="180000" indent="-180000" algn="l" defTabSz="685800" rtl="0" eaLnBrk="1" latinLnBrk="0" hangingPunct="1">
              <a:lnSpc>
                <a:spcPct val="100000"/>
              </a:lnSpc>
              <a:spcBef>
                <a:spcPts val="0"/>
              </a:spcBef>
              <a:spcAft>
                <a:spcPts val="600"/>
              </a:spcAft>
              <a:buSzPct val="70000"/>
              <a:buFont typeface="Arial" panose="020B0604020202020204" pitchFamily="34" charset="0"/>
              <a:buChar char="•"/>
              <a:defRPr sz="1200" kern="1200">
                <a:solidFill>
                  <a:schemeClr val="tx1"/>
                </a:solidFill>
                <a:latin typeface="+mn-lt"/>
                <a:ea typeface="+mn-ea"/>
                <a:cs typeface="+mn-cs"/>
              </a:defRPr>
            </a:lvl1pPr>
            <a:lvl2pPr marL="360000" indent="-180000" algn="l" defTabSz="685800" rtl="0" eaLnBrk="1" latinLnBrk="0" hangingPunct="1">
              <a:lnSpc>
                <a:spcPct val="100000"/>
              </a:lnSpc>
              <a:spcBef>
                <a:spcPts val="0"/>
              </a:spcBef>
              <a:spcAft>
                <a:spcPts val="600"/>
              </a:spcAft>
              <a:buSzPct val="70000"/>
              <a:buFont typeface="Arial" panose="020B0604020202020204" pitchFamily="34" charset="0"/>
              <a:buChar char="•"/>
              <a:defRPr sz="12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600"/>
              </a:spcAft>
              <a:buSzPct val="70000"/>
              <a:buFont typeface="Arial" panose="020B0604020202020204" pitchFamily="34" charset="0"/>
              <a:buChar char="•"/>
              <a:defRPr sz="1200" kern="1200">
                <a:solidFill>
                  <a:schemeClr val="tx1"/>
                </a:solidFill>
                <a:latin typeface="+mn-lt"/>
                <a:ea typeface="+mn-ea"/>
                <a:cs typeface="+mn-cs"/>
              </a:defRPr>
            </a:lvl3pPr>
            <a:lvl4pPr marL="720000" indent="-180000" algn="l" defTabSz="685800" rtl="0" eaLnBrk="1" latinLnBrk="0" hangingPunct="1">
              <a:lnSpc>
                <a:spcPct val="100000"/>
              </a:lnSpc>
              <a:spcBef>
                <a:spcPts val="0"/>
              </a:spcBef>
              <a:spcAft>
                <a:spcPts val="600"/>
              </a:spcAft>
              <a:buSzPct val="70000"/>
              <a:buFont typeface="Arial" panose="020B0604020202020204" pitchFamily="34" charset="0"/>
              <a:buChar char="•"/>
              <a:defRPr lang="en-US" sz="1200" kern="1200" dirty="0">
                <a:solidFill>
                  <a:schemeClr val="tx1"/>
                </a:solidFill>
                <a:latin typeface="+mn-lt"/>
                <a:ea typeface="+mn-ea"/>
                <a:cs typeface="+mn-cs"/>
              </a:defRPr>
            </a:lvl4pPr>
            <a:lvl5pPr marL="900000" indent="-180000" algn="l" defTabSz="685800" rtl="0" eaLnBrk="1" latinLnBrk="0" hangingPunct="1">
              <a:lnSpc>
                <a:spcPct val="100000"/>
              </a:lnSpc>
              <a:spcBef>
                <a:spcPts val="0"/>
              </a:spcBef>
              <a:spcAft>
                <a:spcPts val="600"/>
              </a:spcAft>
              <a:buSzPct val="70000"/>
              <a:buFont typeface="Arial" panose="020B0604020202020204" pitchFamily="34" charset="0"/>
              <a:buChar char="•"/>
              <a:defRPr sz="1200" kern="1200">
                <a:solidFill>
                  <a:schemeClr val="tx1"/>
                </a:solidFill>
                <a:latin typeface="+mn-lt"/>
                <a:ea typeface="+mn-ea"/>
                <a:cs typeface="+mn-cs"/>
              </a:defRPr>
            </a:lvl5pPr>
            <a:lvl6pPr marL="1080000" indent="-180000" algn="l" defTabSz="685800" rtl="0" eaLnBrk="1" latinLnBrk="0" hangingPunct="1">
              <a:lnSpc>
                <a:spcPct val="100000"/>
              </a:lnSpc>
              <a:spcBef>
                <a:spcPts val="0"/>
              </a:spcBef>
              <a:buSzPct val="70000"/>
              <a:buFont typeface="Arial" panose="020B0604020202020204" pitchFamily="34" charset="0"/>
              <a:buChar char="•"/>
              <a:defRPr sz="1100" kern="1200">
                <a:solidFill>
                  <a:schemeClr val="tx2"/>
                </a:solidFill>
                <a:latin typeface="+mn-lt"/>
                <a:ea typeface="+mn-ea"/>
                <a:cs typeface="+mn-cs"/>
              </a:defRPr>
            </a:lvl6pPr>
            <a:lvl7pPr marL="108000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b="1" dirty="0"/>
              <a:t>Outputs</a:t>
            </a:r>
            <a:endParaRPr lang="en-US" dirty="0"/>
          </a:p>
          <a:p>
            <a:pPr lvl="0"/>
            <a:r>
              <a:rPr lang="en-US" dirty="0"/>
              <a:t>Trained AI models</a:t>
            </a:r>
          </a:p>
          <a:p>
            <a:pPr lvl="0"/>
            <a:r>
              <a:rPr lang="en-US" dirty="0"/>
              <a:t>Synthetic dataset</a:t>
            </a:r>
          </a:p>
          <a:p>
            <a:pPr lvl="0"/>
            <a:r>
              <a:rPr lang="en-US" dirty="0"/>
              <a:t>Threat detection framework</a:t>
            </a:r>
          </a:p>
          <a:p>
            <a:pPr lvl="0"/>
            <a:r>
              <a:rPr lang="en-US" dirty="0"/>
              <a:t>Quantum-safe module</a:t>
            </a:r>
          </a:p>
          <a:p>
            <a:pPr lvl="0"/>
            <a:r>
              <a:rPr lang="en-US" dirty="0"/>
              <a:t>Simulation plots</a:t>
            </a:r>
          </a:p>
          <a:p>
            <a:pPr marL="0" indent="0">
              <a:buNone/>
            </a:pPr>
            <a:endParaRPr lang="en-US" dirty="0"/>
          </a:p>
        </p:txBody>
      </p:sp>
    </p:spTree>
    <p:extLst>
      <p:ext uri="{BB962C8B-B14F-4D97-AF65-F5344CB8AC3E}">
        <p14:creationId xmlns:p14="http://schemas.microsoft.com/office/powerpoint/2010/main" val="3545815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1F159FF0-B193-7A47-39B7-7A75CCB7FD06}"/>
              </a:ext>
            </a:extLst>
          </p:cNvPr>
          <p:cNvSpPr>
            <a:spLocks noGrp="1"/>
          </p:cNvSpPr>
          <p:nvPr>
            <p:ph type="ftr" sz="quarter" idx="3"/>
          </p:nvPr>
        </p:nvSpPr>
        <p:spPr/>
        <p:txBody>
          <a:bodyPr/>
          <a:lstStyle/>
          <a:p>
            <a:r>
              <a:rPr lang="en-US"/>
              <a:t>Apply a document ID (if applicable).</a:t>
            </a:r>
            <a:endParaRPr lang="en-US" dirty="0"/>
          </a:p>
        </p:txBody>
      </p:sp>
      <p:sp>
        <p:nvSpPr>
          <p:cNvPr id="11" name="TextBox 10">
            <a:extLst>
              <a:ext uri="{FF2B5EF4-FFF2-40B4-BE49-F238E27FC236}">
                <a16:creationId xmlns:a16="http://schemas.microsoft.com/office/drawing/2014/main" id="{23389AAD-F9E1-808C-EF01-8FAE61B49849}"/>
              </a:ext>
            </a:extLst>
          </p:cNvPr>
          <p:cNvSpPr txBox="1"/>
          <p:nvPr/>
        </p:nvSpPr>
        <p:spPr>
          <a:xfrm>
            <a:off x="342901" y="161100"/>
            <a:ext cx="8613320" cy="4616264"/>
          </a:xfrm>
          <a:prstGeom prst="rect">
            <a:avLst/>
          </a:prstGeom>
          <a:noFill/>
          <a:ln>
            <a:noFill/>
          </a:ln>
        </p:spPr>
        <p:txBody>
          <a:bodyPr wrap="square">
            <a:spAutoFit/>
          </a:bodyPr>
          <a:lstStyle/>
          <a:p>
            <a:pPr>
              <a:lnSpc>
                <a:spcPct val="115000"/>
              </a:lnSpc>
              <a:spcAft>
                <a:spcPts val="800"/>
              </a:spcAft>
              <a:buNone/>
            </a:pPr>
            <a:r>
              <a:rPr lang="en-US" sz="1500" b="1" kern="100" dirty="0">
                <a:effectLst/>
                <a:latin typeface="Aptos" panose="020B0004020202020204" pitchFamily="34" charset="0"/>
                <a:ea typeface="Aptos" panose="020B0004020202020204" pitchFamily="34" charset="0"/>
                <a:cs typeface="Times New Roman" panose="02020603050405020304" pitchFamily="18" charset="0"/>
              </a:rPr>
              <a:t>Key References</a:t>
            </a:r>
            <a:endParaRPr lang="en-US" sz="15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US" sz="1500" kern="100" dirty="0">
                <a:effectLst/>
                <a:latin typeface="Aptos" panose="020B0004020202020204" pitchFamily="34" charset="0"/>
                <a:ea typeface="Aptos" panose="020B0004020202020204" pitchFamily="34" charset="0"/>
                <a:cs typeface="Times New Roman" panose="02020603050405020304" pitchFamily="18" charset="0"/>
              </a:rPr>
              <a:t>3rd Generation Partnership Project Release 19 and emerging Release 20 AI/ML studies for RAN automation.</a:t>
            </a:r>
          </a:p>
          <a:p>
            <a:pPr marL="342900" lvl="0" indent="-342900">
              <a:lnSpc>
                <a:spcPct val="115000"/>
              </a:lnSpc>
              <a:spcAft>
                <a:spcPts val="800"/>
              </a:spcAft>
              <a:buFont typeface="+mj-lt"/>
              <a:buAutoNum type="arabicPeriod"/>
              <a:tabLst>
                <a:tab pos="457200" algn="l"/>
              </a:tabLst>
            </a:pPr>
            <a:r>
              <a:rPr lang="en-US" sz="1500" kern="100" dirty="0">
                <a:effectLst/>
                <a:latin typeface="Aptos" panose="020B0004020202020204" pitchFamily="34" charset="0"/>
                <a:ea typeface="Aptos" panose="020B0004020202020204" pitchFamily="34" charset="0"/>
                <a:cs typeface="Times New Roman" panose="02020603050405020304" pitchFamily="18" charset="0"/>
              </a:rPr>
              <a:t>O-RAN Alliance AI-enabled RIC, xApps, </a:t>
            </a:r>
            <a:r>
              <a:rPr lang="en-US" sz="1500" kern="100" dirty="0" err="1">
                <a:effectLst/>
                <a:latin typeface="Aptos" panose="020B0004020202020204" pitchFamily="34" charset="0"/>
                <a:ea typeface="Aptos" panose="020B0004020202020204" pitchFamily="34" charset="0"/>
                <a:cs typeface="Times New Roman" panose="02020603050405020304" pitchFamily="18" charset="0"/>
              </a:rPr>
              <a:t>rApps</a:t>
            </a:r>
            <a:r>
              <a:rPr lang="en-US" sz="1500" kern="100" dirty="0">
                <a:effectLst/>
                <a:latin typeface="Aptos" panose="020B0004020202020204" pitchFamily="34" charset="0"/>
                <a:ea typeface="Aptos" panose="020B0004020202020204" pitchFamily="34" charset="0"/>
                <a:cs typeface="Times New Roman" panose="02020603050405020304" pitchFamily="18" charset="0"/>
              </a:rPr>
              <a:t>, and SMO specifications.</a:t>
            </a:r>
          </a:p>
          <a:p>
            <a:pPr marL="342900" lvl="0" indent="-342900">
              <a:lnSpc>
                <a:spcPct val="115000"/>
              </a:lnSpc>
              <a:spcAft>
                <a:spcPts val="800"/>
              </a:spcAft>
              <a:buFont typeface="+mj-lt"/>
              <a:buAutoNum type="arabicPeriod"/>
              <a:tabLst>
                <a:tab pos="457200" algn="l"/>
              </a:tabLst>
            </a:pPr>
            <a:r>
              <a:rPr lang="en-US" sz="1500" kern="100" dirty="0">
                <a:effectLst/>
                <a:latin typeface="Aptos" panose="020B0004020202020204" pitchFamily="34" charset="0"/>
                <a:ea typeface="Aptos" panose="020B0004020202020204" pitchFamily="34" charset="0"/>
                <a:cs typeface="Times New Roman" panose="02020603050405020304" pitchFamily="18" charset="0"/>
              </a:rPr>
              <a:t>International Telecommunication Union IMT-2030 (6G) Framework and Usage Scenarios.</a:t>
            </a:r>
          </a:p>
          <a:p>
            <a:pPr marL="342900" lvl="0" indent="-342900">
              <a:lnSpc>
                <a:spcPct val="115000"/>
              </a:lnSpc>
              <a:spcAft>
                <a:spcPts val="800"/>
              </a:spcAft>
              <a:buFont typeface="+mj-lt"/>
              <a:buAutoNum type="arabicPeriod"/>
              <a:tabLst>
                <a:tab pos="457200" algn="l"/>
              </a:tabLst>
            </a:pPr>
            <a:r>
              <a:rPr lang="en-US" sz="1500" kern="100" dirty="0">
                <a:effectLst/>
                <a:latin typeface="Aptos" panose="020B0004020202020204" pitchFamily="34" charset="0"/>
                <a:ea typeface="Aptos" panose="020B0004020202020204" pitchFamily="34" charset="0"/>
                <a:cs typeface="Times New Roman" panose="02020603050405020304" pitchFamily="18" charset="0"/>
              </a:rPr>
              <a:t>Next G Alliance Roadmap to 6G and AI-Native Network Vision.</a:t>
            </a:r>
          </a:p>
          <a:p>
            <a:pPr marL="342900" lvl="0" indent="-342900">
              <a:lnSpc>
                <a:spcPct val="115000"/>
              </a:lnSpc>
              <a:spcAft>
                <a:spcPts val="800"/>
              </a:spcAft>
              <a:buFont typeface="+mj-lt"/>
              <a:buAutoNum type="arabicPeriod"/>
              <a:tabLst>
                <a:tab pos="457200" algn="l"/>
              </a:tabLst>
            </a:pPr>
            <a:r>
              <a:rPr lang="en-US" sz="1500" kern="100" dirty="0">
                <a:effectLst/>
                <a:latin typeface="Aptos" panose="020B0004020202020204" pitchFamily="34" charset="0"/>
                <a:ea typeface="Aptos" panose="020B0004020202020204" pitchFamily="34" charset="0"/>
                <a:cs typeface="Times New Roman" panose="02020603050405020304" pitchFamily="18" charset="0"/>
              </a:rPr>
              <a:t>European Telecommunications Standards Institute ENI (Experiential Networked Intelligence) specifications.</a:t>
            </a:r>
          </a:p>
          <a:p>
            <a:pPr marL="342900" lvl="0" indent="-342900">
              <a:lnSpc>
                <a:spcPct val="115000"/>
              </a:lnSpc>
              <a:spcAft>
                <a:spcPts val="800"/>
              </a:spcAft>
              <a:buFont typeface="+mj-lt"/>
              <a:buAutoNum type="arabicPeriod"/>
              <a:tabLst>
                <a:tab pos="457200" algn="l"/>
              </a:tabLst>
            </a:pPr>
            <a:r>
              <a:rPr lang="en-US" sz="1500" kern="100" dirty="0">
                <a:effectLst/>
                <a:latin typeface="Aptos" panose="020B0004020202020204" pitchFamily="34" charset="0"/>
                <a:ea typeface="Aptos" panose="020B0004020202020204" pitchFamily="34" charset="0"/>
                <a:cs typeface="Times New Roman" panose="02020603050405020304" pitchFamily="18" charset="0"/>
              </a:rPr>
              <a:t>Reinforcement Learning: An Introduction.</a:t>
            </a:r>
          </a:p>
          <a:p>
            <a:pPr marL="342900" lvl="0" indent="-342900">
              <a:lnSpc>
                <a:spcPct val="115000"/>
              </a:lnSpc>
              <a:spcAft>
                <a:spcPts val="800"/>
              </a:spcAft>
              <a:buFont typeface="+mj-lt"/>
              <a:buAutoNum type="arabicPeriod"/>
              <a:tabLst>
                <a:tab pos="457200" algn="l"/>
              </a:tabLst>
            </a:pPr>
            <a:r>
              <a:rPr lang="en-US" sz="1500" kern="100" dirty="0">
                <a:effectLst/>
                <a:latin typeface="Aptos" panose="020B0004020202020204" pitchFamily="34" charset="0"/>
                <a:ea typeface="Aptos" panose="020B0004020202020204" pitchFamily="34" charset="0"/>
                <a:cs typeface="Times New Roman" panose="02020603050405020304" pitchFamily="18" charset="0"/>
              </a:rPr>
              <a:t>Multi-Agent Reinforcement Learning.</a:t>
            </a:r>
          </a:p>
          <a:p>
            <a:pPr marL="342900" lvl="0" indent="-342900">
              <a:lnSpc>
                <a:spcPct val="115000"/>
              </a:lnSpc>
              <a:spcAft>
                <a:spcPts val="800"/>
              </a:spcAft>
              <a:buFont typeface="+mj-lt"/>
              <a:buAutoNum type="arabicPeriod"/>
              <a:tabLst>
                <a:tab pos="457200" algn="l"/>
              </a:tabLst>
            </a:pPr>
            <a:r>
              <a:rPr lang="en-US" sz="1500" dirty="0">
                <a:effectLst/>
                <a:latin typeface="Aptos" panose="020B0004020202020204" pitchFamily="34" charset="0"/>
                <a:ea typeface="Aptos" panose="020B0004020202020204" pitchFamily="34" charset="0"/>
                <a:cs typeface="Times New Roman" panose="02020603050405020304" pitchFamily="18" charset="0"/>
              </a:rPr>
              <a:t>Wireless Communications research papers on AI-native air interfaces, semantic communications, GNN-based RAN optimization, and digital-twin-driven autonomous networking published in IEEE Communications Magazine, IEEE JSAC, IEEE TWC, IEEE Network, IEEE Communications Surveys &amp; Tutorials, and ACM </a:t>
            </a:r>
            <a:r>
              <a:rPr lang="en-US" sz="1500" dirty="0" err="1">
                <a:effectLst/>
                <a:latin typeface="Aptos" panose="020B0004020202020204" pitchFamily="34" charset="0"/>
                <a:ea typeface="Aptos" panose="020B0004020202020204" pitchFamily="34" charset="0"/>
                <a:cs typeface="Times New Roman" panose="02020603050405020304" pitchFamily="18" charset="0"/>
              </a:rPr>
              <a:t>MobiCom</a:t>
            </a:r>
            <a:r>
              <a:rPr lang="en-US" sz="1500" dirty="0">
                <a:effectLst/>
                <a:latin typeface="Aptos" panose="020B0004020202020204" pitchFamily="34" charset="0"/>
                <a:ea typeface="Aptos" panose="020B0004020202020204" pitchFamily="34" charset="0"/>
                <a:cs typeface="Times New Roman" panose="02020603050405020304" pitchFamily="18" charset="0"/>
              </a:rPr>
              <a:t>.</a:t>
            </a:r>
            <a:endParaRPr lang="en-US" sz="1500" dirty="0"/>
          </a:p>
        </p:txBody>
      </p:sp>
    </p:spTree>
    <p:extLst>
      <p:ext uri="{BB962C8B-B14F-4D97-AF65-F5344CB8AC3E}">
        <p14:creationId xmlns:p14="http://schemas.microsoft.com/office/powerpoint/2010/main" val="1666998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8C1E0B1E-0C3D-F086-E308-B9F1694B3356}"/>
              </a:ext>
            </a:extLst>
          </p:cNvPr>
          <p:cNvSpPr>
            <a:spLocks noGrp="1"/>
          </p:cNvSpPr>
          <p:nvPr>
            <p:ph type="ftr" sz="quarter" idx="3"/>
          </p:nvPr>
        </p:nvSpPr>
        <p:spPr/>
        <p:txBody>
          <a:bodyPr/>
          <a:lstStyle/>
          <a:p>
            <a:r>
              <a:rPr lang="en-US"/>
              <a:t>Apply a document ID (if applicable).</a:t>
            </a:r>
            <a:endParaRPr lang="en-US" dirty="0"/>
          </a:p>
        </p:txBody>
      </p:sp>
      <p:sp>
        <p:nvSpPr>
          <p:cNvPr id="7" name="TextBox 6">
            <a:extLst>
              <a:ext uri="{FF2B5EF4-FFF2-40B4-BE49-F238E27FC236}">
                <a16:creationId xmlns:a16="http://schemas.microsoft.com/office/drawing/2014/main" id="{C5412A00-2D26-15D1-9244-253AC0CB8AB7}"/>
              </a:ext>
            </a:extLst>
          </p:cNvPr>
          <p:cNvSpPr txBox="1"/>
          <p:nvPr/>
        </p:nvSpPr>
        <p:spPr>
          <a:xfrm>
            <a:off x="693964" y="367393"/>
            <a:ext cx="8188779" cy="3812721"/>
          </a:xfrm>
          <a:prstGeom prst="rect">
            <a:avLst/>
          </a:prstGeom>
          <a:solidFill>
            <a:schemeClr val="accent2"/>
          </a:solid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0"/>
              </a:spcAft>
              <a:buClrTx/>
              <a:buSzTx/>
              <a:buFont typeface="+mj-lt"/>
              <a:buNone/>
              <a:tabLst>
                <a:tab pos="180000" algn="l"/>
              </a:tabLst>
            </a:pPr>
            <a:endParaRPr kumimoji="0" lang="en-US" sz="9000" b="0" i="0" u="none" strike="noStrike" kern="1200" cap="none" spc="0" normalizeH="0" baseline="0" noProof="0" dirty="0">
              <a:ln>
                <a:noFill/>
              </a:ln>
              <a:solidFill>
                <a:schemeClr val="tx1"/>
              </a:solidFill>
              <a:effectLst/>
              <a:uLnTx/>
              <a:uFillTx/>
              <a:latin typeface="Nokia Pure Text Light"/>
              <a:ea typeface="+mn-ea"/>
              <a:cs typeface="+mn-cs"/>
            </a:endParaRPr>
          </a:p>
          <a:p>
            <a:pPr marL="0" marR="0" indent="0" algn="l" defTabSz="180000" rtl="0" eaLnBrk="1" fontAlgn="auto" latinLnBrk="0" hangingPunct="1">
              <a:lnSpc>
                <a:spcPct val="100000"/>
              </a:lnSpc>
              <a:spcBef>
                <a:spcPts val="0"/>
              </a:spcBef>
              <a:spcAft>
                <a:spcPts val="0"/>
              </a:spcAft>
              <a:buClrTx/>
              <a:buSzTx/>
              <a:buFont typeface="+mj-lt"/>
              <a:buNone/>
              <a:tabLst>
                <a:tab pos="180000" algn="l"/>
              </a:tabLst>
            </a:pPr>
            <a:r>
              <a:rPr kumimoji="0" lang="en-US" sz="9000" b="0" i="0" u="none" strike="noStrike" kern="1200" cap="none" spc="0" normalizeH="0" baseline="0" noProof="0" dirty="0">
                <a:ln>
                  <a:noFill/>
                </a:ln>
                <a:solidFill>
                  <a:schemeClr val="tx1"/>
                </a:solidFill>
                <a:effectLst/>
                <a:uLnTx/>
                <a:uFillTx/>
                <a:latin typeface="Nokia Pure Text Light"/>
                <a:ea typeface="+mn-ea"/>
                <a:cs typeface="+mn-cs"/>
              </a:rPr>
              <a:t>Implementation</a:t>
            </a:r>
          </a:p>
        </p:txBody>
      </p:sp>
    </p:spTree>
    <p:extLst>
      <p:ext uri="{BB962C8B-B14F-4D97-AF65-F5344CB8AC3E}">
        <p14:creationId xmlns:p14="http://schemas.microsoft.com/office/powerpoint/2010/main" val="2038644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1254-4DBE-AE5E-2100-AB8BCF4949F9}"/>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B5C85F47-866C-A76C-9F13-EBD1AC274A01}"/>
              </a:ext>
            </a:extLst>
          </p:cNvPr>
          <p:cNvSpPr>
            <a:spLocks noGrp="1"/>
          </p:cNvSpPr>
          <p:nvPr>
            <p:ph type="ftr" sz="quarter" idx="3"/>
          </p:nvPr>
        </p:nvSpPr>
        <p:spPr/>
        <p:txBody>
          <a:bodyPr/>
          <a:lstStyle/>
          <a:p>
            <a:r>
              <a:rPr lang="en-US"/>
              <a:t>Apply a document ID (if applicable).</a:t>
            </a:r>
            <a:endParaRPr lang="en-US" dirty="0"/>
          </a:p>
        </p:txBody>
      </p:sp>
      <p:graphicFrame>
        <p:nvGraphicFramePr>
          <p:cNvPr id="2" name="Table 1">
            <a:extLst>
              <a:ext uri="{FF2B5EF4-FFF2-40B4-BE49-F238E27FC236}">
                <a16:creationId xmlns:a16="http://schemas.microsoft.com/office/drawing/2014/main" id="{5AE2EC5A-48B0-FB03-E990-44C1E612C1FE}"/>
              </a:ext>
            </a:extLst>
          </p:cNvPr>
          <p:cNvGraphicFramePr>
            <a:graphicFrameLocks noGrp="1"/>
          </p:cNvGraphicFramePr>
          <p:nvPr>
            <p:extLst>
              <p:ext uri="{D42A27DB-BD31-4B8C-83A1-F6EECF244321}">
                <p14:modId xmlns:p14="http://schemas.microsoft.com/office/powerpoint/2010/main" val="765451692"/>
              </p:ext>
            </p:extLst>
          </p:nvPr>
        </p:nvGraphicFramePr>
        <p:xfrm>
          <a:off x="604157" y="161101"/>
          <a:ext cx="8001000" cy="4471228"/>
        </p:xfrm>
        <a:graphic>
          <a:graphicData uri="http://schemas.openxmlformats.org/drawingml/2006/table">
            <a:tbl>
              <a:tblPr>
                <a:tableStyleId>{69CF1AB2-1976-4502-BF36-3FF5EA218861}</a:tableStyleId>
              </a:tblPr>
              <a:tblGrid>
                <a:gridCol w="1845129">
                  <a:extLst>
                    <a:ext uri="{9D8B030D-6E8A-4147-A177-3AD203B41FA5}">
                      <a16:colId xmlns:a16="http://schemas.microsoft.com/office/drawing/2014/main" val="3180153"/>
                    </a:ext>
                  </a:extLst>
                </a:gridCol>
                <a:gridCol w="1494064">
                  <a:extLst>
                    <a:ext uri="{9D8B030D-6E8A-4147-A177-3AD203B41FA5}">
                      <a16:colId xmlns:a16="http://schemas.microsoft.com/office/drawing/2014/main" val="4289039616"/>
                    </a:ext>
                  </a:extLst>
                </a:gridCol>
                <a:gridCol w="1632857">
                  <a:extLst>
                    <a:ext uri="{9D8B030D-6E8A-4147-A177-3AD203B41FA5}">
                      <a16:colId xmlns:a16="http://schemas.microsoft.com/office/drawing/2014/main" val="2060934451"/>
                    </a:ext>
                  </a:extLst>
                </a:gridCol>
                <a:gridCol w="1428750">
                  <a:extLst>
                    <a:ext uri="{9D8B030D-6E8A-4147-A177-3AD203B41FA5}">
                      <a16:colId xmlns:a16="http://schemas.microsoft.com/office/drawing/2014/main" val="4170122883"/>
                    </a:ext>
                  </a:extLst>
                </a:gridCol>
                <a:gridCol w="1600200">
                  <a:extLst>
                    <a:ext uri="{9D8B030D-6E8A-4147-A177-3AD203B41FA5}">
                      <a16:colId xmlns:a16="http://schemas.microsoft.com/office/drawing/2014/main" val="4146602762"/>
                    </a:ext>
                  </a:extLst>
                </a:gridCol>
              </a:tblGrid>
              <a:tr h="528855">
                <a:tc>
                  <a:txBody>
                    <a:bodyPr/>
                    <a:lstStyle/>
                    <a:p>
                      <a:pPr>
                        <a:buNone/>
                      </a:pPr>
                      <a:r>
                        <a:rPr lang="en-US" sz="1100" b="1" dirty="0"/>
                        <a:t>Member</a:t>
                      </a:r>
                    </a:p>
                  </a:txBody>
                  <a:tcPr marL="70157" marR="70157" marT="35079" marB="35079" anchor="ctr"/>
                </a:tc>
                <a:tc>
                  <a:txBody>
                    <a:bodyPr/>
                    <a:lstStyle/>
                    <a:p>
                      <a:pPr>
                        <a:buNone/>
                      </a:pPr>
                      <a:r>
                        <a:rPr lang="en-US" sz="1100" b="1"/>
                        <a:t>Role</a:t>
                      </a:r>
                    </a:p>
                  </a:txBody>
                  <a:tcPr marL="70157" marR="70157" marT="35079" marB="35079" anchor="ctr"/>
                </a:tc>
                <a:tc>
                  <a:txBody>
                    <a:bodyPr/>
                    <a:lstStyle/>
                    <a:p>
                      <a:pPr>
                        <a:buNone/>
                      </a:pPr>
                      <a:r>
                        <a:rPr lang="en-US" sz="1100" b="1"/>
                        <a:t>Architecture Ownership</a:t>
                      </a:r>
                    </a:p>
                  </a:txBody>
                  <a:tcPr marL="70157" marR="70157" marT="35079" marB="35079" anchor="ctr"/>
                </a:tc>
                <a:tc>
                  <a:txBody>
                    <a:bodyPr/>
                    <a:lstStyle/>
                    <a:p>
                      <a:pPr>
                        <a:buNone/>
                      </a:pPr>
                      <a:r>
                        <a:rPr lang="en-US" sz="1100" b="1"/>
                        <a:t>Workflow Ownership</a:t>
                      </a:r>
                    </a:p>
                  </a:txBody>
                  <a:tcPr marL="70157" marR="70157" marT="35079" marB="35079" anchor="ctr"/>
                </a:tc>
                <a:tc>
                  <a:txBody>
                    <a:bodyPr/>
                    <a:lstStyle/>
                    <a:p>
                      <a:pPr>
                        <a:buNone/>
                      </a:pPr>
                      <a:r>
                        <a:rPr lang="en-US" sz="1100" b="1" dirty="0"/>
                        <a:t>Final Deliverables</a:t>
                      </a:r>
                    </a:p>
                  </a:txBody>
                  <a:tcPr marL="70157" marR="70157" marT="35079" marB="35079" anchor="ctr"/>
                </a:tc>
                <a:extLst>
                  <a:ext uri="{0D108BD9-81ED-4DB2-BD59-A6C34878D82A}">
                    <a16:rowId xmlns:a16="http://schemas.microsoft.com/office/drawing/2014/main" val="2017257314"/>
                  </a:ext>
                </a:extLst>
              </a:tr>
              <a:tr h="745205">
                <a:tc>
                  <a:txBody>
                    <a:bodyPr/>
                    <a:lstStyle/>
                    <a:p>
                      <a:pPr>
                        <a:buNone/>
                      </a:pPr>
                      <a:r>
                        <a:rPr lang="en-US" sz="1100" b="1" dirty="0"/>
                        <a:t>Swetha, Harsimran, Unnimaya</a:t>
                      </a:r>
                    </a:p>
                  </a:txBody>
                  <a:tcPr marL="70157" marR="70157" marT="35079" marB="35079" anchor="ctr"/>
                </a:tc>
                <a:tc>
                  <a:txBody>
                    <a:bodyPr/>
                    <a:lstStyle/>
                    <a:p>
                      <a:pPr>
                        <a:buNone/>
                      </a:pPr>
                      <a:r>
                        <a:rPr lang="en-US" sz="1100" dirty="0"/>
                        <a:t>AI-Native Air Interface and Scheduler Agent Lead</a:t>
                      </a:r>
                    </a:p>
                  </a:txBody>
                  <a:tcPr marL="70157" marR="70157" marT="35079" marB="35079" anchor="ctr"/>
                </a:tc>
                <a:tc>
                  <a:txBody>
                    <a:bodyPr/>
                    <a:lstStyle/>
                    <a:p>
                      <a:pPr>
                        <a:buNone/>
                      </a:pPr>
                      <a:r>
                        <a:rPr lang="en-US" sz="1100"/>
                        <a:t>AI-Native Air Interface, Scheduler Agent</a:t>
                      </a:r>
                    </a:p>
                  </a:txBody>
                  <a:tcPr marL="70157" marR="70157" marT="35079" marB="35079" anchor="ctr"/>
                </a:tc>
                <a:tc>
                  <a:txBody>
                    <a:bodyPr/>
                    <a:lstStyle/>
                    <a:p>
                      <a:pPr>
                        <a:buNone/>
                      </a:pPr>
                      <a:r>
                        <a:rPr lang="en-US" sz="1100"/>
                        <a:t>Steps 2,3,5,6</a:t>
                      </a:r>
                    </a:p>
                  </a:txBody>
                  <a:tcPr marL="70157" marR="70157" marT="35079" marB="35079" anchor="ctr"/>
                </a:tc>
                <a:tc>
                  <a:txBody>
                    <a:bodyPr/>
                    <a:lstStyle/>
                    <a:p>
                      <a:pPr>
                        <a:buNone/>
                      </a:pPr>
                      <a:r>
                        <a:rPr lang="en-US" sz="1100" dirty="0"/>
                        <a:t>Scheduler Agent, AI PHY/MAC Models</a:t>
                      </a:r>
                    </a:p>
                  </a:txBody>
                  <a:tcPr marL="70157" marR="70157" marT="35079" marB="35079" anchor="ctr"/>
                </a:tc>
                <a:extLst>
                  <a:ext uri="{0D108BD9-81ED-4DB2-BD59-A6C34878D82A}">
                    <a16:rowId xmlns:a16="http://schemas.microsoft.com/office/drawing/2014/main" val="1009725346"/>
                  </a:ext>
                </a:extLst>
              </a:tr>
              <a:tr h="745205">
                <a:tc>
                  <a:txBody>
                    <a:bodyPr/>
                    <a:lstStyle/>
                    <a:p>
                      <a:pPr>
                        <a:buNone/>
                      </a:pPr>
                      <a:r>
                        <a:rPr lang="en-US" sz="1100" b="1" dirty="0"/>
                        <a:t>Swetha, Harsimran, Unnimaya</a:t>
                      </a:r>
                    </a:p>
                  </a:txBody>
                  <a:tcPr marL="70157" marR="70157" marT="35079" marB="35079" anchor="ctr"/>
                </a:tc>
                <a:tc>
                  <a:txBody>
                    <a:bodyPr/>
                    <a:lstStyle/>
                    <a:p>
                      <a:pPr>
                        <a:buNone/>
                      </a:pPr>
                      <a:r>
                        <a:rPr lang="en-US" sz="1100" dirty="0"/>
                        <a:t>Resource Allocation, Mobility and QoE Lead</a:t>
                      </a:r>
                    </a:p>
                  </a:txBody>
                  <a:tcPr marL="70157" marR="70157" marT="35079" marB="35079" anchor="ctr"/>
                </a:tc>
                <a:tc>
                  <a:txBody>
                    <a:bodyPr/>
                    <a:lstStyle/>
                    <a:p>
                      <a:pPr>
                        <a:buNone/>
                      </a:pPr>
                      <a:r>
                        <a:rPr lang="en-US" sz="1100"/>
                        <a:t>Resource Agent, Mobility Agent, QoE Agent</a:t>
                      </a:r>
                    </a:p>
                  </a:txBody>
                  <a:tcPr marL="70157" marR="70157" marT="35079" marB="35079" anchor="ctr"/>
                </a:tc>
                <a:tc>
                  <a:txBody>
                    <a:bodyPr/>
                    <a:lstStyle/>
                    <a:p>
                      <a:pPr>
                        <a:buNone/>
                      </a:pPr>
                      <a:r>
                        <a:rPr lang="en-US" sz="1100"/>
                        <a:t>Steps 2,3,5,6</a:t>
                      </a:r>
                    </a:p>
                  </a:txBody>
                  <a:tcPr marL="70157" marR="70157" marT="35079" marB="35079" anchor="ctr"/>
                </a:tc>
                <a:tc>
                  <a:txBody>
                    <a:bodyPr/>
                    <a:lstStyle/>
                    <a:p>
                      <a:pPr>
                        <a:buNone/>
                      </a:pPr>
                      <a:r>
                        <a:rPr lang="en-US" sz="1100"/>
                        <a:t>Resource Allocation Agent, Mobility Agent</a:t>
                      </a:r>
                    </a:p>
                  </a:txBody>
                  <a:tcPr marL="70157" marR="70157" marT="35079" marB="35079" anchor="ctr"/>
                </a:tc>
                <a:extLst>
                  <a:ext uri="{0D108BD9-81ED-4DB2-BD59-A6C34878D82A}">
                    <a16:rowId xmlns:a16="http://schemas.microsoft.com/office/drawing/2014/main" val="3150661387"/>
                  </a:ext>
                </a:extLst>
              </a:tr>
              <a:tr h="745205">
                <a:tc>
                  <a:txBody>
                    <a:bodyPr/>
                    <a:lstStyle/>
                    <a:p>
                      <a:pPr>
                        <a:buNone/>
                      </a:pPr>
                      <a:r>
                        <a:rPr lang="en-US" sz="1100" b="1" dirty="0"/>
                        <a:t>Swetha, Mohit, Ayushi</a:t>
                      </a:r>
                    </a:p>
                  </a:txBody>
                  <a:tcPr marL="70157" marR="70157" marT="35079" marB="35079" anchor="ctr"/>
                </a:tc>
                <a:tc>
                  <a:txBody>
                    <a:bodyPr/>
                    <a:lstStyle/>
                    <a:p>
                      <a:pPr>
                        <a:buNone/>
                      </a:pPr>
                      <a:r>
                        <a:rPr lang="en-US" sz="1100" dirty="0"/>
                        <a:t>Security Intelligence and Federated Learning Lead</a:t>
                      </a:r>
                    </a:p>
                  </a:txBody>
                  <a:tcPr marL="70157" marR="70157" marT="35079" marB="35079" anchor="ctr"/>
                </a:tc>
                <a:tc>
                  <a:txBody>
                    <a:bodyPr/>
                    <a:lstStyle/>
                    <a:p>
                      <a:pPr>
                        <a:buNone/>
                      </a:pPr>
                      <a:r>
                        <a:rPr lang="en-US" sz="1100"/>
                        <a:t>Security Agent, Security Plane</a:t>
                      </a:r>
                    </a:p>
                  </a:txBody>
                  <a:tcPr marL="70157" marR="70157" marT="35079" marB="35079" anchor="ctr"/>
                </a:tc>
                <a:tc>
                  <a:txBody>
                    <a:bodyPr/>
                    <a:lstStyle/>
                    <a:p>
                      <a:pPr>
                        <a:buNone/>
                      </a:pPr>
                      <a:r>
                        <a:rPr lang="en-US" sz="1100"/>
                        <a:t>Steps 2,3,5,6,10,11</a:t>
                      </a:r>
                    </a:p>
                  </a:txBody>
                  <a:tcPr marL="70157" marR="70157" marT="35079" marB="35079" anchor="ctr"/>
                </a:tc>
                <a:tc>
                  <a:txBody>
                    <a:bodyPr/>
                    <a:lstStyle/>
                    <a:p>
                      <a:pPr>
                        <a:buNone/>
                      </a:pPr>
                      <a:r>
                        <a:rPr lang="en-US" sz="1100"/>
                        <a:t>Security Intelligence Platform</a:t>
                      </a:r>
                    </a:p>
                  </a:txBody>
                  <a:tcPr marL="70157" marR="70157" marT="35079" marB="35079" anchor="ctr"/>
                </a:tc>
                <a:extLst>
                  <a:ext uri="{0D108BD9-81ED-4DB2-BD59-A6C34878D82A}">
                    <a16:rowId xmlns:a16="http://schemas.microsoft.com/office/drawing/2014/main" val="1571531619"/>
                  </a:ext>
                </a:extLst>
              </a:tr>
              <a:tr h="745205">
                <a:tc>
                  <a:txBody>
                    <a:bodyPr/>
                    <a:lstStyle/>
                    <a:p>
                      <a:pPr>
                        <a:buNone/>
                      </a:pPr>
                      <a:r>
                        <a:rPr lang="en-US" sz="1100" b="1" dirty="0"/>
                        <a:t>Swetha, Karthik, Ayushi</a:t>
                      </a:r>
                    </a:p>
                  </a:txBody>
                  <a:tcPr marL="70157" marR="70157" marT="35079" marB="35079" anchor="ctr"/>
                </a:tc>
                <a:tc>
                  <a:txBody>
                    <a:bodyPr/>
                    <a:lstStyle/>
                    <a:p>
                      <a:pPr>
                        <a:buNone/>
                      </a:pPr>
                      <a:r>
                        <a:rPr lang="en-US" sz="1100" dirty="0"/>
                        <a:t>Digital Twin, Knowledge Graph and Data Platform Lead</a:t>
                      </a:r>
                    </a:p>
                  </a:txBody>
                  <a:tcPr marL="70157" marR="70157" marT="35079" marB="35079" anchor="ctr"/>
                </a:tc>
                <a:tc>
                  <a:txBody>
                    <a:bodyPr/>
                    <a:lstStyle/>
                    <a:p>
                      <a:pPr>
                        <a:buNone/>
                      </a:pPr>
                      <a:r>
                        <a:rPr lang="en-US" sz="1100"/>
                        <a:t>Digital Twin, Knowledge Graph, Data Platform</a:t>
                      </a:r>
                    </a:p>
                  </a:txBody>
                  <a:tcPr marL="70157" marR="70157" marT="35079" marB="35079" anchor="ctr"/>
                </a:tc>
                <a:tc>
                  <a:txBody>
                    <a:bodyPr/>
                    <a:lstStyle/>
                    <a:p>
                      <a:pPr>
                        <a:buNone/>
                      </a:pPr>
                      <a:r>
                        <a:rPr lang="en-US" sz="1100"/>
                        <a:t>Steps 3,4,9,10</a:t>
                      </a:r>
                    </a:p>
                  </a:txBody>
                  <a:tcPr marL="70157" marR="70157" marT="35079" marB="35079" anchor="ctr"/>
                </a:tc>
                <a:tc>
                  <a:txBody>
                    <a:bodyPr/>
                    <a:lstStyle/>
                    <a:p>
                      <a:pPr>
                        <a:buNone/>
                      </a:pPr>
                      <a:r>
                        <a:rPr lang="en-US" sz="1100"/>
                        <a:t>Digital Twin Framework</a:t>
                      </a:r>
                    </a:p>
                  </a:txBody>
                  <a:tcPr marL="70157" marR="70157" marT="35079" marB="35079" anchor="ctr"/>
                </a:tc>
                <a:extLst>
                  <a:ext uri="{0D108BD9-81ED-4DB2-BD59-A6C34878D82A}">
                    <a16:rowId xmlns:a16="http://schemas.microsoft.com/office/drawing/2014/main" val="664615210"/>
                  </a:ext>
                </a:extLst>
              </a:tr>
              <a:tr h="961553">
                <a:tc>
                  <a:txBody>
                    <a:bodyPr/>
                    <a:lstStyle/>
                    <a:p>
                      <a:pPr>
                        <a:buNone/>
                      </a:pPr>
                      <a:r>
                        <a:rPr lang="en-US" sz="1100" b="1" dirty="0"/>
                        <a:t>Swetha, Mohit, Karthik</a:t>
                      </a:r>
                      <a:br>
                        <a:rPr lang="en-US" sz="1100" dirty="0"/>
                      </a:br>
                      <a:endParaRPr lang="en-US" sz="1100" dirty="0"/>
                    </a:p>
                  </a:txBody>
                  <a:tcPr marL="70157" marR="70157" marT="35079" marB="35079" anchor="ctr"/>
                </a:tc>
                <a:tc>
                  <a:txBody>
                    <a:bodyPr/>
                    <a:lstStyle/>
                    <a:p>
                      <a:pPr>
                        <a:buNone/>
                      </a:pPr>
                      <a:r>
                        <a:rPr lang="en-US" sz="1100" dirty="0"/>
                        <a:t>O-RAN Integration, Multi-Agent Orchestration and System Lead</a:t>
                      </a:r>
                    </a:p>
                  </a:txBody>
                  <a:tcPr marL="70157" marR="70157" marT="35079" marB="35079" anchor="ctr"/>
                </a:tc>
                <a:tc>
                  <a:txBody>
                    <a:bodyPr/>
                    <a:lstStyle/>
                    <a:p>
                      <a:pPr>
                        <a:buNone/>
                      </a:pPr>
                      <a:r>
                        <a:rPr lang="en-US" sz="1100"/>
                        <a:t>Near-RT RIC, Non-RT RIC, SMO, Multi-Agent Orchestration</a:t>
                      </a:r>
                    </a:p>
                  </a:txBody>
                  <a:tcPr marL="70157" marR="70157" marT="35079" marB="35079" anchor="ctr"/>
                </a:tc>
                <a:tc>
                  <a:txBody>
                    <a:bodyPr/>
                    <a:lstStyle/>
                    <a:p>
                      <a:pPr>
                        <a:buNone/>
                      </a:pPr>
                      <a:r>
                        <a:rPr lang="en-US" sz="1100"/>
                        <a:t>Steps 1,7,8,12</a:t>
                      </a:r>
                    </a:p>
                  </a:txBody>
                  <a:tcPr marL="70157" marR="70157" marT="35079" marB="35079" anchor="ctr"/>
                </a:tc>
                <a:tc>
                  <a:txBody>
                    <a:bodyPr/>
                    <a:lstStyle/>
                    <a:p>
                      <a:pPr>
                        <a:buNone/>
                      </a:pPr>
                      <a:r>
                        <a:rPr lang="en-US" sz="1100" dirty="0"/>
                        <a:t>End-to-End Integrated Platform</a:t>
                      </a:r>
                    </a:p>
                  </a:txBody>
                  <a:tcPr marL="70157" marR="70157" marT="35079" marB="35079" anchor="ctr"/>
                </a:tc>
                <a:extLst>
                  <a:ext uri="{0D108BD9-81ED-4DB2-BD59-A6C34878D82A}">
                    <a16:rowId xmlns:a16="http://schemas.microsoft.com/office/drawing/2014/main" val="285901205"/>
                  </a:ext>
                </a:extLst>
              </a:tr>
            </a:tbl>
          </a:graphicData>
        </a:graphic>
      </p:graphicFrame>
    </p:spTree>
    <p:extLst>
      <p:ext uri="{BB962C8B-B14F-4D97-AF65-F5344CB8AC3E}">
        <p14:creationId xmlns:p14="http://schemas.microsoft.com/office/powerpoint/2010/main" val="7908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D75B6-1DC2-EBCA-2145-B6FE194401BB}"/>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2DF7419F-92F3-DD2C-7102-5E9DA5D0EF43}"/>
              </a:ext>
            </a:extLst>
          </p:cNvPr>
          <p:cNvSpPr>
            <a:spLocks noGrp="1"/>
          </p:cNvSpPr>
          <p:nvPr>
            <p:ph type="ftr" sz="quarter" idx="3"/>
          </p:nvPr>
        </p:nvSpPr>
        <p:spPr/>
        <p:txBody>
          <a:bodyPr/>
          <a:lstStyle/>
          <a:p>
            <a:r>
              <a:rPr lang="en-US"/>
              <a:t>Apply a document ID (if applicable).</a:t>
            </a:r>
            <a:endParaRPr lang="en-US" dirty="0"/>
          </a:p>
        </p:txBody>
      </p:sp>
      <p:graphicFrame>
        <p:nvGraphicFramePr>
          <p:cNvPr id="2" name="Table 1">
            <a:extLst>
              <a:ext uri="{FF2B5EF4-FFF2-40B4-BE49-F238E27FC236}">
                <a16:creationId xmlns:a16="http://schemas.microsoft.com/office/drawing/2014/main" id="{B4CF56A1-9F70-D201-9DD7-60B93E8DBBA9}"/>
              </a:ext>
            </a:extLst>
          </p:cNvPr>
          <p:cNvGraphicFramePr>
            <a:graphicFrameLocks noGrp="1"/>
          </p:cNvGraphicFramePr>
          <p:nvPr>
            <p:extLst>
              <p:ext uri="{D42A27DB-BD31-4B8C-83A1-F6EECF244321}">
                <p14:modId xmlns:p14="http://schemas.microsoft.com/office/powerpoint/2010/main" val="538704403"/>
              </p:ext>
            </p:extLst>
          </p:nvPr>
        </p:nvGraphicFramePr>
        <p:xfrm>
          <a:off x="383722" y="161101"/>
          <a:ext cx="4041322" cy="4610210"/>
        </p:xfrm>
        <a:graphic>
          <a:graphicData uri="http://schemas.openxmlformats.org/drawingml/2006/table">
            <a:tbl>
              <a:tblPr>
                <a:tableStyleId>{8A107856-5554-42FB-B03E-39F5DBC370BA}</a:tableStyleId>
              </a:tblPr>
              <a:tblGrid>
                <a:gridCol w="1354087">
                  <a:extLst>
                    <a:ext uri="{9D8B030D-6E8A-4147-A177-3AD203B41FA5}">
                      <a16:colId xmlns:a16="http://schemas.microsoft.com/office/drawing/2014/main" val="1361811248"/>
                    </a:ext>
                  </a:extLst>
                </a:gridCol>
                <a:gridCol w="2687235">
                  <a:extLst>
                    <a:ext uri="{9D8B030D-6E8A-4147-A177-3AD203B41FA5}">
                      <a16:colId xmlns:a16="http://schemas.microsoft.com/office/drawing/2014/main" val="1077594264"/>
                    </a:ext>
                  </a:extLst>
                </a:gridCol>
              </a:tblGrid>
              <a:tr h="220022">
                <a:tc>
                  <a:txBody>
                    <a:bodyPr/>
                    <a:lstStyle/>
                    <a:p>
                      <a:pPr>
                        <a:buNone/>
                      </a:pPr>
                      <a:r>
                        <a:rPr lang="en-US" sz="1000" b="1"/>
                        <a:t>Category</a:t>
                      </a:r>
                    </a:p>
                  </a:txBody>
                  <a:tcPr marL="49429" marR="49429" marT="24714" marB="24714" anchor="ctr"/>
                </a:tc>
                <a:tc>
                  <a:txBody>
                    <a:bodyPr/>
                    <a:lstStyle/>
                    <a:p>
                      <a:pPr>
                        <a:buNone/>
                      </a:pPr>
                      <a:r>
                        <a:rPr lang="en-US" sz="1000" b="1" dirty="0"/>
                        <a:t>Detailed Responsibilities</a:t>
                      </a:r>
                    </a:p>
                  </a:txBody>
                  <a:tcPr marL="49429" marR="49429" marT="24714" marB="24714" anchor="ctr"/>
                </a:tc>
                <a:extLst>
                  <a:ext uri="{0D108BD9-81ED-4DB2-BD59-A6C34878D82A}">
                    <a16:rowId xmlns:a16="http://schemas.microsoft.com/office/drawing/2014/main" val="3123448419"/>
                  </a:ext>
                </a:extLst>
              </a:tr>
              <a:tr h="372345">
                <a:tc>
                  <a:txBody>
                    <a:bodyPr/>
                    <a:lstStyle/>
                    <a:p>
                      <a:pPr>
                        <a:buNone/>
                      </a:pPr>
                      <a:r>
                        <a:rPr lang="en-US" sz="1000"/>
                        <a:t>Primary Ownership</a:t>
                      </a:r>
                    </a:p>
                  </a:txBody>
                  <a:tcPr marL="49429" marR="49429" marT="24714" marB="24714" anchor="ctr"/>
                </a:tc>
                <a:tc>
                  <a:txBody>
                    <a:bodyPr/>
                    <a:lstStyle/>
                    <a:p>
                      <a:pPr>
                        <a:buNone/>
                      </a:pPr>
                      <a:r>
                        <a:rPr lang="en-US" sz="1000"/>
                        <a:t>AI-Native Air Interface, PHY/MAC Intelligence, Scheduler Agent</a:t>
                      </a:r>
                    </a:p>
                  </a:txBody>
                  <a:tcPr marL="49429" marR="49429" marT="24714" marB="24714" anchor="ctr"/>
                </a:tc>
                <a:extLst>
                  <a:ext uri="{0D108BD9-81ED-4DB2-BD59-A6C34878D82A}">
                    <a16:rowId xmlns:a16="http://schemas.microsoft.com/office/drawing/2014/main" val="3918968424"/>
                  </a:ext>
                </a:extLst>
              </a:tr>
              <a:tr h="524667">
                <a:tc>
                  <a:txBody>
                    <a:bodyPr/>
                    <a:lstStyle/>
                    <a:p>
                      <a:pPr>
                        <a:buNone/>
                      </a:pPr>
                      <a:r>
                        <a:rPr lang="en-US" sz="1000"/>
                        <a:t>3GPP Relevance</a:t>
                      </a:r>
                    </a:p>
                  </a:txBody>
                  <a:tcPr marL="49429" marR="49429" marT="24714" marB="24714" anchor="ctr"/>
                </a:tc>
                <a:tc>
                  <a:txBody>
                    <a:bodyPr/>
                    <a:lstStyle/>
                    <a:p>
                      <a:pPr>
                        <a:buNone/>
                      </a:pPr>
                      <a:r>
                        <a:rPr lang="en-US" sz="1000"/>
                        <a:t>AI-assisted CSI Feedback, AI Beam Management, AI Link Adaptation, AI-Native Air Interface (Rel-18/19/20)</a:t>
                      </a:r>
                    </a:p>
                  </a:txBody>
                  <a:tcPr marL="49429" marR="49429" marT="24714" marB="24714" anchor="ctr"/>
                </a:tc>
                <a:extLst>
                  <a:ext uri="{0D108BD9-81ED-4DB2-BD59-A6C34878D82A}">
                    <a16:rowId xmlns:a16="http://schemas.microsoft.com/office/drawing/2014/main" val="1380368160"/>
                  </a:ext>
                </a:extLst>
              </a:tr>
              <a:tr h="372345">
                <a:tc>
                  <a:txBody>
                    <a:bodyPr/>
                    <a:lstStyle/>
                    <a:p>
                      <a:pPr>
                        <a:buNone/>
                      </a:pPr>
                      <a:r>
                        <a:rPr lang="en-US" sz="1000"/>
                        <a:t>Data Collection</a:t>
                      </a:r>
                    </a:p>
                  </a:txBody>
                  <a:tcPr marL="49429" marR="49429" marT="24714" marB="24714" anchor="ctr"/>
                </a:tc>
                <a:tc>
                  <a:txBody>
                    <a:bodyPr/>
                    <a:lstStyle/>
                    <a:p>
                      <a:pPr>
                        <a:buNone/>
                      </a:pPr>
                      <a:r>
                        <a:rPr lang="en-US" sz="1000"/>
                        <a:t>Collect CQI, SINR, RSRP, RSRQ, CSI, MCS, PRB Utilization, Throughput Metrics</a:t>
                      </a:r>
                    </a:p>
                  </a:txBody>
                  <a:tcPr marL="49429" marR="49429" marT="24714" marB="24714" anchor="ctr"/>
                </a:tc>
                <a:extLst>
                  <a:ext uri="{0D108BD9-81ED-4DB2-BD59-A6C34878D82A}">
                    <a16:rowId xmlns:a16="http://schemas.microsoft.com/office/drawing/2014/main" val="3617013908"/>
                  </a:ext>
                </a:extLst>
              </a:tr>
              <a:tr h="524667">
                <a:tc>
                  <a:txBody>
                    <a:bodyPr/>
                    <a:lstStyle/>
                    <a:p>
                      <a:pPr>
                        <a:buNone/>
                      </a:pPr>
                      <a:r>
                        <a:rPr lang="en-US" sz="1000"/>
                        <a:t>Data Engineering</a:t>
                      </a:r>
                    </a:p>
                  </a:txBody>
                  <a:tcPr marL="49429" marR="49429" marT="24714" marB="24714" anchor="ctr"/>
                </a:tc>
                <a:tc>
                  <a:txBody>
                    <a:bodyPr/>
                    <a:lstStyle/>
                    <a:p>
                      <a:pPr>
                        <a:buNone/>
                      </a:pPr>
                      <a:r>
                        <a:rPr lang="en-US" sz="1000"/>
                        <a:t>Create scheduling features, radio quality indicators, traffic priority features, beam-level features</a:t>
                      </a:r>
                    </a:p>
                  </a:txBody>
                  <a:tcPr marL="49429" marR="49429" marT="24714" marB="24714" anchor="ctr"/>
                </a:tc>
                <a:extLst>
                  <a:ext uri="{0D108BD9-81ED-4DB2-BD59-A6C34878D82A}">
                    <a16:rowId xmlns:a16="http://schemas.microsoft.com/office/drawing/2014/main" val="1566808671"/>
                  </a:ext>
                </a:extLst>
              </a:tr>
              <a:tr h="524667">
                <a:tc>
                  <a:txBody>
                    <a:bodyPr/>
                    <a:lstStyle/>
                    <a:p>
                      <a:pPr>
                        <a:buNone/>
                      </a:pPr>
                      <a:r>
                        <a:rPr lang="en-US" sz="1000"/>
                        <a:t>AI-Native Air Interface</a:t>
                      </a:r>
                    </a:p>
                  </a:txBody>
                  <a:tcPr marL="49429" marR="49429" marT="24714" marB="24714" anchor="ctr"/>
                </a:tc>
                <a:tc>
                  <a:txBody>
                    <a:bodyPr/>
                    <a:lstStyle/>
                    <a:p>
                      <a:pPr>
                        <a:buNone/>
                      </a:pPr>
                      <a:r>
                        <a:rPr lang="en-US" sz="1000" dirty="0"/>
                        <a:t>Develop AI-based Channel Estimation, Neural Receivers, Semantic Communications, AI Link Adaptation</a:t>
                      </a:r>
                    </a:p>
                  </a:txBody>
                  <a:tcPr marL="49429" marR="49429" marT="24714" marB="24714" anchor="ctr"/>
                </a:tc>
                <a:extLst>
                  <a:ext uri="{0D108BD9-81ED-4DB2-BD59-A6C34878D82A}">
                    <a16:rowId xmlns:a16="http://schemas.microsoft.com/office/drawing/2014/main" val="958323288"/>
                  </a:ext>
                </a:extLst>
              </a:tr>
              <a:tr h="372345">
                <a:tc>
                  <a:txBody>
                    <a:bodyPr/>
                    <a:lstStyle/>
                    <a:p>
                      <a:pPr>
                        <a:buNone/>
                      </a:pPr>
                      <a:r>
                        <a:rPr lang="en-US" sz="1000"/>
                        <a:t>Scheduler Agent Development</a:t>
                      </a:r>
                    </a:p>
                  </a:txBody>
                  <a:tcPr marL="49429" marR="49429" marT="24714" marB="24714" anchor="ctr"/>
                </a:tc>
                <a:tc>
                  <a:txBody>
                    <a:bodyPr/>
                    <a:lstStyle/>
                    <a:p>
                      <a:pPr>
                        <a:buNone/>
                      </a:pPr>
                      <a:r>
                        <a:rPr lang="en-US" sz="1000"/>
                        <a:t>Develop PRB allocation engine, traffic prioritization engine, QoS-aware scheduler</a:t>
                      </a:r>
                    </a:p>
                  </a:txBody>
                  <a:tcPr marL="49429" marR="49429" marT="24714" marB="24714" anchor="ctr"/>
                </a:tc>
                <a:extLst>
                  <a:ext uri="{0D108BD9-81ED-4DB2-BD59-A6C34878D82A}">
                    <a16:rowId xmlns:a16="http://schemas.microsoft.com/office/drawing/2014/main" val="233249998"/>
                  </a:ext>
                </a:extLst>
              </a:tr>
              <a:tr h="372345">
                <a:tc>
                  <a:txBody>
                    <a:bodyPr/>
                    <a:lstStyle/>
                    <a:p>
                      <a:pPr>
                        <a:buNone/>
                      </a:pPr>
                      <a:r>
                        <a:rPr lang="en-US" sz="1000"/>
                        <a:t>AI Models</a:t>
                      </a:r>
                    </a:p>
                  </a:txBody>
                  <a:tcPr marL="49429" marR="49429" marT="24714" marB="24714" anchor="ctr"/>
                </a:tc>
                <a:tc>
                  <a:txBody>
                    <a:bodyPr/>
                    <a:lstStyle/>
                    <a:p>
                      <a:pPr>
                        <a:buNone/>
                      </a:pPr>
                      <a:r>
                        <a:rPr lang="en-US" sz="1000"/>
                        <a:t>PPO, DQN, Transformer-based Scheduling, CNN-based PHY Intelligence</a:t>
                      </a:r>
                    </a:p>
                  </a:txBody>
                  <a:tcPr marL="49429" marR="49429" marT="24714" marB="24714" anchor="ctr"/>
                </a:tc>
                <a:extLst>
                  <a:ext uri="{0D108BD9-81ED-4DB2-BD59-A6C34878D82A}">
                    <a16:rowId xmlns:a16="http://schemas.microsoft.com/office/drawing/2014/main" val="625537667"/>
                  </a:ext>
                </a:extLst>
              </a:tr>
              <a:tr h="362095">
                <a:tc>
                  <a:txBody>
                    <a:bodyPr/>
                    <a:lstStyle/>
                    <a:p>
                      <a:pPr>
                        <a:buNone/>
                      </a:pPr>
                      <a:r>
                        <a:rPr lang="en-US" sz="1000"/>
                        <a:t>Digital Twin Support</a:t>
                      </a:r>
                    </a:p>
                  </a:txBody>
                  <a:tcPr marL="49429" marR="49429" marT="24714" marB="24714" anchor="ctr"/>
                </a:tc>
                <a:tc>
                  <a:txBody>
                    <a:bodyPr/>
                    <a:lstStyle/>
                    <a:p>
                      <a:pPr>
                        <a:buNone/>
                      </a:pPr>
                      <a:r>
                        <a:rPr lang="en-US" sz="1000"/>
                        <a:t>Validate scheduler decisions inside Digital Twin</a:t>
                      </a:r>
                    </a:p>
                  </a:txBody>
                  <a:tcPr marL="49429" marR="49429" marT="24714" marB="24714" anchor="ctr"/>
                </a:tc>
                <a:extLst>
                  <a:ext uri="{0D108BD9-81ED-4DB2-BD59-A6C34878D82A}">
                    <a16:rowId xmlns:a16="http://schemas.microsoft.com/office/drawing/2014/main" val="1178013770"/>
                  </a:ext>
                </a:extLst>
              </a:tr>
              <a:tr h="220022">
                <a:tc>
                  <a:txBody>
                    <a:bodyPr/>
                    <a:lstStyle/>
                    <a:p>
                      <a:pPr>
                        <a:buNone/>
                      </a:pPr>
                      <a:r>
                        <a:rPr lang="en-US" sz="1000"/>
                        <a:t>O-RAN Integration</a:t>
                      </a:r>
                    </a:p>
                  </a:txBody>
                  <a:tcPr marL="49429" marR="49429" marT="24714" marB="24714" anchor="ctr"/>
                </a:tc>
                <a:tc>
                  <a:txBody>
                    <a:bodyPr/>
                    <a:lstStyle/>
                    <a:p>
                      <a:pPr>
                        <a:buNone/>
                      </a:pPr>
                      <a:r>
                        <a:rPr lang="en-US" sz="1000"/>
                        <a:t>Deploy Scheduler xApp in Near-RT RIC</a:t>
                      </a:r>
                    </a:p>
                  </a:txBody>
                  <a:tcPr marL="49429" marR="49429" marT="24714" marB="24714" anchor="ctr"/>
                </a:tc>
                <a:extLst>
                  <a:ext uri="{0D108BD9-81ED-4DB2-BD59-A6C34878D82A}">
                    <a16:rowId xmlns:a16="http://schemas.microsoft.com/office/drawing/2014/main" val="1489229778"/>
                  </a:ext>
                </a:extLst>
              </a:tr>
              <a:tr h="372345">
                <a:tc>
                  <a:txBody>
                    <a:bodyPr/>
                    <a:lstStyle/>
                    <a:p>
                      <a:pPr>
                        <a:buNone/>
                      </a:pPr>
                      <a:r>
                        <a:rPr lang="en-US" sz="1000"/>
                        <a:t>KPI Evaluation</a:t>
                      </a:r>
                    </a:p>
                  </a:txBody>
                  <a:tcPr marL="49429" marR="49429" marT="24714" marB="24714" anchor="ctr"/>
                </a:tc>
                <a:tc>
                  <a:txBody>
                    <a:bodyPr/>
                    <a:lstStyle/>
                    <a:p>
                      <a:pPr>
                        <a:buNone/>
                      </a:pPr>
                      <a:r>
                        <a:rPr lang="en-US" sz="1000"/>
                        <a:t>Throughput, Latency, Spectral Efficiency, PRB Utilization, Fairness Index</a:t>
                      </a:r>
                    </a:p>
                  </a:txBody>
                  <a:tcPr marL="49429" marR="49429" marT="24714" marB="24714" anchor="ctr"/>
                </a:tc>
                <a:extLst>
                  <a:ext uri="{0D108BD9-81ED-4DB2-BD59-A6C34878D82A}">
                    <a16:rowId xmlns:a16="http://schemas.microsoft.com/office/drawing/2014/main" val="1983453536"/>
                  </a:ext>
                </a:extLst>
              </a:tr>
              <a:tr h="372345">
                <a:tc>
                  <a:txBody>
                    <a:bodyPr/>
                    <a:lstStyle/>
                    <a:p>
                      <a:pPr>
                        <a:buNone/>
                      </a:pPr>
                      <a:r>
                        <a:rPr lang="en-US" sz="1000"/>
                        <a:t>Deliverables</a:t>
                      </a:r>
                    </a:p>
                  </a:txBody>
                  <a:tcPr marL="49429" marR="49429" marT="24714" marB="24714" anchor="ctr"/>
                </a:tc>
                <a:tc>
                  <a:txBody>
                    <a:bodyPr/>
                    <a:lstStyle/>
                    <a:p>
                      <a:pPr>
                        <a:buNone/>
                      </a:pPr>
                      <a:r>
                        <a:rPr lang="en-US" sz="1000" dirty="0"/>
                        <a:t>AI-Native PHY Framework, Scheduler Agent, Scheduling Dashboard, KPI Report</a:t>
                      </a:r>
                    </a:p>
                  </a:txBody>
                  <a:tcPr marL="49429" marR="49429" marT="24714" marB="24714" anchor="ctr"/>
                </a:tc>
                <a:extLst>
                  <a:ext uri="{0D108BD9-81ED-4DB2-BD59-A6C34878D82A}">
                    <a16:rowId xmlns:a16="http://schemas.microsoft.com/office/drawing/2014/main" val="293441939"/>
                  </a:ext>
                </a:extLst>
              </a:tr>
            </a:tbl>
          </a:graphicData>
        </a:graphic>
      </p:graphicFrame>
      <p:graphicFrame>
        <p:nvGraphicFramePr>
          <p:cNvPr id="3" name="Table 2">
            <a:extLst>
              <a:ext uri="{FF2B5EF4-FFF2-40B4-BE49-F238E27FC236}">
                <a16:creationId xmlns:a16="http://schemas.microsoft.com/office/drawing/2014/main" id="{BDC835D0-0BFA-96CD-F8F6-FEBE3D864175}"/>
              </a:ext>
            </a:extLst>
          </p:cNvPr>
          <p:cNvGraphicFramePr>
            <a:graphicFrameLocks noGrp="1"/>
          </p:cNvGraphicFramePr>
          <p:nvPr>
            <p:extLst>
              <p:ext uri="{D42A27DB-BD31-4B8C-83A1-F6EECF244321}">
                <p14:modId xmlns:p14="http://schemas.microsoft.com/office/powerpoint/2010/main" val="1629004423"/>
              </p:ext>
            </p:extLst>
          </p:nvPr>
        </p:nvGraphicFramePr>
        <p:xfrm>
          <a:off x="4572000" y="161100"/>
          <a:ext cx="4279674" cy="4610205"/>
        </p:xfrm>
        <a:graphic>
          <a:graphicData uri="http://schemas.openxmlformats.org/drawingml/2006/table">
            <a:tbl>
              <a:tblPr>
                <a:tableStyleId>{0505E3EF-67EA-436B-97B2-0124C06EBD24}</a:tableStyleId>
              </a:tblPr>
              <a:tblGrid>
                <a:gridCol w="1574082">
                  <a:extLst>
                    <a:ext uri="{9D8B030D-6E8A-4147-A177-3AD203B41FA5}">
                      <a16:colId xmlns:a16="http://schemas.microsoft.com/office/drawing/2014/main" val="1916671601"/>
                    </a:ext>
                  </a:extLst>
                </a:gridCol>
                <a:gridCol w="2705592">
                  <a:extLst>
                    <a:ext uri="{9D8B030D-6E8A-4147-A177-3AD203B41FA5}">
                      <a16:colId xmlns:a16="http://schemas.microsoft.com/office/drawing/2014/main" val="692837109"/>
                    </a:ext>
                  </a:extLst>
                </a:gridCol>
              </a:tblGrid>
              <a:tr h="223615">
                <a:tc>
                  <a:txBody>
                    <a:bodyPr/>
                    <a:lstStyle/>
                    <a:p>
                      <a:pPr>
                        <a:buNone/>
                      </a:pPr>
                      <a:r>
                        <a:rPr lang="en-US" sz="1000" b="1"/>
                        <a:t>Category</a:t>
                      </a:r>
                    </a:p>
                  </a:txBody>
                  <a:tcPr marL="48691" marR="48691" marT="24346" marB="24346" anchor="ctr"/>
                </a:tc>
                <a:tc>
                  <a:txBody>
                    <a:bodyPr/>
                    <a:lstStyle/>
                    <a:p>
                      <a:pPr>
                        <a:buNone/>
                      </a:pPr>
                      <a:r>
                        <a:rPr lang="en-US" sz="1000" b="1" dirty="0"/>
                        <a:t>Detailed Responsibilities</a:t>
                      </a:r>
                    </a:p>
                  </a:txBody>
                  <a:tcPr marL="48691" marR="48691" marT="24346" marB="24346" anchor="ctr"/>
                </a:tc>
                <a:extLst>
                  <a:ext uri="{0D108BD9-81ED-4DB2-BD59-A6C34878D82A}">
                    <a16:rowId xmlns:a16="http://schemas.microsoft.com/office/drawing/2014/main" val="1596122278"/>
                  </a:ext>
                </a:extLst>
              </a:tr>
              <a:tr h="223615">
                <a:tc>
                  <a:txBody>
                    <a:bodyPr/>
                    <a:lstStyle/>
                    <a:p>
                      <a:pPr>
                        <a:buNone/>
                      </a:pPr>
                      <a:r>
                        <a:rPr lang="en-US" sz="1000"/>
                        <a:t>Primary Ownership</a:t>
                      </a:r>
                    </a:p>
                  </a:txBody>
                  <a:tcPr marL="48691" marR="48691" marT="24346" marB="24346" anchor="ctr"/>
                </a:tc>
                <a:tc>
                  <a:txBody>
                    <a:bodyPr/>
                    <a:lstStyle/>
                    <a:p>
                      <a:pPr>
                        <a:buNone/>
                      </a:pPr>
                      <a:r>
                        <a:rPr lang="en-US" sz="1000"/>
                        <a:t>Resource Agent, Mobility Agent, QoE Agent</a:t>
                      </a:r>
                    </a:p>
                  </a:txBody>
                  <a:tcPr marL="48691" marR="48691" marT="24346" marB="24346" anchor="ctr"/>
                </a:tc>
                <a:extLst>
                  <a:ext uri="{0D108BD9-81ED-4DB2-BD59-A6C34878D82A}">
                    <a16:rowId xmlns:a16="http://schemas.microsoft.com/office/drawing/2014/main" val="1849624512"/>
                  </a:ext>
                </a:extLst>
              </a:tr>
              <a:tr h="378425">
                <a:tc>
                  <a:txBody>
                    <a:bodyPr/>
                    <a:lstStyle/>
                    <a:p>
                      <a:pPr>
                        <a:buNone/>
                      </a:pPr>
                      <a:r>
                        <a:rPr lang="en-US" sz="1000" dirty="0"/>
                        <a:t>3GPP Relevance</a:t>
                      </a:r>
                    </a:p>
                  </a:txBody>
                  <a:tcPr marL="48691" marR="48691" marT="24346" marB="24346" anchor="ctr"/>
                </a:tc>
                <a:tc>
                  <a:txBody>
                    <a:bodyPr/>
                    <a:lstStyle/>
                    <a:p>
                      <a:pPr>
                        <a:buNone/>
                      </a:pPr>
                      <a:r>
                        <a:rPr lang="en-US" sz="1000"/>
                        <a:t>RRM, Handover Optimization, Mobility Robustness Optimization, AI-assisted Mobility</a:t>
                      </a:r>
                    </a:p>
                  </a:txBody>
                  <a:tcPr marL="48691" marR="48691" marT="24346" marB="24346" anchor="ctr"/>
                </a:tc>
                <a:extLst>
                  <a:ext uri="{0D108BD9-81ED-4DB2-BD59-A6C34878D82A}">
                    <a16:rowId xmlns:a16="http://schemas.microsoft.com/office/drawing/2014/main" val="3413056727"/>
                  </a:ext>
                </a:extLst>
              </a:tr>
              <a:tr h="378425">
                <a:tc>
                  <a:txBody>
                    <a:bodyPr/>
                    <a:lstStyle/>
                    <a:p>
                      <a:pPr>
                        <a:buNone/>
                      </a:pPr>
                      <a:r>
                        <a:rPr lang="en-US" sz="1000"/>
                        <a:t>Data Collection</a:t>
                      </a:r>
                    </a:p>
                  </a:txBody>
                  <a:tcPr marL="48691" marR="48691" marT="24346" marB="24346" anchor="ctr"/>
                </a:tc>
                <a:tc>
                  <a:txBody>
                    <a:bodyPr/>
                    <a:lstStyle/>
                    <a:p>
                      <a:pPr>
                        <a:buNone/>
                      </a:pPr>
                      <a:r>
                        <a:rPr lang="en-US" sz="1000"/>
                        <a:t>Collect Mobility Traces, Cell Load, Spectrum Usage, UE Position Data, Handover Events</a:t>
                      </a:r>
                    </a:p>
                  </a:txBody>
                  <a:tcPr marL="48691" marR="48691" marT="24346" marB="24346" anchor="ctr"/>
                </a:tc>
                <a:extLst>
                  <a:ext uri="{0D108BD9-81ED-4DB2-BD59-A6C34878D82A}">
                    <a16:rowId xmlns:a16="http://schemas.microsoft.com/office/drawing/2014/main" val="2443450187"/>
                  </a:ext>
                </a:extLst>
              </a:tr>
              <a:tr h="378425">
                <a:tc>
                  <a:txBody>
                    <a:bodyPr/>
                    <a:lstStyle/>
                    <a:p>
                      <a:pPr>
                        <a:buNone/>
                      </a:pPr>
                      <a:r>
                        <a:rPr lang="en-US" sz="1000" dirty="0"/>
                        <a:t>Data Engineering</a:t>
                      </a:r>
                    </a:p>
                  </a:txBody>
                  <a:tcPr marL="48691" marR="48691" marT="24346" marB="24346" anchor="ctr"/>
                </a:tc>
                <a:tc>
                  <a:txBody>
                    <a:bodyPr/>
                    <a:lstStyle/>
                    <a:p>
                      <a:pPr>
                        <a:buNone/>
                      </a:pPr>
                      <a:r>
                        <a:rPr lang="en-US" sz="1000"/>
                        <a:t>Mobility Feature Extraction, Resource Utilization Features, QoE Feature Engineering</a:t>
                      </a:r>
                    </a:p>
                  </a:txBody>
                  <a:tcPr marL="48691" marR="48691" marT="24346" marB="24346" anchor="ctr"/>
                </a:tc>
                <a:extLst>
                  <a:ext uri="{0D108BD9-81ED-4DB2-BD59-A6C34878D82A}">
                    <a16:rowId xmlns:a16="http://schemas.microsoft.com/office/drawing/2014/main" val="1315264399"/>
                  </a:ext>
                </a:extLst>
              </a:tr>
              <a:tr h="533535">
                <a:tc>
                  <a:txBody>
                    <a:bodyPr/>
                    <a:lstStyle/>
                    <a:p>
                      <a:pPr>
                        <a:buNone/>
                      </a:pPr>
                      <a:r>
                        <a:rPr lang="en-US" sz="1000"/>
                        <a:t>Resource Agent Development</a:t>
                      </a:r>
                    </a:p>
                  </a:txBody>
                  <a:tcPr marL="48691" marR="48691" marT="24346" marB="24346" anchor="ctr"/>
                </a:tc>
                <a:tc>
                  <a:txBody>
                    <a:bodyPr/>
                    <a:lstStyle/>
                    <a:p>
                      <a:pPr>
                        <a:buNone/>
                      </a:pPr>
                      <a:r>
                        <a:rPr lang="en-US" sz="1000"/>
                        <a:t>Spectrum Allocation, Power Control, Carrier Aggregation Optimization, MIMO Stream Selection</a:t>
                      </a:r>
                    </a:p>
                  </a:txBody>
                  <a:tcPr marL="48691" marR="48691" marT="24346" marB="24346" anchor="ctr"/>
                </a:tc>
                <a:extLst>
                  <a:ext uri="{0D108BD9-81ED-4DB2-BD59-A6C34878D82A}">
                    <a16:rowId xmlns:a16="http://schemas.microsoft.com/office/drawing/2014/main" val="1679106379"/>
                  </a:ext>
                </a:extLst>
              </a:tr>
              <a:tr h="378425">
                <a:tc>
                  <a:txBody>
                    <a:bodyPr/>
                    <a:lstStyle/>
                    <a:p>
                      <a:pPr>
                        <a:buNone/>
                      </a:pPr>
                      <a:r>
                        <a:rPr lang="en-US" sz="1000"/>
                        <a:t>Mobility Agent Development</a:t>
                      </a:r>
                    </a:p>
                  </a:txBody>
                  <a:tcPr marL="48691" marR="48691" marT="24346" marB="24346" anchor="ctr"/>
                </a:tc>
                <a:tc>
                  <a:txBody>
                    <a:bodyPr/>
                    <a:lstStyle/>
                    <a:p>
                      <a:pPr>
                        <a:buNone/>
                      </a:pPr>
                      <a:r>
                        <a:rPr lang="en-US" sz="1000"/>
                        <a:t>Handover Prediction, Cell Reselection, Mobility Forecasting</a:t>
                      </a:r>
                    </a:p>
                  </a:txBody>
                  <a:tcPr marL="48691" marR="48691" marT="24346" marB="24346" anchor="ctr"/>
                </a:tc>
                <a:extLst>
                  <a:ext uri="{0D108BD9-81ED-4DB2-BD59-A6C34878D82A}">
                    <a16:rowId xmlns:a16="http://schemas.microsoft.com/office/drawing/2014/main" val="1015730731"/>
                  </a:ext>
                </a:extLst>
              </a:tr>
              <a:tr h="378425">
                <a:tc>
                  <a:txBody>
                    <a:bodyPr/>
                    <a:lstStyle/>
                    <a:p>
                      <a:pPr>
                        <a:buNone/>
                      </a:pPr>
                      <a:r>
                        <a:rPr lang="en-US" sz="1000"/>
                        <a:t>QoE Agent Development</a:t>
                      </a:r>
                    </a:p>
                  </a:txBody>
                  <a:tcPr marL="48691" marR="48691" marT="24346" marB="24346" anchor="ctr"/>
                </a:tc>
                <a:tc>
                  <a:txBody>
                    <a:bodyPr/>
                    <a:lstStyle/>
                    <a:p>
                      <a:pPr>
                        <a:buNone/>
                      </a:pPr>
                      <a:r>
                        <a:rPr lang="en-US" sz="1000"/>
                        <a:t>User Experience Prediction, Application-Aware Optimization</a:t>
                      </a:r>
                    </a:p>
                  </a:txBody>
                  <a:tcPr marL="48691" marR="48691" marT="24346" marB="24346" anchor="ctr"/>
                </a:tc>
                <a:extLst>
                  <a:ext uri="{0D108BD9-81ED-4DB2-BD59-A6C34878D82A}">
                    <a16:rowId xmlns:a16="http://schemas.microsoft.com/office/drawing/2014/main" val="3576324021"/>
                  </a:ext>
                </a:extLst>
              </a:tr>
              <a:tr h="378425">
                <a:tc>
                  <a:txBody>
                    <a:bodyPr/>
                    <a:lstStyle/>
                    <a:p>
                      <a:pPr>
                        <a:buNone/>
                      </a:pPr>
                      <a:r>
                        <a:rPr lang="en-US" sz="1000"/>
                        <a:t>AI Models</a:t>
                      </a:r>
                    </a:p>
                  </a:txBody>
                  <a:tcPr marL="48691" marR="48691" marT="24346" marB="24346" anchor="ctr"/>
                </a:tc>
                <a:tc>
                  <a:txBody>
                    <a:bodyPr/>
                    <a:lstStyle/>
                    <a:p>
                      <a:pPr>
                        <a:buNone/>
                      </a:pPr>
                      <a:r>
                        <a:rPr lang="en-US" sz="1000"/>
                        <a:t>MADDPG, PPO, LSTM, Transformer, Graph Neural Networks</a:t>
                      </a:r>
                    </a:p>
                  </a:txBody>
                  <a:tcPr marL="48691" marR="48691" marT="24346" marB="24346" anchor="ctr"/>
                </a:tc>
                <a:extLst>
                  <a:ext uri="{0D108BD9-81ED-4DB2-BD59-A6C34878D82A}">
                    <a16:rowId xmlns:a16="http://schemas.microsoft.com/office/drawing/2014/main" val="2163151430"/>
                  </a:ext>
                </a:extLst>
              </a:tr>
              <a:tr h="378425">
                <a:tc>
                  <a:txBody>
                    <a:bodyPr/>
                    <a:lstStyle/>
                    <a:p>
                      <a:pPr>
                        <a:buNone/>
                      </a:pPr>
                      <a:r>
                        <a:rPr lang="en-US" sz="1000"/>
                        <a:t>Digital Twin Support</a:t>
                      </a:r>
                    </a:p>
                  </a:txBody>
                  <a:tcPr marL="48691" marR="48691" marT="24346" marB="24346" anchor="ctr"/>
                </a:tc>
                <a:tc>
                  <a:txBody>
                    <a:bodyPr/>
                    <a:lstStyle/>
                    <a:p>
                      <a:pPr>
                        <a:buNone/>
                      </a:pPr>
                      <a:r>
                        <a:rPr lang="en-US" sz="1000"/>
                        <a:t>Simulate mobility and resource allocation scenarios</a:t>
                      </a:r>
                    </a:p>
                  </a:txBody>
                  <a:tcPr marL="48691" marR="48691" marT="24346" marB="24346" anchor="ctr"/>
                </a:tc>
                <a:extLst>
                  <a:ext uri="{0D108BD9-81ED-4DB2-BD59-A6C34878D82A}">
                    <a16:rowId xmlns:a16="http://schemas.microsoft.com/office/drawing/2014/main" val="1275004677"/>
                  </a:ext>
                </a:extLst>
              </a:tr>
              <a:tr h="223615">
                <a:tc>
                  <a:txBody>
                    <a:bodyPr/>
                    <a:lstStyle/>
                    <a:p>
                      <a:pPr>
                        <a:buNone/>
                      </a:pPr>
                      <a:r>
                        <a:rPr lang="en-US" sz="1000"/>
                        <a:t>O-RAN Integration</a:t>
                      </a:r>
                    </a:p>
                  </a:txBody>
                  <a:tcPr marL="48691" marR="48691" marT="24346" marB="24346" anchor="ctr"/>
                </a:tc>
                <a:tc>
                  <a:txBody>
                    <a:bodyPr/>
                    <a:lstStyle/>
                    <a:p>
                      <a:pPr>
                        <a:buNone/>
                      </a:pPr>
                      <a:r>
                        <a:rPr lang="en-US" sz="1000"/>
                        <a:t>Deploy Resource and Mobility xApps</a:t>
                      </a:r>
                    </a:p>
                  </a:txBody>
                  <a:tcPr marL="48691" marR="48691" marT="24346" marB="24346" anchor="ctr"/>
                </a:tc>
                <a:extLst>
                  <a:ext uri="{0D108BD9-81ED-4DB2-BD59-A6C34878D82A}">
                    <a16:rowId xmlns:a16="http://schemas.microsoft.com/office/drawing/2014/main" val="3208918945"/>
                  </a:ext>
                </a:extLst>
              </a:tr>
              <a:tr h="378425">
                <a:tc>
                  <a:txBody>
                    <a:bodyPr/>
                    <a:lstStyle/>
                    <a:p>
                      <a:pPr>
                        <a:buNone/>
                      </a:pPr>
                      <a:r>
                        <a:rPr lang="en-US" sz="1000"/>
                        <a:t>KPI Evaluation</a:t>
                      </a:r>
                    </a:p>
                  </a:txBody>
                  <a:tcPr marL="48691" marR="48691" marT="24346" marB="24346" anchor="ctr"/>
                </a:tc>
                <a:tc>
                  <a:txBody>
                    <a:bodyPr/>
                    <a:lstStyle/>
                    <a:p>
                      <a:pPr>
                        <a:buNone/>
                      </a:pPr>
                      <a:r>
                        <a:rPr lang="en-US" sz="1000"/>
                        <a:t>Handover Success Rate, Cell Throughput, Spectrum Efficiency, QoE Improvement</a:t>
                      </a:r>
                    </a:p>
                  </a:txBody>
                  <a:tcPr marL="48691" marR="48691" marT="24346" marB="24346" anchor="ctr"/>
                </a:tc>
                <a:extLst>
                  <a:ext uri="{0D108BD9-81ED-4DB2-BD59-A6C34878D82A}">
                    <a16:rowId xmlns:a16="http://schemas.microsoft.com/office/drawing/2014/main" val="626767171"/>
                  </a:ext>
                </a:extLst>
              </a:tr>
              <a:tr h="378425">
                <a:tc>
                  <a:txBody>
                    <a:bodyPr/>
                    <a:lstStyle/>
                    <a:p>
                      <a:pPr>
                        <a:buNone/>
                      </a:pPr>
                      <a:r>
                        <a:rPr lang="en-US" sz="1000"/>
                        <a:t>Deliverables</a:t>
                      </a:r>
                    </a:p>
                  </a:txBody>
                  <a:tcPr marL="48691" marR="48691" marT="24346" marB="24346" anchor="ctr"/>
                </a:tc>
                <a:tc>
                  <a:txBody>
                    <a:bodyPr/>
                    <a:lstStyle/>
                    <a:p>
                      <a:pPr>
                        <a:buNone/>
                      </a:pPr>
                      <a:r>
                        <a:rPr lang="en-US" sz="1000" dirty="0"/>
                        <a:t>Resource Allocation Engine, Mobility Agent, QoE Agent, Mobility Analytics Dashboard</a:t>
                      </a:r>
                    </a:p>
                  </a:txBody>
                  <a:tcPr marL="48691" marR="48691" marT="24346" marB="24346" anchor="ctr"/>
                </a:tc>
                <a:extLst>
                  <a:ext uri="{0D108BD9-81ED-4DB2-BD59-A6C34878D82A}">
                    <a16:rowId xmlns:a16="http://schemas.microsoft.com/office/drawing/2014/main" val="376632343"/>
                  </a:ext>
                </a:extLst>
              </a:tr>
            </a:tbl>
          </a:graphicData>
        </a:graphic>
      </p:graphicFrame>
    </p:spTree>
    <p:extLst>
      <p:ext uri="{BB962C8B-B14F-4D97-AF65-F5344CB8AC3E}">
        <p14:creationId xmlns:p14="http://schemas.microsoft.com/office/powerpoint/2010/main" val="3403438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5E49A-1B78-2C14-D693-36504672E4B8}"/>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889C0EDD-6E8D-F68B-5351-8140EB9D3D1D}"/>
              </a:ext>
            </a:extLst>
          </p:cNvPr>
          <p:cNvSpPr>
            <a:spLocks noGrp="1"/>
          </p:cNvSpPr>
          <p:nvPr>
            <p:ph type="ftr" sz="quarter" idx="3"/>
          </p:nvPr>
        </p:nvSpPr>
        <p:spPr/>
        <p:txBody>
          <a:bodyPr/>
          <a:lstStyle/>
          <a:p>
            <a:r>
              <a:rPr lang="en-US"/>
              <a:t>Apply a document ID (if applicable).</a:t>
            </a:r>
            <a:endParaRPr lang="en-US" dirty="0"/>
          </a:p>
        </p:txBody>
      </p:sp>
      <p:graphicFrame>
        <p:nvGraphicFramePr>
          <p:cNvPr id="2" name="Table 1">
            <a:extLst>
              <a:ext uri="{FF2B5EF4-FFF2-40B4-BE49-F238E27FC236}">
                <a16:creationId xmlns:a16="http://schemas.microsoft.com/office/drawing/2014/main" id="{B279B315-FD67-71DC-9696-F9F5586396E1}"/>
              </a:ext>
            </a:extLst>
          </p:cNvPr>
          <p:cNvGraphicFramePr>
            <a:graphicFrameLocks noGrp="1"/>
          </p:cNvGraphicFramePr>
          <p:nvPr>
            <p:extLst>
              <p:ext uri="{D42A27DB-BD31-4B8C-83A1-F6EECF244321}">
                <p14:modId xmlns:p14="http://schemas.microsoft.com/office/powerpoint/2010/main" val="3026714099"/>
              </p:ext>
            </p:extLst>
          </p:nvPr>
        </p:nvGraphicFramePr>
        <p:xfrm>
          <a:off x="253092" y="161101"/>
          <a:ext cx="8479427" cy="4483266"/>
        </p:xfrm>
        <a:graphic>
          <a:graphicData uri="http://schemas.openxmlformats.org/drawingml/2006/table">
            <a:tbl>
              <a:tblPr>
                <a:tableStyleId>{C4B1156A-380E-4F78-BDF5-A606A8083BF9}</a:tableStyleId>
              </a:tblPr>
              <a:tblGrid>
                <a:gridCol w="2541726">
                  <a:extLst>
                    <a:ext uri="{9D8B030D-6E8A-4147-A177-3AD203B41FA5}">
                      <a16:colId xmlns:a16="http://schemas.microsoft.com/office/drawing/2014/main" val="1724154691"/>
                    </a:ext>
                  </a:extLst>
                </a:gridCol>
                <a:gridCol w="5937701">
                  <a:extLst>
                    <a:ext uri="{9D8B030D-6E8A-4147-A177-3AD203B41FA5}">
                      <a16:colId xmlns:a16="http://schemas.microsoft.com/office/drawing/2014/main" val="1329132906"/>
                    </a:ext>
                  </a:extLst>
                </a:gridCol>
              </a:tblGrid>
              <a:tr h="182823">
                <a:tc>
                  <a:txBody>
                    <a:bodyPr/>
                    <a:lstStyle/>
                    <a:p>
                      <a:pPr>
                        <a:buNone/>
                      </a:pPr>
                      <a:r>
                        <a:rPr lang="en-US" sz="1000" b="1"/>
                        <a:t>Category</a:t>
                      </a:r>
                    </a:p>
                  </a:txBody>
                  <a:tcPr marL="44385" marR="44385" marT="22193" marB="22193" anchor="ctr"/>
                </a:tc>
                <a:tc>
                  <a:txBody>
                    <a:bodyPr/>
                    <a:lstStyle/>
                    <a:p>
                      <a:pPr>
                        <a:buNone/>
                      </a:pPr>
                      <a:r>
                        <a:rPr lang="en-US" sz="1000" b="1" dirty="0"/>
                        <a:t>Detailed Responsibilities</a:t>
                      </a:r>
                    </a:p>
                  </a:txBody>
                  <a:tcPr marL="44385" marR="44385" marT="22193" marB="22193" anchor="ctr"/>
                </a:tc>
                <a:extLst>
                  <a:ext uri="{0D108BD9-81ED-4DB2-BD59-A6C34878D82A}">
                    <a16:rowId xmlns:a16="http://schemas.microsoft.com/office/drawing/2014/main" val="2744476498"/>
                  </a:ext>
                </a:extLst>
              </a:tr>
              <a:tr h="324409">
                <a:tc>
                  <a:txBody>
                    <a:bodyPr/>
                    <a:lstStyle/>
                    <a:p>
                      <a:pPr>
                        <a:buNone/>
                      </a:pPr>
                      <a:r>
                        <a:rPr lang="en-US" sz="1000" dirty="0"/>
                        <a:t>Primary Ownership</a:t>
                      </a:r>
                    </a:p>
                  </a:txBody>
                  <a:tcPr marL="44385" marR="44385" marT="22193" marB="22193" anchor="ctr"/>
                </a:tc>
                <a:tc>
                  <a:txBody>
                    <a:bodyPr/>
                    <a:lstStyle/>
                    <a:p>
                      <a:pPr>
                        <a:buNone/>
                      </a:pPr>
                      <a:r>
                        <a:rPr lang="en-US" sz="1000"/>
                        <a:t>Security Agent, Security Intelligence Plane, Federated Learning</a:t>
                      </a:r>
                    </a:p>
                  </a:txBody>
                  <a:tcPr marL="44385" marR="44385" marT="22193" marB="22193" anchor="ctr"/>
                </a:tc>
                <a:extLst>
                  <a:ext uri="{0D108BD9-81ED-4DB2-BD59-A6C34878D82A}">
                    <a16:rowId xmlns:a16="http://schemas.microsoft.com/office/drawing/2014/main" val="2335300512"/>
                  </a:ext>
                </a:extLst>
              </a:tr>
              <a:tr h="324409">
                <a:tc>
                  <a:txBody>
                    <a:bodyPr/>
                    <a:lstStyle/>
                    <a:p>
                      <a:pPr>
                        <a:buNone/>
                      </a:pPr>
                      <a:r>
                        <a:rPr lang="en-US" sz="1000"/>
                        <a:t>3GPP Relevance</a:t>
                      </a:r>
                    </a:p>
                  </a:txBody>
                  <a:tcPr marL="44385" marR="44385" marT="22193" marB="22193" anchor="ctr"/>
                </a:tc>
                <a:tc>
                  <a:txBody>
                    <a:bodyPr/>
                    <a:lstStyle/>
                    <a:p>
                      <a:pPr>
                        <a:buNone/>
                      </a:pPr>
                      <a:r>
                        <a:rPr lang="en-US" sz="1000"/>
                        <a:t>Network Security, AI Security, Zero Trust, Security Automation</a:t>
                      </a:r>
                    </a:p>
                  </a:txBody>
                  <a:tcPr marL="44385" marR="44385" marT="22193" marB="22193" anchor="ctr"/>
                </a:tc>
                <a:extLst>
                  <a:ext uri="{0D108BD9-81ED-4DB2-BD59-A6C34878D82A}">
                    <a16:rowId xmlns:a16="http://schemas.microsoft.com/office/drawing/2014/main" val="1107626887"/>
                  </a:ext>
                </a:extLst>
              </a:tr>
              <a:tr h="324409">
                <a:tc>
                  <a:txBody>
                    <a:bodyPr/>
                    <a:lstStyle/>
                    <a:p>
                      <a:pPr>
                        <a:buNone/>
                      </a:pPr>
                      <a:r>
                        <a:rPr lang="en-US" sz="1000"/>
                        <a:t>Data Collection</a:t>
                      </a:r>
                    </a:p>
                  </a:txBody>
                  <a:tcPr marL="44385" marR="44385" marT="22193" marB="22193" anchor="ctr"/>
                </a:tc>
                <a:tc>
                  <a:txBody>
                    <a:bodyPr/>
                    <a:lstStyle/>
                    <a:p>
                      <a:pPr>
                        <a:buNone/>
                      </a:pPr>
                      <a:r>
                        <a:rPr lang="en-US" sz="1000"/>
                        <a:t>Collect IDS Logs, Firewall Logs, Security Events, Attack Traces, Authentication Logs</a:t>
                      </a:r>
                    </a:p>
                  </a:txBody>
                  <a:tcPr marL="44385" marR="44385" marT="22193" marB="22193" anchor="ctr"/>
                </a:tc>
                <a:extLst>
                  <a:ext uri="{0D108BD9-81ED-4DB2-BD59-A6C34878D82A}">
                    <a16:rowId xmlns:a16="http://schemas.microsoft.com/office/drawing/2014/main" val="3235618397"/>
                  </a:ext>
                </a:extLst>
              </a:tr>
              <a:tr h="324409">
                <a:tc>
                  <a:txBody>
                    <a:bodyPr/>
                    <a:lstStyle/>
                    <a:p>
                      <a:pPr>
                        <a:buNone/>
                      </a:pPr>
                      <a:r>
                        <a:rPr lang="en-US" sz="1000"/>
                        <a:t>Data Engineering</a:t>
                      </a:r>
                    </a:p>
                  </a:txBody>
                  <a:tcPr marL="44385" marR="44385" marT="22193" marB="22193" anchor="ctr"/>
                </a:tc>
                <a:tc>
                  <a:txBody>
                    <a:bodyPr/>
                    <a:lstStyle/>
                    <a:p>
                      <a:pPr>
                        <a:buNone/>
                      </a:pPr>
                      <a:r>
                        <a:rPr lang="en-US" sz="1000"/>
                        <a:t>Threat Feature Extraction, Attack Classification Labels, Security Knowledge Base</a:t>
                      </a:r>
                    </a:p>
                  </a:txBody>
                  <a:tcPr marL="44385" marR="44385" marT="22193" marB="22193" anchor="ctr"/>
                </a:tc>
                <a:extLst>
                  <a:ext uri="{0D108BD9-81ED-4DB2-BD59-A6C34878D82A}">
                    <a16:rowId xmlns:a16="http://schemas.microsoft.com/office/drawing/2014/main" val="3874107999"/>
                  </a:ext>
                </a:extLst>
              </a:tr>
              <a:tr h="324409">
                <a:tc>
                  <a:txBody>
                    <a:bodyPr/>
                    <a:lstStyle/>
                    <a:p>
                      <a:pPr>
                        <a:buNone/>
                      </a:pPr>
                      <a:r>
                        <a:rPr lang="en-US" sz="1000"/>
                        <a:t>Threat Prediction Module</a:t>
                      </a:r>
                    </a:p>
                  </a:txBody>
                  <a:tcPr marL="44385" marR="44385" marT="22193" marB="22193" anchor="ctr"/>
                </a:tc>
                <a:tc>
                  <a:txBody>
                    <a:bodyPr/>
                    <a:lstStyle/>
                    <a:p>
                      <a:pPr>
                        <a:buNone/>
                      </a:pPr>
                      <a:r>
                        <a:rPr lang="en-US" sz="1000"/>
                        <a:t>Predict cyber attacks before occurrence</a:t>
                      </a:r>
                    </a:p>
                  </a:txBody>
                  <a:tcPr marL="44385" marR="44385" marT="22193" marB="22193" anchor="ctr"/>
                </a:tc>
                <a:extLst>
                  <a:ext uri="{0D108BD9-81ED-4DB2-BD59-A6C34878D82A}">
                    <a16:rowId xmlns:a16="http://schemas.microsoft.com/office/drawing/2014/main" val="1449055472"/>
                  </a:ext>
                </a:extLst>
              </a:tr>
              <a:tr h="324409">
                <a:tc>
                  <a:txBody>
                    <a:bodyPr/>
                    <a:lstStyle/>
                    <a:p>
                      <a:pPr>
                        <a:buNone/>
                      </a:pPr>
                      <a:r>
                        <a:rPr lang="en-US" sz="1000"/>
                        <a:t>Threat Detection Module</a:t>
                      </a:r>
                    </a:p>
                  </a:txBody>
                  <a:tcPr marL="44385" marR="44385" marT="22193" marB="22193" anchor="ctr"/>
                </a:tc>
                <a:tc>
                  <a:txBody>
                    <a:bodyPr/>
                    <a:lstStyle/>
                    <a:p>
                      <a:pPr>
                        <a:buNone/>
                      </a:pPr>
                      <a:r>
                        <a:rPr lang="en-US" sz="1000"/>
                        <a:t>Detect Jamming, Spoofing, DDoS, Rogue gNB, Pilot Contamination</a:t>
                      </a:r>
                    </a:p>
                  </a:txBody>
                  <a:tcPr marL="44385" marR="44385" marT="22193" marB="22193" anchor="ctr"/>
                </a:tc>
                <a:extLst>
                  <a:ext uri="{0D108BD9-81ED-4DB2-BD59-A6C34878D82A}">
                    <a16:rowId xmlns:a16="http://schemas.microsoft.com/office/drawing/2014/main" val="746482490"/>
                  </a:ext>
                </a:extLst>
              </a:tr>
              <a:tr h="324409">
                <a:tc>
                  <a:txBody>
                    <a:bodyPr/>
                    <a:lstStyle/>
                    <a:p>
                      <a:pPr>
                        <a:buNone/>
                      </a:pPr>
                      <a:r>
                        <a:rPr lang="en-US" sz="1000"/>
                        <a:t>Threat Mitigation Module</a:t>
                      </a:r>
                    </a:p>
                  </a:txBody>
                  <a:tcPr marL="44385" marR="44385" marT="22193" marB="22193" anchor="ctr"/>
                </a:tc>
                <a:tc>
                  <a:txBody>
                    <a:bodyPr/>
                    <a:lstStyle/>
                    <a:p>
                      <a:pPr>
                        <a:buNone/>
                      </a:pPr>
                      <a:r>
                        <a:rPr lang="en-US" sz="1000"/>
                        <a:t>Auto Isolation, Slice Protection, Resource Quarantine</a:t>
                      </a:r>
                    </a:p>
                  </a:txBody>
                  <a:tcPr marL="44385" marR="44385" marT="22193" marB="22193" anchor="ctr"/>
                </a:tc>
                <a:extLst>
                  <a:ext uri="{0D108BD9-81ED-4DB2-BD59-A6C34878D82A}">
                    <a16:rowId xmlns:a16="http://schemas.microsoft.com/office/drawing/2014/main" val="3932718354"/>
                  </a:ext>
                </a:extLst>
              </a:tr>
              <a:tr h="182823">
                <a:tc>
                  <a:txBody>
                    <a:bodyPr/>
                    <a:lstStyle/>
                    <a:p>
                      <a:pPr>
                        <a:buNone/>
                      </a:pPr>
                      <a:r>
                        <a:rPr lang="en-US" sz="1000"/>
                        <a:t>Self-Healing Module</a:t>
                      </a:r>
                    </a:p>
                  </a:txBody>
                  <a:tcPr marL="44385" marR="44385" marT="22193" marB="22193" anchor="ctr"/>
                </a:tc>
                <a:tc>
                  <a:txBody>
                    <a:bodyPr/>
                    <a:lstStyle/>
                    <a:p>
                      <a:pPr>
                        <a:buNone/>
                      </a:pPr>
                      <a:r>
                        <a:rPr lang="en-US" sz="1000"/>
                        <a:t>Automatic Recovery and Service Restoration</a:t>
                      </a:r>
                    </a:p>
                  </a:txBody>
                  <a:tcPr marL="44385" marR="44385" marT="22193" marB="22193" anchor="ctr"/>
                </a:tc>
                <a:extLst>
                  <a:ext uri="{0D108BD9-81ED-4DB2-BD59-A6C34878D82A}">
                    <a16:rowId xmlns:a16="http://schemas.microsoft.com/office/drawing/2014/main" val="4291941199"/>
                  </a:ext>
                </a:extLst>
              </a:tr>
              <a:tr h="324409">
                <a:tc>
                  <a:txBody>
                    <a:bodyPr/>
                    <a:lstStyle/>
                    <a:p>
                      <a:pPr>
                        <a:buNone/>
                      </a:pPr>
                      <a:r>
                        <a:rPr lang="en-US" sz="1000"/>
                        <a:t>Federated Learning</a:t>
                      </a:r>
                    </a:p>
                  </a:txBody>
                  <a:tcPr marL="44385" marR="44385" marT="22193" marB="22193" anchor="ctr"/>
                </a:tc>
                <a:tc>
                  <a:txBody>
                    <a:bodyPr/>
                    <a:lstStyle/>
                    <a:p>
                      <a:pPr>
                        <a:buNone/>
                      </a:pPr>
                      <a:r>
                        <a:rPr lang="en-US" sz="1000"/>
                        <a:t>Local Training, Global Aggregation, Privacy Preservation</a:t>
                      </a:r>
                    </a:p>
                  </a:txBody>
                  <a:tcPr marL="44385" marR="44385" marT="22193" marB="22193" anchor="ctr"/>
                </a:tc>
                <a:extLst>
                  <a:ext uri="{0D108BD9-81ED-4DB2-BD59-A6C34878D82A}">
                    <a16:rowId xmlns:a16="http://schemas.microsoft.com/office/drawing/2014/main" val="242624651"/>
                  </a:ext>
                </a:extLst>
              </a:tr>
              <a:tr h="324409">
                <a:tc>
                  <a:txBody>
                    <a:bodyPr/>
                    <a:lstStyle/>
                    <a:p>
                      <a:pPr>
                        <a:buNone/>
                      </a:pPr>
                      <a:r>
                        <a:rPr lang="en-US" sz="1000"/>
                        <a:t>AI Security</a:t>
                      </a:r>
                    </a:p>
                  </a:txBody>
                  <a:tcPr marL="44385" marR="44385" marT="22193" marB="22193" anchor="ctr"/>
                </a:tc>
                <a:tc>
                  <a:txBody>
                    <a:bodyPr/>
                    <a:lstStyle/>
                    <a:p>
                      <a:pPr>
                        <a:buNone/>
                      </a:pPr>
                      <a:r>
                        <a:rPr lang="en-US" sz="1000"/>
                        <a:t>Model Poisoning Detection, Adversarial Attack Detection</a:t>
                      </a:r>
                    </a:p>
                  </a:txBody>
                  <a:tcPr marL="44385" marR="44385" marT="22193" marB="22193" anchor="ctr"/>
                </a:tc>
                <a:extLst>
                  <a:ext uri="{0D108BD9-81ED-4DB2-BD59-A6C34878D82A}">
                    <a16:rowId xmlns:a16="http://schemas.microsoft.com/office/drawing/2014/main" val="2447901751"/>
                  </a:ext>
                </a:extLst>
              </a:tr>
              <a:tr h="324409">
                <a:tc>
                  <a:txBody>
                    <a:bodyPr/>
                    <a:lstStyle/>
                    <a:p>
                      <a:pPr>
                        <a:buNone/>
                      </a:pPr>
                      <a:r>
                        <a:rPr lang="en-US" sz="1000"/>
                        <a:t>AI Models</a:t>
                      </a:r>
                    </a:p>
                  </a:txBody>
                  <a:tcPr marL="44385" marR="44385" marT="22193" marB="22193" anchor="ctr"/>
                </a:tc>
                <a:tc>
                  <a:txBody>
                    <a:bodyPr/>
                    <a:lstStyle/>
                    <a:p>
                      <a:pPr>
                        <a:buNone/>
                      </a:pPr>
                      <a:r>
                        <a:rPr lang="en-US" sz="1000"/>
                        <a:t>Autoencoders, Variational Autoencoders, GNN, Transformer, Isolation Forest</a:t>
                      </a:r>
                    </a:p>
                  </a:txBody>
                  <a:tcPr marL="44385" marR="44385" marT="22193" marB="22193" anchor="ctr"/>
                </a:tc>
                <a:extLst>
                  <a:ext uri="{0D108BD9-81ED-4DB2-BD59-A6C34878D82A}">
                    <a16:rowId xmlns:a16="http://schemas.microsoft.com/office/drawing/2014/main" val="2418930316"/>
                  </a:ext>
                </a:extLst>
              </a:tr>
              <a:tr h="182823">
                <a:tc>
                  <a:txBody>
                    <a:bodyPr/>
                    <a:lstStyle/>
                    <a:p>
                      <a:pPr>
                        <a:buNone/>
                      </a:pPr>
                      <a:r>
                        <a:rPr lang="en-US" sz="1000"/>
                        <a:t>O-RAN Integration</a:t>
                      </a:r>
                    </a:p>
                  </a:txBody>
                  <a:tcPr marL="44385" marR="44385" marT="22193" marB="22193" anchor="ctr"/>
                </a:tc>
                <a:tc>
                  <a:txBody>
                    <a:bodyPr/>
                    <a:lstStyle/>
                    <a:p>
                      <a:pPr>
                        <a:buNone/>
                      </a:pPr>
                      <a:r>
                        <a:rPr lang="en-US" sz="1000"/>
                        <a:t>Deploy Security xApp and Security Analytics rApp</a:t>
                      </a:r>
                    </a:p>
                  </a:txBody>
                  <a:tcPr marL="44385" marR="44385" marT="22193" marB="22193" anchor="ctr"/>
                </a:tc>
                <a:extLst>
                  <a:ext uri="{0D108BD9-81ED-4DB2-BD59-A6C34878D82A}">
                    <a16:rowId xmlns:a16="http://schemas.microsoft.com/office/drawing/2014/main" val="1648106961"/>
                  </a:ext>
                </a:extLst>
              </a:tr>
              <a:tr h="324409">
                <a:tc>
                  <a:txBody>
                    <a:bodyPr/>
                    <a:lstStyle/>
                    <a:p>
                      <a:pPr>
                        <a:buNone/>
                      </a:pPr>
                      <a:r>
                        <a:rPr lang="en-US" sz="1000"/>
                        <a:t>KPI Evaluation</a:t>
                      </a:r>
                    </a:p>
                  </a:txBody>
                  <a:tcPr marL="44385" marR="44385" marT="22193" marB="22193" anchor="ctr"/>
                </a:tc>
                <a:tc>
                  <a:txBody>
                    <a:bodyPr/>
                    <a:lstStyle/>
                    <a:p>
                      <a:pPr>
                        <a:buNone/>
                      </a:pPr>
                      <a:r>
                        <a:rPr lang="en-US" sz="1000"/>
                        <a:t>Detection Accuracy, False Positives, Recovery Time, Security Score</a:t>
                      </a:r>
                    </a:p>
                  </a:txBody>
                  <a:tcPr marL="44385" marR="44385" marT="22193" marB="22193" anchor="ctr"/>
                </a:tc>
                <a:extLst>
                  <a:ext uri="{0D108BD9-81ED-4DB2-BD59-A6C34878D82A}">
                    <a16:rowId xmlns:a16="http://schemas.microsoft.com/office/drawing/2014/main" val="2807033433"/>
                  </a:ext>
                </a:extLst>
              </a:tr>
              <a:tr h="324409">
                <a:tc>
                  <a:txBody>
                    <a:bodyPr/>
                    <a:lstStyle/>
                    <a:p>
                      <a:pPr>
                        <a:buNone/>
                      </a:pPr>
                      <a:r>
                        <a:rPr lang="en-US" sz="1000"/>
                        <a:t>Deliverables</a:t>
                      </a:r>
                    </a:p>
                  </a:txBody>
                  <a:tcPr marL="44385" marR="44385" marT="22193" marB="22193" anchor="ctr"/>
                </a:tc>
                <a:tc>
                  <a:txBody>
                    <a:bodyPr/>
                    <a:lstStyle/>
                    <a:p>
                      <a:pPr>
                        <a:buNone/>
                      </a:pPr>
                      <a:r>
                        <a:rPr lang="en-US" sz="1000" dirty="0"/>
                        <a:t>Security Intelligence Platform, Federated Learning Framework, Security Dashboard</a:t>
                      </a:r>
                    </a:p>
                  </a:txBody>
                  <a:tcPr marL="44385" marR="44385" marT="22193" marB="22193" anchor="ctr"/>
                </a:tc>
                <a:extLst>
                  <a:ext uri="{0D108BD9-81ED-4DB2-BD59-A6C34878D82A}">
                    <a16:rowId xmlns:a16="http://schemas.microsoft.com/office/drawing/2014/main" val="1498781428"/>
                  </a:ext>
                </a:extLst>
              </a:tr>
            </a:tbl>
          </a:graphicData>
        </a:graphic>
      </p:graphicFrame>
    </p:spTree>
    <p:extLst>
      <p:ext uri="{BB962C8B-B14F-4D97-AF65-F5344CB8AC3E}">
        <p14:creationId xmlns:p14="http://schemas.microsoft.com/office/powerpoint/2010/main" val="820989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429B3-649C-1375-B69D-D287BC6C8A3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7054AC08-7C4B-6966-98A7-01288AC39D24}"/>
              </a:ext>
            </a:extLst>
          </p:cNvPr>
          <p:cNvSpPr>
            <a:spLocks noGrp="1"/>
          </p:cNvSpPr>
          <p:nvPr>
            <p:ph type="ftr" sz="quarter" idx="3"/>
          </p:nvPr>
        </p:nvSpPr>
        <p:spPr/>
        <p:txBody>
          <a:bodyPr/>
          <a:lstStyle/>
          <a:p>
            <a:r>
              <a:rPr lang="en-US"/>
              <a:t>Apply a document ID (if applicable).</a:t>
            </a:r>
            <a:endParaRPr lang="en-US" dirty="0"/>
          </a:p>
        </p:txBody>
      </p:sp>
      <p:graphicFrame>
        <p:nvGraphicFramePr>
          <p:cNvPr id="2" name="Table 1">
            <a:extLst>
              <a:ext uri="{FF2B5EF4-FFF2-40B4-BE49-F238E27FC236}">
                <a16:creationId xmlns:a16="http://schemas.microsoft.com/office/drawing/2014/main" id="{FF3E698B-E035-C047-EBEB-F501A0900AEF}"/>
              </a:ext>
            </a:extLst>
          </p:cNvPr>
          <p:cNvGraphicFramePr>
            <a:graphicFrameLocks noGrp="1"/>
          </p:cNvGraphicFramePr>
          <p:nvPr>
            <p:extLst>
              <p:ext uri="{D42A27DB-BD31-4B8C-83A1-F6EECF244321}">
                <p14:modId xmlns:p14="http://schemas.microsoft.com/office/powerpoint/2010/main" val="1124228769"/>
              </p:ext>
            </p:extLst>
          </p:nvPr>
        </p:nvGraphicFramePr>
        <p:xfrm>
          <a:off x="242044" y="76201"/>
          <a:ext cx="4329956" cy="4696097"/>
        </p:xfrm>
        <a:graphic>
          <a:graphicData uri="http://schemas.openxmlformats.org/drawingml/2006/table">
            <a:tbl>
              <a:tblPr>
                <a:tableStyleId>{22838BEF-8BB2-4498-84A7-C5851F593DF1}</a:tableStyleId>
              </a:tblPr>
              <a:tblGrid>
                <a:gridCol w="1741958">
                  <a:extLst>
                    <a:ext uri="{9D8B030D-6E8A-4147-A177-3AD203B41FA5}">
                      <a16:colId xmlns:a16="http://schemas.microsoft.com/office/drawing/2014/main" val="3398266665"/>
                    </a:ext>
                  </a:extLst>
                </a:gridCol>
                <a:gridCol w="2587998">
                  <a:extLst>
                    <a:ext uri="{9D8B030D-6E8A-4147-A177-3AD203B41FA5}">
                      <a16:colId xmlns:a16="http://schemas.microsoft.com/office/drawing/2014/main" val="3437532556"/>
                    </a:ext>
                  </a:extLst>
                </a:gridCol>
              </a:tblGrid>
              <a:tr h="172437">
                <a:tc>
                  <a:txBody>
                    <a:bodyPr/>
                    <a:lstStyle/>
                    <a:p>
                      <a:pPr>
                        <a:buNone/>
                      </a:pPr>
                      <a:r>
                        <a:rPr lang="en-US" sz="900" b="1"/>
                        <a:t>Category</a:t>
                      </a:r>
                    </a:p>
                  </a:txBody>
                  <a:tcPr marL="40152" marR="40152" marT="20076" marB="20076" anchor="ctr"/>
                </a:tc>
                <a:tc>
                  <a:txBody>
                    <a:bodyPr/>
                    <a:lstStyle/>
                    <a:p>
                      <a:pPr>
                        <a:buNone/>
                      </a:pPr>
                      <a:r>
                        <a:rPr lang="en-US" sz="900" b="1" dirty="0"/>
                        <a:t>Detailed Responsibilities</a:t>
                      </a:r>
                    </a:p>
                  </a:txBody>
                  <a:tcPr marL="40152" marR="40152" marT="20076" marB="20076" anchor="ctr"/>
                </a:tc>
                <a:extLst>
                  <a:ext uri="{0D108BD9-81ED-4DB2-BD59-A6C34878D82A}">
                    <a16:rowId xmlns:a16="http://schemas.microsoft.com/office/drawing/2014/main" val="2697226214"/>
                  </a:ext>
                </a:extLst>
              </a:tr>
              <a:tr h="307434">
                <a:tc>
                  <a:txBody>
                    <a:bodyPr/>
                    <a:lstStyle/>
                    <a:p>
                      <a:pPr>
                        <a:buNone/>
                      </a:pPr>
                      <a:r>
                        <a:rPr lang="en-US" sz="900"/>
                        <a:t>Primary Ownership</a:t>
                      </a:r>
                    </a:p>
                  </a:txBody>
                  <a:tcPr marL="40152" marR="40152" marT="20076" marB="20076" anchor="ctr"/>
                </a:tc>
                <a:tc>
                  <a:txBody>
                    <a:bodyPr/>
                    <a:lstStyle/>
                    <a:p>
                      <a:pPr>
                        <a:buNone/>
                      </a:pPr>
                      <a:r>
                        <a:rPr lang="en-US" sz="900"/>
                        <a:t>Digital Twin, Knowledge Graph, Data Platform, AI Repository</a:t>
                      </a:r>
                    </a:p>
                  </a:txBody>
                  <a:tcPr marL="40152" marR="40152" marT="20076" marB="20076" anchor="ctr"/>
                </a:tc>
                <a:extLst>
                  <a:ext uri="{0D108BD9-81ED-4DB2-BD59-A6C34878D82A}">
                    <a16:rowId xmlns:a16="http://schemas.microsoft.com/office/drawing/2014/main" val="1802967783"/>
                  </a:ext>
                </a:extLst>
              </a:tr>
              <a:tr h="307434">
                <a:tc>
                  <a:txBody>
                    <a:bodyPr/>
                    <a:lstStyle/>
                    <a:p>
                      <a:pPr>
                        <a:buNone/>
                      </a:pPr>
                      <a:r>
                        <a:rPr lang="en-US" sz="900"/>
                        <a:t>3GPP Relevance</a:t>
                      </a:r>
                    </a:p>
                  </a:txBody>
                  <a:tcPr marL="40152" marR="40152" marT="20076" marB="20076" anchor="ctr"/>
                </a:tc>
                <a:tc>
                  <a:txBody>
                    <a:bodyPr/>
                    <a:lstStyle/>
                    <a:p>
                      <a:pPr>
                        <a:buNone/>
                      </a:pPr>
                      <a:r>
                        <a:rPr lang="en-US" sz="900"/>
                        <a:t>Network Digital Twin (NDT), Data Analytics, Network Automation</a:t>
                      </a:r>
                    </a:p>
                  </a:txBody>
                  <a:tcPr marL="40152" marR="40152" marT="20076" marB="20076" anchor="ctr"/>
                </a:tc>
                <a:extLst>
                  <a:ext uri="{0D108BD9-81ED-4DB2-BD59-A6C34878D82A}">
                    <a16:rowId xmlns:a16="http://schemas.microsoft.com/office/drawing/2014/main" val="2614169673"/>
                  </a:ext>
                </a:extLst>
              </a:tr>
              <a:tr h="307434">
                <a:tc>
                  <a:txBody>
                    <a:bodyPr/>
                    <a:lstStyle/>
                    <a:p>
                      <a:pPr>
                        <a:buNone/>
                      </a:pPr>
                      <a:r>
                        <a:rPr lang="en-US" sz="900"/>
                        <a:t>Data Collection</a:t>
                      </a:r>
                    </a:p>
                  </a:txBody>
                  <a:tcPr marL="40152" marR="40152" marT="20076" marB="20076" anchor="ctr"/>
                </a:tc>
                <a:tc>
                  <a:txBody>
                    <a:bodyPr/>
                    <a:lstStyle/>
                    <a:p>
                      <a:pPr>
                        <a:buNone/>
                      </a:pPr>
                      <a:r>
                        <a:rPr lang="en-US" sz="900"/>
                        <a:t>Aggregate RAN, Mobility, Security, Energy, QoE Data</a:t>
                      </a:r>
                    </a:p>
                  </a:txBody>
                  <a:tcPr marL="40152" marR="40152" marT="20076" marB="20076" anchor="ctr"/>
                </a:tc>
                <a:extLst>
                  <a:ext uri="{0D108BD9-81ED-4DB2-BD59-A6C34878D82A}">
                    <a16:rowId xmlns:a16="http://schemas.microsoft.com/office/drawing/2014/main" val="2879386023"/>
                  </a:ext>
                </a:extLst>
              </a:tr>
              <a:tr h="307434">
                <a:tc>
                  <a:txBody>
                    <a:bodyPr/>
                    <a:lstStyle/>
                    <a:p>
                      <a:pPr>
                        <a:buNone/>
                      </a:pPr>
                      <a:r>
                        <a:rPr lang="en-US" sz="900"/>
                        <a:t>Data Engineering</a:t>
                      </a:r>
                    </a:p>
                  </a:txBody>
                  <a:tcPr marL="40152" marR="40152" marT="20076" marB="20076" anchor="ctr"/>
                </a:tc>
                <a:tc>
                  <a:txBody>
                    <a:bodyPr/>
                    <a:lstStyle/>
                    <a:p>
                      <a:pPr>
                        <a:buNone/>
                      </a:pPr>
                      <a:r>
                        <a:rPr lang="en-US" sz="900"/>
                        <a:t>Data Cleaning, Feature Store Creation, Metadata Management</a:t>
                      </a:r>
                    </a:p>
                  </a:txBody>
                  <a:tcPr marL="40152" marR="40152" marT="20076" marB="20076" anchor="ctr"/>
                </a:tc>
                <a:extLst>
                  <a:ext uri="{0D108BD9-81ED-4DB2-BD59-A6C34878D82A}">
                    <a16:rowId xmlns:a16="http://schemas.microsoft.com/office/drawing/2014/main" val="1811596729"/>
                  </a:ext>
                </a:extLst>
              </a:tr>
              <a:tr h="307434">
                <a:tc>
                  <a:txBody>
                    <a:bodyPr/>
                    <a:lstStyle/>
                    <a:p>
                      <a:pPr>
                        <a:buNone/>
                      </a:pPr>
                      <a:r>
                        <a:rPr lang="en-US" sz="900"/>
                        <a:t>Digital Twin Development</a:t>
                      </a:r>
                    </a:p>
                  </a:txBody>
                  <a:tcPr marL="40152" marR="40152" marT="20076" marB="20076" anchor="ctr"/>
                </a:tc>
                <a:tc>
                  <a:txBody>
                    <a:bodyPr/>
                    <a:lstStyle/>
                    <a:p>
                      <a:pPr>
                        <a:buNone/>
                      </a:pPr>
                      <a:r>
                        <a:rPr lang="en-US" sz="900"/>
                        <a:t>Create RAN Twin, UE Twin, Mobility Twin, Security Twin, Energy Twin</a:t>
                      </a:r>
                    </a:p>
                  </a:txBody>
                  <a:tcPr marL="40152" marR="40152" marT="20076" marB="20076" anchor="ctr"/>
                </a:tc>
                <a:extLst>
                  <a:ext uri="{0D108BD9-81ED-4DB2-BD59-A6C34878D82A}">
                    <a16:rowId xmlns:a16="http://schemas.microsoft.com/office/drawing/2014/main" val="148940585"/>
                  </a:ext>
                </a:extLst>
              </a:tr>
              <a:tr h="307434">
                <a:tc>
                  <a:txBody>
                    <a:bodyPr/>
                    <a:lstStyle/>
                    <a:p>
                      <a:pPr>
                        <a:buNone/>
                      </a:pPr>
                      <a:r>
                        <a:rPr lang="en-US" sz="900"/>
                        <a:t>Network Modeling</a:t>
                      </a:r>
                    </a:p>
                  </a:txBody>
                  <a:tcPr marL="40152" marR="40152" marT="20076" marB="20076" anchor="ctr"/>
                </a:tc>
                <a:tc>
                  <a:txBody>
                    <a:bodyPr/>
                    <a:lstStyle/>
                    <a:p>
                      <a:pPr>
                        <a:buNone/>
                      </a:pPr>
                      <a:r>
                        <a:rPr lang="en-US" sz="900"/>
                        <a:t>Create Virtual Representation of Network Components</a:t>
                      </a:r>
                    </a:p>
                  </a:txBody>
                  <a:tcPr marL="40152" marR="40152" marT="20076" marB="20076" anchor="ctr"/>
                </a:tc>
                <a:extLst>
                  <a:ext uri="{0D108BD9-81ED-4DB2-BD59-A6C34878D82A}">
                    <a16:rowId xmlns:a16="http://schemas.microsoft.com/office/drawing/2014/main" val="715038818"/>
                  </a:ext>
                </a:extLst>
              </a:tr>
              <a:tr h="307434">
                <a:tc>
                  <a:txBody>
                    <a:bodyPr/>
                    <a:lstStyle/>
                    <a:p>
                      <a:pPr>
                        <a:buNone/>
                      </a:pPr>
                      <a:r>
                        <a:rPr lang="en-US" sz="900"/>
                        <a:t>Knowledge Graph Development</a:t>
                      </a:r>
                    </a:p>
                  </a:txBody>
                  <a:tcPr marL="40152" marR="40152" marT="20076" marB="20076" anchor="ctr"/>
                </a:tc>
                <a:tc>
                  <a:txBody>
                    <a:bodyPr/>
                    <a:lstStyle/>
                    <a:p>
                      <a:pPr>
                        <a:buNone/>
                      </a:pPr>
                      <a:r>
                        <a:rPr lang="en-US" sz="900"/>
                        <a:t>Build Telecom Ontology and Network Relationship Graph</a:t>
                      </a:r>
                    </a:p>
                  </a:txBody>
                  <a:tcPr marL="40152" marR="40152" marT="20076" marB="20076" anchor="ctr"/>
                </a:tc>
                <a:extLst>
                  <a:ext uri="{0D108BD9-81ED-4DB2-BD59-A6C34878D82A}">
                    <a16:rowId xmlns:a16="http://schemas.microsoft.com/office/drawing/2014/main" val="1709430697"/>
                  </a:ext>
                </a:extLst>
              </a:tr>
              <a:tr h="307434">
                <a:tc>
                  <a:txBody>
                    <a:bodyPr/>
                    <a:lstStyle/>
                    <a:p>
                      <a:pPr>
                        <a:buNone/>
                      </a:pPr>
                      <a:r>
                        <a:rPr lang="en-US" sz="900"/>
                        <a:t>Root Cause Analysis</a:t>
                      </a:r>
                    </a:p>
                  </a:txBody>
                  <a:tcPr marL="40152" marR="40152" marT="20076" marB="20076" anchor="ctr"/>
                </a:tc>
                <a:tc>
                  <a:txBody>
                    <a:bodyPr/>
                    <a:lstStyle/>
                    <a:p>
                      <a:pPr>
                        <a:buNone/>
                      </a:pPr>
                      <a:r>
                        <a:rPr lang="en-US" sz="900"/>
                        <a:t>Support Explainability and Autonomous Troubleshooting</a:t>
                      </a:r>
                    </a:p>
                  </a:txBody>
                  <a:tcPr marL="40152" marR="40152" marT="20076" marB="20076" anchor="ctr"/>
                </a:tc>
                <a:extLst>
                  <a:ext uri="{0D108BD9-81ED-4DB2-BD59-A6C34878D82A}">
                    <a16:rowId xmlns:a16="http://schemas.microsoft.com/office/drawing/2014/main" val="673143004"/>
                  </a:ext>
                </a:extLst>
              </a:tr>
              <a:tr h="253337">
                <a:tc>
                  <a:txBody>
                    <a:bodyPr/>
                    <a:lstStyle/>
                    <a:p>
                      <a:pPr>
                        <a:buNone/>
                      </a:pPr>
                      <a:r>
                        <a:rPr lang="en-US" sz="900"/>
                        <a:t>AI Repository</a:t>
                      </a:r>
                    </a:p>
                  </a:txBody>
                  <a:tcPr marL="40152" marR="40152" marT="20076" marB="20076" anchor="ctr"/>
                </a:tc>
                <a:tc>
                  <a:txBody>
                    <a:bodyPr/>
                    <a:lstStyle/>
                    <a:p>
                      <a:pPr>
                        <a:buNone/>
                      </a:pPr>
                      <a:r>
                        <a:rPr lang="en-US" sz="900"/>
                        <a:t>Manage Trained Models, Policies, Configurations</a:t>
                      </a:r>
                    </a:p>
                  </a:txBody>
                  <a:tcPr marL="40152" marR="40152" marT="20076" marB="20076" anchor="ctr"/>
                </a:tc>
                <a:extLst>
                  <a:ext uri="{0D108BD9-81ED-4DB2-BD59-A6C34878D82A}">
                    <a16:rowId xmlns:a16="http://schemas.microsoft.com/office/drawing/2014/main" val="2368025958"/>
                  </a:ext>
                </a:extLst>
              </a:tr>
              <a:tr h="172437">
                <a:tc>
                  <a:txBody>
                    <a:bodyPr/>
                    <a:lstStyle/>
                    <a:p>
                      <a:pPr>
                        <a:buNone/>
                      </a:pPr>
                      <a:r>
                        <a:rPr lang="en-US" sz="900"/>
                        <a:t>Streaming Platform</a:t>
                      </a:r>
                    </a:p>
                  </a:txBody>
                  <a:tcPr marL="40152" marR="40152" marT="20076" marB="20076" anchor="ctr"/>
                </a:tc>
                <a:tc>
                  <a:txBody>
                    <a:bodyPr/>
                    <a:lstStyle/>
                    <a:p>
                      <a:pPr>
                        <a:buNone/>
                      </a:pPr>
                      <a:r>
                        <a:rPr lang="en-US" sz="900"/>
                        <a:t>Manage Kafka/Spark/Flink Pipelines</a:t>
                      </a:r>
                    </a:p>
                  </a:txBody>
                  <a:tcPr marL="40152" marR="40152" marT="20076" marB="20076" anchor="ctr"/>
                </a:tc>
                <a:extLst>
                  <a:ext uri="{0D108BD9-81ED-4DB2-BD59-A6C34878D82A}">
                    <a16:rowId xmlns:a16="http://schemas.microsoft.com/office/drawing/2014/main" val="2486474144"/>
                  </a:ext>
                </a:extLst>
              </a:tr>
              <a:tr h="307434">
                <a:tc>
                  <a:txBody>
                    <a:bodyPr/>
                    <a:lstStyle/>
                    <a:p>
                      <a:pPr>
                        <a:buNone/>
                      </a:pPr>
                      <a:r>
                        <a:rPr lang="en-US" sz="900"/>
                        <a:t>Monitoring</a:t>
                      </a:r>
                    </a:p>
                  </a:txBody>
                  <a:tcPr marL="40152" marR="40152" marT="20076" marB="20076" anchor="ctr"/>
                </a:tc>
                <a:tc>
                  <a:txBody>
                    <a:bodyPr/>
                    <a:lstStyle/>
                    <a:p>
                      <a:pPr>
                        <a:buNone/>
                      </a:pPr>
                      <a:r>
                        <a:rPr lang="en-US" sz="900"/>
                        <a:t>KPI Collection, Event Correlation, Telemetry Processing</a:t>
                      </a:r>
                    </a:p>
                  </a:txBody>
                  <a:tcPr marL="40152" marR="40152" marT="20076" marB="20076" anchor="ctr"/>
                </a:tc>
                <a:extLst>
                  <a:ext uri="{0D108BD9-81ED-4DB2-BD59-A6C34878D82A}">
                    <a16:rowId xmlns:a16="http://schemas.microsoft.com/office/drawing/2014/main" val="626950788"/>
                  </a:ext>
                </a:extLst>
              </a:tr>
              <a:tr h="307434">
                <a:tc>
                  <a:txBody>
                    <a:bodyPr/>
                    <a:lstStyle/>
                    <a:p>
                      <a:pPr>
                        <a:buNone/>
                      </a:pPr>
                      <a:r>
                        <a:rPr lang="en-US" sz="900"/>
                        <a:t>AI Models</a:t>
                      </a:r>
                    </a:p>
                  </a:txBody>
                  <a:tcPr marL="40152" marR="40152" marT="20076" marB="20076" anchor="ctr"/>
                </a:tc>
                <a:tc>
                  <a:txBody>
                    <a:bodyPr/>
                    <a:lstStyle/>
                    <a:p>
                      <a:pPr>
                        <a:buNone/>
                      </a:pPr>
                      <a:r>
                        <a:rPr lang="en-US" sz="900"/>
                        <a:t>Graph Neural Networks, Graph Analytics, Ontology Reasoning</a:t>
                      </a:r>
                    </a:p>
                  </a:txBody>
                  <a:tcPr marL="40152" marR="40152" marT="20076" marB="20076" anchor="ctr"/>
                </a:tc>
                <a:extLst>
                  <a:ext uri="{0D108BD9-81ED-4DB2-BD59-A6C34878D82A}">
                    <a16:rowId xmlns:a16="http://schemas.microsoft.com/office/drawing/2014/main" val="1361756789"/>
                  </a:ext>
                </a:extLst>
              </a:tr>
              <a:tr h="307434">
                <a:tc>
                  <a:txBody>
                    <a:bodyPr/>
                    <a:lstStyle/>
                    <a:p>
                      <a:pPr>
                        <a:buNone/>
                      </a:pPr>
                      <a:r>
                        <a:rPr lang="en-US" sz="900"/>
                        <a:t>O-RAN Support</a:t>
                      </a:r>
                    </a:p>
                  </a:txBody>
                  <a:tcPr marL="40152" marR="40152" marT="20076" marB="20076" anchor="ctr"/>
                </a:tc>
                <a:tc>
                  <a:txBody>
                    <a:bodyPr/>
                    <a:lstStyle/>
                    <a:p>
                      <a:pPr>
                        <a:buNone/>
                      </a:pPr>
                      <a:r>
                        <a:rPr lang="en-US" sz="900"/>
                        <a:t>Provide Digital Twin and Knowledge Services to RIC</a:t>
                      </a:r>
                    </a:p>
                  </a:txBody>
                  <a:tcPr marL="40152" marR="40152" marT="20076" marB="20076" anchor="ctr"/>
                </a:tc>
                <a:extLst>
                  <a:ext uri="{0D108BD9-81ED-4DB2-BD59-A6C34878D82A}">
                    <a16:rowId xmlns:a16="http://schemas.microsoft.com/office/drawing/2014/main" val="2614396662"/>
                  </a:ext>
                </a:extLst>
              </a:tr>
              <a:tr h="307434">
                <a:tc>
                  <a:txBody>
                    <a:bodyPr/>
                    <a:lstStyle/>
                    <a:p>
                      <a:pPr>
                        <a:buNone/>
                      </a:pPr>
                      <a:r>
                        <a:rPr lang="en-US" sz="900"/>
                        <a:t>KPI Evaluation</a:t>
                      </a:r>
                    </a:p>
                  </a:txBody>
                  <a:tcPr marL="40152" marR="40152" marT="20076" marB="20076" anchor="ctr"/>
                </a:tc>
                <a:tc>
                  <a:txBody>
                    <a:bodyPr/>
                    <a:lstStyle/>
                    <a:p>
                      <a:pPr>
                        <a:buNone/>
                      </a:pPr>
                      <a:r>
                        <a:rPr lang="en-US" sz="900"/>
                        <a:t>Prediction Accuracy, Twin Fidelity, Graph Accuracy</a:t>
                      </a:r>
                    </a:p>
                  </a:txBody>
                  <a:tcPr marL="40152" marR="40152" marT="20076" marB="20076" anchor="ctr"/>
                </a:tc>
                <a:extLst>
                  <a:ext uri="{0D108BD9-81ED-4DB2-BD59-A6C34878D82A}">
                    <a16:rowId xmlns:a16="http://schemas.microsoft.com/office/drawing/2014/main" val="2904261411"/>
                  </a:ext>
                </a:extLst>
              </a:tr>
              <a:tr h="307434">
                <a:tc>
                  <a:txBody>
                    <a:bodyPr/>
                    <a:lstStyle/>
                    <a:p>
                      <a:pPr>
                        <a:buNone/>
                      </a:pPr>
                      <a:r>
                        <a:rPr lang="en-US" sz="900"/>
                        <a:t>Deliverables</a:t>
                      </a:r>
                    </a:p>
                  </a:txBody>
                  <a:tcPr marL="40152" marR="40152" marT="20076" marB="20076" anchor="ctr"/>
                </a:tc>
                <a:tc>
                  <a:txBody>
                    <a:bodyPr/>
                    <a:lstStyle/>
                    <a:p>
                      <a:pPr>
                        <a:buNone/>
                      </a:pPr>
                      <a:r>
                        <a:rPr lang="en-US" sz="900" dirty="0"/>
                        <a:t>Digital Twin Platform, Knowledge Graph Engine, Data Lake, Analytics Dashboard</a:t>
                      </a:r>
                    </a:p>
                  </a:txBody>
                  <a:tcPr marL="40152" marR="40152" marT="20076" marB="20076" anchor="ctr"/>
                </a:tc>
                <a:extLst>
                  <a:ext uri="{0D108BD9-81ED-4DB2-BD59-A6C34878D82A}">
                    <a16:rowId xmlns:a16="http://schemas.microsoft.com/office/drawing/2014/main" val="4006383426"/>
                  </a:ext>
                </a:extLst>
              </a:tr>
            </a:tbl>
          </a:graphicData>
        </a:graphic>
      </p:graphicFrame>
      <p:graphicFrame>
        <p:nvGraphicFramePr>
          <p:cNvPr id="3" name="Table 2">
            <a:extLst>
              <a:ext uri="{FF2B5EF4-FFF2-40B4-BE49-F238E27FC236}">
                <a16:creationId xmlns:a16="http://schemas.microsoft.com/office/drawing/2014/main" id="{FCA477CA-9D46-97C3-974A-009516EBAA3D}"/>
              </a:ext>
            </a:extLst>
          </p:cNvPr>
          <p:cNvGraphicFramePr>
            <a:graphicFrameLocks noGrp="1"/>
          </p:cNvGraphicFramePr>
          <p:nvPr>
            <p:extLst>
              <p:ext uri="{D42A27DB-BD31-4B8C-83A1-F6EECF244321}">
                <p14:modId xmlns:p14="http://schemas.microsoft.com/office/powerpoint/2010/main" val="3635321403"/>
              </p:ext>
            </p:extLst>
          </p:nvPr>
        </p:nvGraphicFramePr>
        <p:xfrm>
          <a:off x="4651692" y="76200"/>
          <a:ext cx="4250264" cy="4696100"/>
        </p:xfrm>
        <a:graphic>
          <a:graphicData uri="http://schemas.openxmlformats.org/drawingml/2006/table">
            <a:tbl>
              <a:tblPr>
                <a:tableStyleId>{16D9F66E-5EB9-4882-86FB-DCBF35E3C3E4}</a:tableStyleId>
              </a:tblPr>
              <a:tblGrid>
                <a:gridCol w="1672908">
                  <a:extLst>
                    <a:ext uri="{9D8B030D-6E8A-4147-A177-3AD203B41FA5}">
                      <a16:colId xmlns:a16="http://schemas.microsoft.com/office/drawing/2014/main" val="1517456859"/>
                    </a:ext>
                  </a:extLst>
                </a:gridCol>
                <a:gridCol w="2577356">
                  <a:extLst>
                    <a:ext uri="{9D8B030D-6E8A-4147-A177-3AD203B41FA5}">
                      <a16:colId xmlns:a16="http://schemas.microsoft.com/office/drawing/2014/main" val="3100646783"/>
                    </a:ext>
                  </a:extLst>
                </a:gridCol>
              </a:tblGrid>
              <a:tr h="197908">
                <a:tc>
                  <a:txBody>
                    <a:bodyPr/>
                    <a:lstStyle/>
                    <a:p>
                      <a:pPr>
                        <a:buNone/>
                      </a:pPr>
                      <a:r>
                        <a:rPr lang="en-US" sz="900" b="1"/>
                        <a:t>Category</a:t>
                      </a:r>
                    </a:p>
                  </a:txBody>
                  <a:tcPr marL="45153" marR="45153" marT="22577" marB="22577" anchor="ctr"/>
                </a:tc>
                <a:tc>
                  <a:txBody>
                    <a:bodyPr/>
                    <a:lstStyle/>
                    <a:p>
                      <a:pPr>
                        <a:buNone/>
                      </a:pPr>
                      <a:r>
                        <a:rPr lang="en-US" sz="900" b="1" dirty="0"/>
                        <a:t>Detailed Responsibilities</a:t>
                      </a:r>
                    </a:p>
                  </a:txBody>
                  <a:tcPr marL="45153" marR="45153" marT="22577" marB="22577" anchor="ctr"/>
                </a:tc>
                <a:extLst>
                  <a:ext uri="{0D108BD9-81ED-4DB2-BD59-A6C34878D82A}">
                    <a16:rowId xmlns:a16="http://schemas.microsoft.com/office/drawing/2014/main" val="34924831"/>
                  </a:ext>
                </a:extLst>
              </a:tr>
              <a:tr h="336960">
                <a:tc>
                  <a:txBody>
                    <a:bodyPr/>
                    <a:lstStyle/>
                    <a:p>
                      <a:pPr>
                        <a:buNone/>
                      </a:pPr>
                      <a:r>
                        <a:rPr lang="en-US" sz="900"/>
                        <a:t>Primary Ownership</a:t>
                      </a:r>
                    </a:p>
                  </a:txBody>
                  <a:tcPr marL="45153" marR="45153" marT="22577" marB="22577" anchor="ctr"/>
                </a:tc>
                <a:tc>
                  <a:txBody>
                    <a:bodyPr/>
                    <a:lstStyle/>
                    <a:p>
                      <a:pPr>
                        <a:buNone/>
                      </a:pPr>
                      <a:r>
                        <a:rPr lang="en-US" sz="900"/>
                        <a:t>O-RAN Architecture, Multi-Agent Controller, End-to-End Integration</a:t>
                      </a:r>
                    </a:p>
                  </a:txBody>
                  <a:tcPr marL="45153" marR="45153" marT="22577" marB="22577" anchor="ctr"/>
                </a:tc>
                <a:extLst>
                  <a:ext uri="{0D108BD9-81ED-4DB2-BD59-A6C34878D82A}">
                    <a16:rowId xmlns:a16="http://schemas.microsoft.com/office/drawing/2014/main" val="3776218932"/>
                  </a:ext>
                </a:extLst>
              </a:tr>
              <a:tr h="336960">
                <a:tc>
                  <a:txBody>
                    <a:bodyPr/>
                    <a:lstStyle/>
                    <a:p>
                      <a:pPr>
                        <a:buNone/>
                      </a:pPr>
                      <a:r>
                        <a:rPr lang="en-US" sz="900"/>
                        <a:t>3GPP Relevance</a:t>
                      </a:r>
                    </a:p>
                  </a:txBody>
                  <a:tcPr marL="45153" marR="45153" marT="22577" marB="22577" anchor="ctr"/>
                </a:tc>
                <a:tc>
                  <a:txBody>
                    <a:bodyPr/>
                    <a:lstStyle/>
                    <a:p>
                      <a:pPr>
                        <a:buNone/>
                      </a:pPr>
                      <a:r>
                        <a:rPr lang="en-US" sz="900"/>
                        <a:t>O-RAN RIC, Intent-Based Management, Autonomous Networks, AI-RAN</a:t>
                      </a:r>
                    </a:p>
                  </a:txBody>
                  <a:tcPr marL="45153" marR="45153" marT="22577" marB="22577" anchor="ctr"/>
                </a:tc>
                <a:extLst>
                  <a:ext uri="{0D108BD9-81ED-4DB2-BD59-A6C34878D82A}">
                    <a16:rowId xmlns:a16="http://schemas.microsoft.com/office/drawing/2014/main" val="2674590740"/>
                  </a:ext>
                </a:extLst>
              </a:tr>
              <a:tr h="197908">
                <a:tc>
                  <a:txBody>
                    <a:bodyPr/>
                    <a:lstStyle/>
                    <a:p>
                      <a:pPr>
                        <a:buNone/>
                      </a:pPr>
                      <a:r>
                        <a:rPr lang="en-US" sz="900"/>
                        <a:t>Requirements Management</a:t>
                      </a:r>
                    </a:p>
                  </a:txBody>
                  <a:tcPr marL="45153" marR="45153" marT="22577" marB="22577" anchor="ctr"/>
                </a:tc>
                <a:tc>
                  <a:txBody>
                    <a:bodyPr/>
                    <a:lstStyle/>
                    <a:p>
                      <a:pPr>
                        <a:buNone/>
                      </a:pPr>
                      <a:r>
                        <a:rPr lang="en-US" sz="900"/>
                        <a:t>Define KPIs, Use Cases, Network Objectives</a:t>
                      </a:r>
                    </a:p>
                  </a:txBody>
                  <a:tcPr marL="45153" marR="45153" marT="22577" marB="22577" anchor="ctr"/>
                </a:tc>
                <a:extLst>
                  <a:ext uri="{0D108BD9-81ED-4DB2-BD59-A6C34878D82A}">
                    <a16:rowId xmlns:a16="http://schemas.microsoft.com/office/drawing/2014/main" val="4178979114"/>
                  </a:ext>
                </a:extLst>
              </a:tr>
              <a:tr h="197908">
                <a:tc>
                  <a:txBody>
                    <a:bodyPr/>
                    <a:lstStyle/>
                    <a:p>
                      <a:pPr>
                        <a:buNone/>
                      </a:pPr>
                      <a:r>
                        <a:rPr lang="en-US" sz="900"/>
                        <a:t>System Architecture</a:t>
                      </a:r>
                    </a:p>
                  </a:txBody>
                  <a:tcPr marL="45153" marR="45153" marT="22577" marB="22577" anchor="ctr"/>
                </a:tc>
                <a:tc>
                  <a:txBody>
                    <a:bodyPr/>
                    <a:lstStyle/>
                    <a:p>
                      <a:pPr>
                        <a:buNone/>
                      </a:pPr>
                      <a:r>
                        <a:rPr lang="en-US" sz="900"/>
                        <a:t>Own overall end-to-end architecture</a:t>
                      </a:r>
                    </a:p>
                  </a:txBody>
                  <a:tcPr marL="45153" marR="45153" marT="22577" marB="22577" anchor="ctr"/>
                </a:tc>
                <a:extLst>
                  <a:ext uri="{0D108BD9-81ED-4DB2-BD59-A6C34878D82A}">
                    <a16:rowId xmlns:a16="http://schemas.microsoft.com/office/drawing/2014/main" val="4052453119"/>
                  </a:ext>
                </a:extLst>
              </a:tr>
              <a:tr h="197908">
                <a:tc>
                  <a:txBody>
                    <a:bodyPr/>
                    <a:lstStyle/>
                    <a:p>
                      <a:pPr>
                        <a:buNone/>
                      </a:pPr>
                      <a:r>
                        <a:rPr lang="en-US" sz="900"/>
                        <a:t>O-RAN Integration</a:t>
                      </a:r>
                    </a:p>
                  </a:txBody>
                  <a:tcPr marL="45153" marR="45153" marT="22577" marB="22577" anchor="ctr"/>
                </a:tc>
                <a:tc>
                  <a:txBody>
                    <a:bodyPr/>
                    <a:lstStyle/>
                    <a:p>
                      <a:pPr>
                        <a:buNone/>
                      </a:pPr>
                      <a:r>
                        <a:rPr lang="en-US" sz="900"/>
                        <a:t>Near-RT RIC, Non-RT RIC, SMO Integration</a:t>
                      </a:r>
                    </a:p>
                  </a:txBody>
                  <a:tcPr marL="45153" marR="45153" marT="22577" marB="22577" anchor="ctr"/>
                </a:tc>
                <a:extLst>
                  <a:ext uri="{0D108BD9-81ED-4DB2-BD59-A6C34878D82A}">
                    <a16:rowId xmlns:a16="http://schemas.microsoft.com/office/drawing/2014/main" val="3544675194"/>
                  </a:ext>
                </a:extLst>
              </a:tr>
              <a:tr h="336960">
                <a:tc>
                  <a:txBody>
                    <a:bodyPr/>
                    <a:lstStyle/>
                    <a:p>
                      <a:pPr>
                        <a:buNone/>
                      </a:pPr>
                      <a:r>
                        <a:rPr lang="en-US" sz="900"/>
                        <a:t>xApp Deployment</a:t>
                      </a:r>
                    </a:p>
                  </a:txBody>
                  <a:tcPr marL="45153" marR="45153" marT="22577" marB="22577" anchor="ctr"/>
                </a:tc>
                <a:tc>
                  <a:txBody>
                    <a:bodyPr/>
                    <a:lstStyle/>
                    <a:p>
                      <a:pPr>
                        <a:buNone/>
                      </a:pPr>
                      <a:r>
                        <a:rPr lang="en-US" sz="900"/>
                        <a:t>Scheduler xApp, Resource xApp, Mobility xApp, Security xApp</a:t>
                      </a:r>
                    </a:p>
                  </a:txBody>
                  <a:tcPr marL="45153" marR="45153" marT="22577" marB="22577" anchor="ctr"/>
                </a:tc>
                <a:extLst>
                  <a:ext uri="{0D108BD9-81ED-4DB2-BD59-A6C34878D82A}">
                    <a16:rowId xmlns:a16="http://schemas.microsoft.com/office/drawing/2014/main" val="3842268925"/>
                  </a:ext>
                </a:extLst>
              </a:tr>
              <a:tr h="336960">
                <a:tc>
                  <a:txBody>
                    <a:bodyPr/>
                    <a:lstStyle/>
                    <a:p>
                      <a:pPr>
                        <a:buNone/>
                      </a:pPr>
                      <a:r>
                        <a:rPr lang="en-US" sz="900"/>
                        <a:t>rApp Deployment</a:t>
                      </a:r>
                    </a:p>
                  </a:txBody>
                  <a:tcPr marL="45153" marR="45153" marT="22577" marB="22577" anchor="ctr"/>
                </a:tc>
                <a:tc>
                  <a:txBody>
                    <a:bodyPr/>
                    <a:lstStyle/>
                    <a:p>
                      <a:pPr>
                        <a:buNone/>
                      </a:pPr>
                      <a:r>
                        <a:rPr lang="en-US" sz="900"/>
                        <a:t>Analytics rApp, Policy Management rApp, AI Training rApp</a:t>
                      </a:r>
                    </a:p>
                  </a:txBody>
                  <a:tcPr marL="45153" marR="45153" marT="22577" marB="22577" anchor="ctr"/>
                </a:tc>
                <a:extLst>
                  <a:ext uri="{0D108BD9-81ED-4DB2-BD59-A6C34878D82A}">
                    <a16:rowId xmlns:a16="http://schemas.microsoft.com/office/drawing/2014/main" val="4168092632"/>
                  </a:ext>
                </a:extLst>
              </a:tr>
              <a:tr h="336960">
                <a:tc>
                  <a:txBody>
                    <a:bodyPr/>
                    <a:lstStyle/>
                    <a:p>
                      <a:pPr>
                        <a:buNone/>
                      </a:pPr>
                      <a:r>
                        <a:rPr lang="en-US" sz="900"/>
                        <a:t>Multi-Agent Framework</a:t>
                      </a:r>
                    </a:p>
                  </a:txBody>
                  <a:tcPr marL="45153" marR="45153" marT="22577" marB="22577" anchor="ctr"/>
                </a:tc>
                <a:tc>
                  <a:txBody>
                    <a:bodyPr/>
                    <a:lstStyle/>
                    <a:p>
                      <a:pPr>
                        <a:buNone/>
                      </a:pPr>
                      <a:r>
                        <a:rPr lang="en-US" sz="900"/>
                        <a:t>Inter-Agent Communication, Policy Sharing, Coordination Engine</a:t>
                      </a:r>
                    </a:p>
                  </a:txBody>
                  <a:tcPr marL="45153" marR="45153" marT="22577" marB="22577" anchor="ctr"/>
                </a:tc>
                <a:extLst>
                  <a:ext uri="{0D108BD9-81ED-4DB2-BD59-A6C34878D82A}">
                    <a16:rowId xmlns:a16="http://schemas.microsoft.com/office/drawing/2014/main" val="1487567395"/>
                  </a:ext>
                </a:extLst>
              </a:tr>
              <a:tr h="336960">
                <a:tc>
                  <a:txBody>
                    <a:bodyPr/>
                    <a:lstStyle/>
                    <a:p>
                      <a:pPr>
                        <a:buNone/>
                      </a:pPr>
                      <a:r>
                        <a:rPr lang="en-US" sz="900"/>
                        <a:t>Closed-Loop Automation</a:t>
                      </a:r>
                    </a:p>
                  </a:txBody>
                  <a:tcPr marL="45153" marR="45153" marT="22577" marB="22577" anchor="ctr"/>
                </a:tc>
                <a:tc>
                  <a:txBody>
                    <a:bodyPr/>
                    <a:lstStyle/>
                    <a:p>
                      <a:pPr>
                        <a:buNone/>
                      </a:pPr>
                      <a:r>
                        <a:rPr lang="en-US" sz="900"/>
                        <a:t>Observe → Analyze → Predict → Plan → Act → Learn</a:t>
                      </a:r>
                    </a:p>
                  </a:txBody>
                  <a:tcPr marL="45153" marR="45153" marT="22577" marB="22577" anchor="ctr"/>
                </a:tc>
                <a:extLst>
                  <a:ext uri="{0D108BD9-81ED-4DB2-BD59-A6C34878D82A}">
                    <a16:rowId xmlns:a16="http://schemas.microsoft.com/office/drawing/2014/main" val="3987866370"/>
                  </a:ext>
                </a:extLst>
              </a:tr>
              <a:tr h="197908">
                <a:tc>
                  <a:txBody>
                    <a:bodyPr/>
                    <a:lstStyle/>
                    <a:p>
                      <a:pPr>
                        <a:buNone/>
                      </a:pPr>
                      <a:r>
                        <a:rPr lang="en-US" sz="900"/>
                        <a:t>Intent Management</a:t>
                      </a:r>
                    </a:p>
                  </a:txBody>
                  <a:tcPr marL="45153" marR="45153" marT="22577" marB="22577" anchor="ctr"/>
                </a:tc>
                <a:tc>
                  <a:txBody>
                    <a:bodyPr/>
                    <a:lstStyle/>
                    <a:p>
                      <a:pPr>
                        <a:buNone/>
                      </a:pPr>
                      <a:r>
                        <a:rPr lang="en-US" sz="900"/>
                        <a:t>Convert Operator Intent into Policies</a:t>
                      </a:r>
                    </a:p>
                  </a:txBody>
                  <a:tcPr marL="45153" marR="45153" marT="22577" marB="22577" anchor="ctr"/>
                </a:tc>
                <a:extLst>
                  <a:ext uri="{0D108BD9-81ED-4DB2-BD59-A6C34878D82A}">
                    <a16:rowId xmlns:a16="http://schemas.microsoft.com/office/drawing/2014/main" val="3072703417"/>
                  </a:ext>
                </a:extLst>
              </a:tr>
              <a:tr h="197908">
                <a:tc>
                  <a:txBody>
                    <a:bodyPr/>
                    <a:lstStyle/>
                    <a:p>
                      <a:pPr>
                        <a:buNone/>
                      </a:pPr>
                      <a:r>
                        <a:rPr lang="en-US" sz="900"/>
                        <a:t>Deployment</a:t>
                      </a:r>
                    </a:p>
                  </a:txBody>
                  <a:tcPr marL="45153" marR="45153" marT="22577" marB="22577" anchor="ctr"/>
                </a:tc>
                <a:tc>
                  <a:txBody>
                    <a:bodyPr/>
                    <a:lstStyle/>
                    <a:p>
                      <a:pPr>
                        <a:buNone/>
                      </a:pPr>
                      <a:r>
                        <a:rPr lang="en-US" sz="900"/>
                        <a:t>Containerization, Kubernetes Deployment</a:t>
                      </a:r>
                    </a:p>
                  </a:txBody>
                  <a:tcPr marL="45153" marR="45153" marT="22577" marB="22577" anchor="ctr"/>
                </a:tc>
                <a:extLst>
                  <a:ext uri="{0D108BD9-81ED-4DB2-BD59-A6C34878D82A}">
                    <a16:rowId xmlns:a16="http://schemas.microsoft.com/office/drawing/2014/main" val="2256327232"/>
                  </a:ext>
                </a:extLst>
              </a:tr>
              <a:tr h="336960">
                <a:tc>
                  <a:txBody>
                    <a:bodyPr/>
                    <a:lstStyle/>
                    <a:p>
                      <a:pPr>
                        <a:buNone/>
                      </a:pPr>
                      <a:r>
                        <a:rPr lang="en-US" sz="900"/>
                        <a:t>Monitoring</a:t>
                      </a:r>
                    </a:p>
                  </a:txBody>
                  <a:tcPr marL="45153" marR="45153" marT="22577" marB="22577" anchor="ctr"/>
                </a:tc>
                <a:tc>
                  <a:txBody>
                    <a:bodyPr/>
                    <a:lstStyle/>
                    <a:p>
                      <a:pPr>
                        <a:buNone/>
                      </a:pPr>
                      <a:r>
                        <a:rPr lang="en-US" sz="900"/>
                        <a:t>Platform Health Monitoring, Resource Monitoring</a:t>
                      </a:r>
                    </a:p>
                  </a:txBody>
                  <a:tcPr marL="45153" marR="45153" marT="22577" marB="22577" anchor="ctr"/>
                </a:tc>
                <a:extLst>
                  <a:ext uri="{0D108BD9-81ED-4DB2-BD59-A6C34878D82A}">
                    <a16:rowId xmlns:a16="http://schemas.microsoft.com/office/drawing/2014/main" val="2097466380"/>
                  </a:ext>
                </a:extLst>
              </a:tr>
              <a:tr h="336960">
                <a:tc>
                  <a:txBody>
                    <a:bodyPr/>
                    <a:lstStyle/>
                    <a:p>
                      <a:pPr>
                        <a:buNone/>
                      </a:pPr>
                      <a:r>
                        <a:rPr lang="en-US" sz="900"/>
                        <a:t>Benchmarking</a:t>
                      </a:r>
                    </a:p>
                  </a:txBody>
                  <a:tcPr marL="45153" marR="45153" marT="22577" marB="22577" anchor="ctr"/>
                </a:tc>
                <a:tc>
                  <a:txBody>
                    <a:bodyPr/>
                    <a:lstStyle/>
                    <a:p>
                      <a:pPr>
                        <a:buNone/>
                      </a:pPr>
                      <a:r>
                        <a:rPr lang="en-US" sz="900"/>
                        <a:t>Compare against RR, PF, SON, Traditional Security</a:t>
                      </a:r>
                    </a:p>
                  </a:txBody>
                  <a:tcPr marL="45153" marR="45153" marT="22577" marB="22577" anchor="ctr"/>
                </a:tc>
                <a:extLst>
                  <a:ext uri="{0D108BD9-81ED-4DB2-BD59-A6C34878D82A}">
                    <a16:rowId xmlns:a16="http://schemas.microsoft.com/office/drawing/2014/main" val="3532240876"/>
                  </a:ext>
                </a:extLst>
              </a:tr>
              <a:tr h="336960">
                <a:tc>
                  <a:txBody>
                    <a:bodyPr/>
                    <a:lstStyle/>
                    <a:p>
                      <a:pPr>
                        <a:buNone/>
                      </a:pPr>
                      <a:r>
                        <a:rPr lang="en-US" sz="900"/>
                        <a:t>KPI Evaluation</a:t>
                      </a:r>
                    </a:p>
                  </a:txBody>
                  <a:tcPr marL="45153" marR="45153" marT="22577" marB="22577" anchor="ctr"/>
                </a:tc>
                <a:tc>
                  <a:txBody>
                    <a:bodyPr/>
                    <a:lstStyle/>
                    <a:p>
                      <a:pPr>
                        <a:buNone/>
                      </a:pPr>
                      <a:r>
                        <a:rPr lang="en-US" sz="900"/>
                        <a:t>Automation Level, OPEX Reduction, SLA Compliance</a:t>
                      </a:r>
                    </a:p>
                  </a:txBody>
                  <a:tcPr marL="45153" marR="45153" marT="22577" marB="22577" anchor="ctr"/>
                </a:tc>
                <a:extLst>
                  <a:ext uri="{0D108BD9-81ED-4DB2-BD59-A6C34878D82A}">
                    <a16:rowId xmlns:a16="http://schemas.microsoft.com/office/drawing/2014/main" val="1577713127"/>
                  </a:ext>
                </a:extLst>
              </a:tr>
              <a:tr h="476012">
                <a:tc>
                  <a:txBody>
                    <a:bodyPr/>
                    <a:lstStyle/>
                    <a:p>
                      <a:pPr>
                        <a:buNone/>
                      </a:pPr>
                      <a:r>
                        <a:rPr lang="en-US" sz="900"/>
                        <a:t>Deliverables</a:t>
                      </a:r>
                    </a:p>
                  </a:txBody>
                  <a:tcPr marL="45153" marR="45153" marT="22577" marB="22577" anchor="ctr"/>
                </a:tc>
                <a:tc>
                  <a:txBody>
                    <a:bodyPr/>
                    <a:lstStyle/>
                    <a:p>
                      <a:pPr>
                        <a:buNone/>
                      </a:pPr>
                      <a:r>
                        <a:rPr lang="en-US" sz="900" dirty="0"/>
                        <a:t>Multi-Agent Controller, O-RAN Platform, End-to-End Integrated Solution, Final Demonstration</a:t>
                      </a:r>
                    </a:p>
                  </a:txBody>
                  <a:tcPr marL="45153" marR="45153" marT="22577" marB="22577" anchor="ctr"/>
                </a:tc>
                <a:extLst>
                  <a:ext uri="{0D108BD9-81ED-4DB2-BD59-A6C34878D82A}">
                    <a16:rowId xmlns:a16="http://schemas.microsoft.com/office/drawing/2014/main" val="755011617"/>
                  </a:ext>
                </a:extLst>
              </a:tr>
            </a:tbl>
          </a:graphicData>
        </a:graphic>
      </p:graphicFrame>
    </p:spTree>
    <p:extLst>
      <p:ext uri="{BB962C8B-B14F-4D97-AF65-F5344CB8AC3E}">
        <p14:creationId xmlns:p14="http://schemas.microsoft.com/office/powerpoint/2010/main" val="1493567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321DA-6BBF-CAC0-A441-FAD0CFBEF89A}"/>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D231D9A6-CA69-31A9-0089-22ECDA0F380A}"/>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3676485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7EFC2-6E4A-D6CA-4D84-DAE0CC282011}"/>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56BDC04D-E48D-B179-7514-D6DDC830A693}"/>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39940362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D6530-727E-91DD-3110-FB6AC9AEA89B}"/>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081EA3E2-6923-E6CE-F3F9-D3282FB71E5B}"/>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1851107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0F32F-4105-F2DD-9331-207E1D7834BC}"/>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4A66362-0A13-2C82-E742-D7BE3733BCB7}"/>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39963345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973A3-ABFF-ADF5-34AD-0B73F0FB5F9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23F4BED4-4C14-D3CF-6C2D-6CF79F67A7CF}"/>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1885843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BDFF1-7934-4973-517E-FC563B4923A9}"/>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ABCE438D-F211-EBFD-615D-A10239DC2DFD}"/>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1169286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4A6B6-A5C3-1ABD-B00C-3A7B998CD690}"/>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162EAA45-E532-5ED8-F018-BB5B3ADCADD0}"/>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884887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3ACA6-ADF8-66CB-F709-EE07515AFAEA}"/>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A7AC0738-7DA6-8A14-F04D-6F54076D581F}"/>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13603326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EC4A1-26E3-5F05-FF56-304FD6B9CB2C}"/>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91639ACF-7EAE-715D-1C51-3344177E3401}"/>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9153168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7F930-7EC6-1968-65FB-FF53BFB63B5E}"/>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13158B77-27C3-F92E-FF08-CA936CC621DE}"/>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247870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12430-2BF8-8901-09A8-378C9D800D87}"/>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1B2B3FD-868D-FA20-EAFF-B8C4CABF0047}"/>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35689564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449C-6A6C-F6DA-9851-766BCFCBBBDF}"/>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1E3E31B1-35D9-6740-2FC1-BEFCBD025187}"/>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3500130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84837-52C6-7981-EEFA-3E51D665502F}"/>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24CF8AFC-8809-D53E-338F-E50CB5E89359}"/>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12953528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C8203-C910-E7C0-72F3-D266A2A2752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50724750-2623-764C-3EAE-451B21CEED62}"/>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27398019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873F4-3649-5111-A231-10BD62508254}"/>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A7EEBF7F-F786-0B38-8454-EBF7BE701F98}"/>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3917780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7EBA8-1060-09E1-9420-E9A69A707378}"/>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F72C01DD-64F8-DD57-40B8-64EA16549BA2}"/>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25323086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2B96-B292-CB36-8F30-141B30B5EAAF}"/>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CACA159-76A8-2623-F4F1-4076E6214F7F}"/>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41443581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18B9E-617A-E43A-A3D3-8E6940B1B9A1}"/>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DCE04DC1-43C0-E67B-5622-F27B5BA5221E}"/>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3876459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E60AE-02E7-0520-9298-6876BC5102E6}"/>
              </a:ext>
            </a:extLst>
          </p:cNvPr>
          <p:cNvSpPr>
            <a:spLocks noGrp="1"/>
          </p:cNvSpPr>
          <p:nvPr>
            <p:ph type="title" idx="4294967295"/>
          </p:nvPr>
        </p:nvSpPr>
        <p:spPr>
          <a:xfrm>
            <a:off x="0" y="-993775"/>
            <a:ext cx="7886700" cy="993775"/>
          </a:xfrm>
          <a:prstGeom prst="rect">
            <a:avLst/>
          </a:prstGeom>
        </p:spPr>
        <p:txBody>
          <a:bodyPr anchor="b"/>
          <a:lstStyle/>
          <a:p>
            <a:r>
              <a:rPr lang="en-US" dirty="0"/>
              <a:t>End frame</a:t>
            </a:r>
          </a:p>
        </p:txBody>
      </p:sp>
    </p:spTree>
    <p:extLst>
      <p:ext uri="{BB962C8B-B14F-4D97-AF65-F5344CB8AC3E}">
        <p14:creationId xmlns:p14="http://schemas.microsoft.com/office/powerpoint/2010/main" val="29335928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C2EB659-7384-08D2-9CB8-FFC88F0F9A99}"/>
              </a:ext>
            </a:extLst>
          </p:cNvPr>
          <p:cNvSpPr>
            <a:spLocks noGrp="1"/>
          </p:cNvSpPr>
          <p:nvPr>
            <p:ph type="title"/>
          </p:nvPr>
        </p:nvSpPr>
        <p:spPr/>
        <p:txBody>
          <a:bodyPr/>
          <a:lstStyle/>
          <a:p>
            <a:r>
              <a:rPr lang="en-US" dirty="0"/>
              <a:t>Copyright and confidentiality</a:t>
            </a:r>
          </a:p>
        </p:txBody>
      </p:sp>
      <p:sp>
        <p:nvSpPr>
          <p:cNvPr id="2" name="Text Placeholder 1">
            <a:extLst>
              <a:ext uri="{FF2B5EF4-FFF2-40B4-BE49-F238E27FC236}">
                <a16:creationId xmlns:a16="http://schemas.microsoft.com/office/drawing/2014/main" id="{4357E96F-6909-4AB2-AD25-75F80D99DA76}"/>
              </a:ext>
            </a:extLst>
          </p:cNvPr>
          <p:cNvSpPr>
            <a:spLocks noGrp="1"/>
          </p:cNvSpPr>
          <p:nvPr>
            <p:ph type="body" sz="quarter" idx="10"/>
          </p:nvPr>
        </p:nvSpPr>
        <p:spPr/>
        <p:txBody>
          <a:bodyPr/>
          <a:lstStyle/>
          <a:p>
            <a:r>
              <a:rPr lang="en-US" dirty="0"/>
              <a:t> </a:t>
            </a:r>
          </a:p>
        </p:txBody>
      </p:sp>
      <p:sp>
        <p:nvSpPr>
          <p:cNvPr id="10" name="Text Placeholder 4">
            <a:extLst>
              <a:ext uri="{FF2B5EF4-FFF2-40B4-BE49-F238E27FC236}">
                <a16:creationId xmlns:a16="http://schemas.microsoft.com/office/drawing/2014/main" id="{2E7CFBB7-C0D0-4D61-9889-F3BED7799A91}"/>
              </a:ext>
            </a:extLst>
          </p:cNvPr>
          <p:cNvSpPr txBox="1">
            <a:spLocks/>
          </p:cNvSpPr>
          <p:nvPr/>
        </p:nvSpPr>
        <p:spPr>
          <a:xfrm>
            <a:off x="417600" y="1439531"/>
            <a:ext cx="8308800" cy="2808312"/>
          </a:xfrm>
          <a:prstGeom prst="rect">
            <a:avLst/>
          </a:prstGeom>
        </p:spPr>
        <p:txBody>
          <a:bodyPr lIns="0" tIns="0" rIns="0" bIns="0" numCol="3" spcCol="144000">
            <a:normAutofit/>
          </a:bodyPr>
          <a:lstStyle>
            <a:lvl1pPr marL="0" indent="0" algn="l" defTabSz="914400" rtl="0" eaLnBrk="1" latinLnBrk="0" hangingPunct="1">
              <a:spcBef>
                <a:spcPts val="0"/>
              </a:spcBef>
              <a:spcAft>
                <a:spcPts val="600"/>
              </a:spcAft>
              <a:buFont typeface="Arial" panose="020B0604020202020204" pitchFamily="34" charset="0"/>
              <a:buNone/>
              <a:defRPr sz="1600" kern="1200">
                <a:solidFill>
                  <a:schemeClr val="tx2"/>
                </a:solidFill>
                <a:latin typeface="Nokia Pure Text Light" panose="020B0403020202020204" pitchFamily="34" charset="0"/>
                <a:ea typeface="Nokia Pure Text Light" panose="020B0403020202020204" pitchFamily="34" charset="0"/>
                <a:cs typeface="+mn-cs"/>
              </a:defRPr>
            </a:lvl1pPr>
            <a:lvl2pPr marL="230400" indent="0" algn="l" defTabSz="914400" rtl="0" eaLnBrk="1" latinLnBrk="0" hangingPunct="1">
              <a:spcBef>
                <a:spcPts val="0"/>
              </a:spcBef>
              <a:spcAft>
                <a:spcPts val="600"/>
              </a:spcAft>
              <a:buFont typeface="Arial" panose="020B0604020202020204" pitchFamily="34" charset="0"/>
              <a:buNone/>
              <a:defRPr sz="1400" kern="1200">
                <a:solidFill>
                  <a:schemeClr val="tx2"/>
                </a:solidFill>
                <a:latin typeface="Nokia Pure Text Light" panose="020B0403020202020204" pitchFamily="34" charset="0"/>
                <a:ea typeface="Nokia Pure Text Light" panose="020B0403020202020204" pitchFamily="34" charset="0"/>
                <a:cs typeface="+mn-cs"/>
              </a:defRPr>
            </a:lvl2pPr>
            <a:lvl3pPr marL="462600" indent="0" algn="l" defTabSz="914400" rtl="0" eaLnBrk="1" latinLnBrk="0" hangingPunct="1">
              <a:spcBef>
                <a:spcPts val="0"/>
              </a:spcBef>
              <a:spcAft>
                <a:spcPts val="600"/>
              </a:spcAft>
              <a:buFont typeface="Arial" panose="020B0604020202020204" pitchFamily="34" charset="0"/>
              <a:buNone/>
              <a:defRPr sz="1200" kern="1200">
                <a:solidFill>
                  <a:schemeClr val="tx2"/>
                </a:solidFill>
                <a:latin typeface="Nokia Pure Text Light" panose="020B0403020202020204" pitchFamily="34" charset="0"/>
                <a:ea typeface="Nokia Pure Text Light" panose="020B0403020202020204" pitchFamily="34" charset="0"/>
                <a:cs typeface="+mn-cs"/>
              </a:defRPr>
            </a:lvl3pPr>
            <a:lvl4pPr marL="693000" indent="0" algn="l" defTabSz="914400" rtl="0" eaLnBrk="1" latinLnBrk="0" hangingPunct="1">
              <a:spcBef>
                <a:spcPts val="0"/>
              </a:spcBef>
              <a:spcAft>
                <a:spcPts val="600"/>
              </a:spcAft>
              <a:buFont typeface="Arial" panose="020B0604020202020204" pitchFamily="34" charset="0"/>
              <a:buNone/>
              <a:defRPr sz="1000" kern="1200">
                <a:solidFill>
                  <a:schemeClr val="tx2"/>
                </a:solidFill>
                <a:latin typeface="Nokia Pure Text Light" panose="020B0403020202020204" pitchFamily="34" charset="0"/>
                <a:ea typeface="Nokia Pure Text Light" panose="020B0403020202020204" pitchFamily="34" charset="0"/>
                <a:cs typeface="+mn-cs"/>
              </a:defRPr>
            </a:lvl4pPr>
            <a:lvl5pPr marL="923400" indent="0" algn="l" defTabSz="914400" rtl="0" eaLnBrk="1" latinLnBrk="0" hangingPunct="1">
              <a:spcBef>
                <a:spcPts val="0"/>
              </a:spcBef>
              <a:spcAft>
                <a:spcPts val="600"/>
              </a:spcAft>
              <a:buFont typeface="Arial" panose="020B0604020202020204" pitchFamily="34" charset="0"/>
              <a:buNone/>
              <a:defRPr sz="800" kern="1200">
                <a:solidFill>
                  <a:schemeClr val="tx2"/>
                </a:solidFill>
                <a:latin typeface="Nokia Pure Text Light" panose="020B0403020202020204" pitchFamily="34" charset="0"/>
                <a:ea typeface="Nokia Pure Text Light" panose="020B0403020202020204" pitchFamily="34" charset="0"/>
                <a:cs typeface="+mn-cs"/>
              </a:defRPr>
            </a:lvl5pPr>
            <a:lvl6pPr marL="1382400" indent="-228600" algn="l" defTabSz="914400" rtl="0" eaLnBrk="1" latinLnBrk="0" hangingPunct="1">
              <a:spcBef>
                <a:spcPts val="0"/>
              </a:spcBef>
              <a:spcAft>
                <a:spcPts val="600"/>
              </a:spcAft>
              <a:buFont typeface="Nokia Pure Text" panose="020B0503020202020204" pitchFamily="34" charset="0"/>
              <a:buChar char="‒"/>
              <a:defRPr sz="800" kern="1200" baseline="0">
                <a:solidFill>
                  <a:schemeClr val="tx2"/>
                </a:solidFill>
                <a:latin typeface="Nokia Pure Text Light" panose="020B0403020202020204" pitchFamily="34" charset="0"/>
                <a:ea typeface="Nokia Pure Text Light" panose="020B0403020202020204" pitchFamily="34" charset="0"/>
                <a:cs typeface="+mn-cs"/>
              </a:defRPr>
            </a:lvl6pPr>
            <a:lvl7pPr marL="1612800" indent="-228600" algn="l" defTabSz="914400" rtl="0" eaLnBrk="1" latinLnBrk="0" hangingPunct="1">
              <a:spcBef>
                <a:spcPts val="0"/>
              </a:spcBef>
              <a:spcAft>
                <a:spcPts val="600"/>
              </a:spcAft>
              <a:buFont typeface="Arial" panose="020B0604020202020204" pitchFamily="34" charset="0"/>
              <a:buChar char="•"/>
              <a:defRPr sz="700" kern="1200">
                <a:solidFill>
                  <a:schemeClr val="tx2"/>
                </a:solidFill>
                <a:latin typeface="Nokia Pure Text Light" panose="020B0403020202020204" pitchFamily="34" charset="0"/>
                <a:ea typeface="Nokia Pure Text Light" panose="020B0403020202020204" pitchFamily="34" charset="0"/>
                <a:cs typeface="+mn-cs"/>
              </a:defRPr>
            </a:lvl7pPr>
            <a:lvl8pPr marL="1843200" indent="-228600" algn="l" defTabSz="914400" rtl="0" eaLnBrk="1" latinLnBrk="0" hangingPunct="1">
              <a:spcBef>
                <a:spcPts val="0"/>
              </a:spcBef>
              <a:spcAft>
                <a:spcPts val="600"/>
              </a:spcAft>
              <a:buFont typeface="Arial" panose="020B0604020202020204" pitchFamily="34" charset="0"/>
              <a:buChar char="•"/>
              <a:defRPr sz="600" kern="1200">
                <a:solidFill>
                  <a:schemeClr val="tx2"/>
                </a:solidFill>
                <a:latin typeface="Nokia Pure Text Light" panose="020B0403020202020204" pitchFamily="34" charset="0"/>
                <a:ea typeface="Nokia Pure Text Light" panose="020B0403020202020204" pitchFamily="34" charset="0"/>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The contents of this document are proprietary </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and confidential property of Nokia. This document </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is provided subject to confidentiality obligations of </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the applicable agreement(s).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This document is intended for use by Nokia’s customers and collaborators only for the purpose for which this document is submitted by Nokia. No part of this document may be reproduced or made available to the public or to any third party in any form or means without the prior written permission of Nokia. This document is to be used by properly trained professional personnel. Any use of the contents in this document is limited strictly to the use(s) specifically created in the applicable agreement(s) under which the document is submitted. The user of this document may voluntarily provide suggestions, comments or </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other feedback to Nokia in respect of the </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contents of this document ("Feedback"). </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Such Feedback may be used in Nokia products and related specifications or other documentation. Accordingly, if the user of this document gives </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Nokia Feedback on the contents of this document, Nokia may freely use, disclose, reproduce, license, distribute and otherwise commercialize the feedback in any Nokia product, technology, service, specification or other documentation.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Nokia operates a policy of ongoing development. Nokia reserves the right to make changes and improvements to any of the products and/or services described in this document or withdraw </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this document at any time without prior notice.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The contents of this document are provided </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"as is". Except as required by applicable law, no warranties of any kind, either express or implied, including, but not limited to, the implied warranties of merchantability and fitness for a particular purpose, are made in relation to the accuracy, reliability or contents of this document. NOKIA SHALL NOT BE RESPONSIBLE IN ANY EVENT FOR ERRORS IN THIS DOCUMENT or for any loss of data or income or any special, incidental, consequential, indirect or direct damages howsoever caused, that might arise from the use of this document or any contents of this document.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This document and the product(s) it describes</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are protected by copyright according to the</a:t>
            </a:r>
            <a:b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applicable laws.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Nokia is a registered trademark of Nokia Corporation. Other product and company names mentioned herein may be trademarks or trade names of their respective owners.</a:t>
            </a:r>
            <a:endParaRPr kumimoji="0" lang="en-US" sz="9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mn-cs"/>
            </a:endParaRPr>
          </a:p>
        </p:txBody>
      </p:sp>
      <p:cxnSp>
        <p:nvCxnSpPr>
          <p:cNvPr id="11" name="Straight Connector 10">
            <a:extLst>
              <a:ext uri="{FF2B5EF4-FFF2-40B4-BE49-F238E27FC236}">
                <a16:creationId xmlns:a16="http://schemas.microsoft.com/office/drawing/2014/main" id="{CAA3E0A3-741D-424C-860E-ED01C8EBD767}"/>
              </a:ext>
              <a:ext uri="{C183D7F6-B498-43B3-948B-1728B52AA6E4}">
                <adec:decorative xmlns:adec="http://schemas.microsoft.com/office/drawing/2017/decorative" val="1"/>
              </a:ext>
            </a:extLst>
          </p:cNvPr>
          <p:cNvCxnSpPr/>
          <p:nvPr/>
        </p:nvCxnSpPr>
        <p:spPr>
          <a:xfrm>
            <a:off x="417600" y="4361792"/>
            <a:ext cx="8318251" cy="0"/>
          </a:xfrm>
          <a:prstGeom prst="line">
            <a:avLst/>
          </a:prstGeom>
          <a:noFill/>
          <a:ln w="9525" cap="flat" cmpd="sng" algn="ctr">
            <a:solidFill>
              <a:schemeClr val="tx1"/>
            </a:solidFill>
            <a:prstDash val="solid"/>
          </a:ln>
          <a:effectLst/>
        </p:spPr>
      </p:cxnSp>
      <p:sp>
        <p:nvSpPr>
          <p:cNvPr id="3" name="Footer Placeholder 2">
            <a:extLst>
              <a:ext uri="{FF2B5EF4-FFF2-40B4-BE49-F238E27FC236}">
                <a16:creationId xmlns:a16="http://schemas.microsoft.com/office/drawing/2014/main" id="{AB4611BE-B23C-A210-25D0-283642D44EC5}"/>
              </a:ext>
            </a:extLst>
          </p:cNvPr>
          <p:cNvSpPr>
            <a:spLocks noGrp="1"/>
          </p:cNvSpPr>
          <p:nvPr>
            <p:ph type="ftr" sz="quarter" idx="3"/>
          </p:nvPr>
        </p:nvSpPr>
        <p:spPr/>
        <p:txBody>
          <a:bodyPr/>
          <a:lstStyle/>
          <a:p>
            <a:r>
              <a:rPr lang="en-US"/>
              <a:t>Apply a document ID (if applicable).</a:t>
            </a:r>
            <a:endParaRPr lang="en-US" dirty="0"/>
          </a:p>
        </p:txBody>
      </p:sp>
    </p:spTree>
    <p:extLst>
      <p:ext uri="{BB962C8B-B14F-4D97-AF65-F5344CB8AC3E}">
        <p14:creationId xmlns:p14="http://schemas.microsoft.com/office/powerpoint/2010/main" val="29036547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20F9001-6DF2-E4D2-982F-0E010A616FCD}"/>
              </a:ext>
            </a:extLst>
          </p:cNvPr>
          <p:cNvSpPr>
            <a:spLocks noGrp="1"/>
          </p:cNvSpPr>
          <p:nvPr>
            <p:ph type="title"/>
          </p:nvPr>
        </p:nvSpPr>
        <p:spPr/>
        <p:txBody>
          <a:bodyPr/>
          <a:lstStyle/>
          <a:p>
            <a:r>
              <a:rPr lang="en-US" dirty="0"/>
              <a:t>Please delete this slide if document is uncontrolled</a:t>
            </a:r>
          </a:p>
        </p:txBody>
      </p:sp>
      <p:sp>
        <p:nvSpPr>
          <p:cNvPr id="3" name="Text Placeholder 2">
            <a:extLst>
              <a:ext uri="{FF2B5EF4-FFF2-40B4-BE49-F238E27FC236}">
                <a16:creationId xmlns:a16="http://schemas.microsoft.com/office/drawing/2014/main" id="{B99A9137-E005-4FBC-A1BB-A3683ECAA2F3}"/>
              </a:ext>
            </a:extLst>
          </p:cNvPr>
          <p:cNvSpPr>
            <a:spLocks noGrp="1"/>
          </p:cNvSpPr>
          <p:nvPr>
            <p:ph type="body" sz="quarter" idx="10"/>
          </p:nvPr>
        </p:nvSpPr>
        <p:spPr/>
        <p:txBody>
          <a:bodyPr/>
          <a:lstStyle/>
          <a:p>
            <a:r>
              <a:rPr lang="en-US" dirty="0"/>
              <a:t>Revision history and metadata</a:t>
            </a:r>
          </a:p>
        </p:txBody>
      </p:sp>
      <p:graphicFrame>
        <p:nvGraphicFramePr>
          <p:cNvPr id="5" name="Table 4">
            <a:extLst>
              <a:ext uri="{FF2B5EF4-FFF2-40B4-BE49-F238E27FC236}">
                <a16:creationId xmlns:a16="http://schemas.microsoft.com/office/drawing/2014/main" id="{A13B8FE0-9970-4164-A136-C1D599E1B5CE}"/>
              </a:ext>
            </a:extLst>
          </p:cNvPr>
          <p:cNvGraphicFramePr>
            <a:graphicFrameLocks noGrp="1"/>
          </p:cNvGraphicFramePr>
          <p:nvPr>
            <p:extLst>
              <p:ext uri="{D42A27DB-BD31-4B8C-83A1-F6EECF244321}">
                <p14:modId xmlns:p14="http://schemas.microsoft.com/office/powerpoint/2010/main" val="1686256521"/>
              </p:ext>
            </p:extLst>
          </p:nvPr>
        </p:nvGraphicFramePr>
        <p:xfrm>
          <a:off x="417600" y="1231783"/>
          <a:ext cx="8310547" cy="681600"/>
        </p:xfrm>
        <a:graphic>
          <a:graphicData uri="http://schemas.openxmlformats.org/drawingml/2006/table">
            <a:tbl>
              <a:tblPr firstRow="1" bandRow="1">
                <a:tableStyleId>{2D5ABB26-0587-4C30-8999-92F81FD0307C}</a:tableStyleId>
              </a:tblPr>
              <a:tblGrid>
                <a:gridCol w="8310547">
                  <a:extLst>
                    <a:ext uri="{9D8B030D-6E8A-4147-A177-3AD203B41FA5}">
                      <a16:colId xmlns:a16="http://schemas.microsoft.com/office/drawing/2014/main" val="20000"/>
                    </a:ext>
                  </a:extLst>
                </a:gridCol>
              </a:tblGrid>
              <a:tr h="261162">
                <a:tc>
                  <a:txBody>
                    <a:bodyPr/>
                    <a:lstStyle/>
                    <a:p>
                      <a:r>
                        <a:rPr lang="en-US" sz="1000" b="1" dirty="0">
                          <a:solidFill>
                            <a:schemeClr val="tx1"/>
                          </a:solidFill>
                        </a:rPr>
                        <a:t>Document ID: </a:t>
                      </a:r>
                      <a:endParaRPr lang="en-US" sz="1000" b="0" dirty="0">
                        <a:solidFill>
                          <a:schemeClr val="tx1"/>
                        </a:solidFill>
                      </a:endParaRPr>
                    </a:p>
                    <a:p>
                      <a:r>
                        <a:rPr lang="en-US" sz="1000" b="1" dirty="0">
                          <a:solidFill>
                            <a:schemeClr val="tx1"/>
                          </a:solidFill>
                        </a:rPr>
                        <a:t>Document Location:</a:t>
                      </a:r>
                    </a:p>
                    <a:p>
                      <a:r>
                        <a:rPr lang="en-US" sz="1000" b="1" dirty="0">
                          <a:solidFill>
                            <a:schemeClr val="tx1"/>
                          </a:solidFill>
                        </a:rPr>
                        <a:t>Document Type:</a:t>
                      </a:r>
                    </a:p>
                    <a:p>
                      <a:r>
                        <a:rPr lang="en-US" sz="1000" b="1" dirty="0">
                          <a:solidFill>
                            <a:schemeClr val="tx1"/>
                          </a:solidFill>
                        </a:rPr>
                        <a:t>Organization:</a:t>
                      </a:r>
                      <a:endParaRPr lang="en-US" sz="1000" b="1" dirty="0">
                        <a:solidFill>
                          <a:schemeClr val="tx1"/>
                        </a:solidFill>
                        <a:latin typeface="Nokia Pure Text Light" panose="020B0403020202020204" pitchFamily="34" charset="0"/>
                        <a:ea typeface="Nokia Pure Text Light" panose="020B0403020202020204" pitchFamily="34" charset="0"/>
                      </a:endParaRPr>
                    </a:p>
                  </a:txBody>
                  <a:tcPr marL="0" marT="36000" marB="36000">
                    <a:noFill/>
                  </a:tcPr>
                </a:tc>
                <a:extLst>
                  <a:ext uri="{0D108BD9-81ED-4DB2-BD59-A6C34878D82A}">
                    <a16:rowId xmlns:a16="http://schemas.microsoft.com/office/drawing/2014/main" val="10000"/>
                  </a:ext>
                </a:extLst>
              </a:tr>
            </a:tbl>
          </a:graphicData>
        </a:graphic>
      </p:graphicFrame>
      <p:sp>
        <p:nvSpPr>
          <p:cNvPr id="2" name="Footer Placeholder 1">
            <a:extLst>
              <a:ext uri="{FF2B5EF4-FFF2-40B4-BE49-F238E27FC236}">
                <a16:creationId xmlns:a16="http://schemas.microsoft.com/office/drawing/2014/main" id="{800A5C16-6A9F-156C-B473-FA3FE7FCBE0A}"/>
              </a:ext>
            </a:extLst>
          </p:cNvPr>
          <p:cNvSpPr>
            <a:spLocks noGrp="1"/>
          </p:cNvSpPr>
          <p:nvPr>
            <p:ph type="ftr" sz="quarter" idx="3"/>
          </p:nvPr>
        </p:nvSpPr>
        <p:spPr/>
        <p:txBody>
          <a:bodyPr/>
          <a:lstStyle/>
          <a:p>
            <a:r>
              <a:rPr lang="en-US"/>
              <a:t>Apply a document ID (if applicable).</a:t>
            </a:r>
            <a:endParaRPr lang="en-US" dirty="0"/>
          </a:p>
        </p:txBody>
      </p:sp>
      <p:graphicFrame>
        <p:nvGraphicFramePr>
          <p:cNvPr id="4" name="Table 3">
            <a:extLst>
              <a:ext uri="{FF2B5EF4-FFF2-40B4-BE49-F238E27FC236}">
                <a16:creationId xmlns:a16="http://schemas.microsoft.com/office/drawing/2014/main" id="{F6D099B9-9F4C-369C-7D8E-8CD0D46A06F7}"/>
              </a:ext>
            </a:extLst>
          </p:cNvPr>
          <p:cNvGraphicFramePr>
            <a:graphicFrameLocks noGrp="1"/>
          </p:cNvGraphicFramePr>
          <p:nvPr>
            <p:extLst>
              <p:ext uri="{D42A27DB-BD31-4B8C-83A1-F6EECF244321}">
                <p14:modId xmlns:p14="http://schemas.microsoft.com/office/powerpoint/2010/main" val="167994831"/>
              </p:ext>
            </p:extLst>
          </p:nvPr>
        </p:nvGraphicFramePr>
        <p:xfrm>
          <a:off x="417600" y="2059685"/>
          <a:ext cx="8280000" cy="1745280"/>
        </p:xfrm>
        <a:graphic>
          <a:graphicData uri="http://schemas.openxmlformats.org/drawingml/2006/table">
            <a:tbl>
              <a:tblPr firstRow="1" bandRow="1">
                <a:tableStyleId>{2D5ABB26-0587-4C30-8999-92F81FD0307C}</a:tableStyleId>
              </a:tblPr>
              <a:tblGrid>
                <a:gridCol w="468000">
                  <a:extLst>
                    <a:ext uri="{9D8B030D-6E8A-4147-A177-3AD203B41FA5}">
                      <a16:colId xmlns:a16="http://schemas.microsoft.com/office/drawing/2014/main" val="20000"/>
                    </a:ext>
                  </a:extLst>
                </a:gridCol>
                <a:gridCol w="1836000">
                  <a:extLst>
                    <a:ext uri="{9D8B030D-6E8A-4147-A177-3AD203B41FA5}">
                      <a16:colId xmlns:a16="http://schemas.microsoft.com/office/drawing/2014/main" val="20001"/>
                    </a:ext>
                  </a:extLst>
                </a:gridCol>
                <a:gridCol w="576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648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576000">
                  <a:extLst>
                    <a:ext uri="{9D8B030D-6E8A-4147-A177-3AD203B41FA5}">
                      <a16:colId xmlns:a16="http://schemas.microsoft.com/office/drawing/2014/main" val="20007"/>
                    </a:ext>
                  </a:extLst>
                </a:gridCol>
                <a:gridCol w="900000">
                  <a:extLst>
                    <a:ext uri="{9D8B030D-6E8A-4147-A177-3AD203B41FA5}">
                      <a16:colId xmlns:a16="http://schemas.microsoft.com/office/drawing/2014/main" val="20008"/>
                    </a:ext>
                  </a:extLst>
                </a:gridCol>
                <a:gridCol w="576000">
                  <a:extLst>
                    <a:ext uri="{9D8B030D-6E8A-4147-A177-3AD203B41FA5}">
                      <a16:colId xmlns:a16="http://schemas.microsoft.com/office/drawing/2014/main" val="20009"/>
                    </a:ext>
                  </a:extLst>
                </a:gridCol>
              </a:tblGrid>
              <a:tr h="0">
                <a:tc>
                  <a:txBody>
                    <a:bodyPr/>
                    <a:lstStyle/>
                    <a:p>
                      <a:r>
                        <a:rPr lang="en-US" sz="800" b="0" i="0" dirty="0">
                          <a:solidFill>
                            <a:schemeClr val="tx1"/>
                          </a:solidFill>
                          <a:latin typeface="Nokia Pure Text" panose="020B0503020202020204" pitchFamily="34" charset="0"/>
                          <a:ea typeface="Nokia Pure Text" panose="020B0503020202020204" pitchFamily="34" charset="0"/>
                        </a:rPr>
                        <a:t>Version</a:t>
                      </a: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800" b="0" i="0" dirty="0">
                          <a:solidFill>
                            <a:schemeClr val="tx1"/>
                          </a:solidFill>
                          <a:latin typeface="Nokia Pure Text" panose="020B0503020202020204" pitchFamily="34" charset="0"/>
                          <a:ea typeface="Nokia Pure Text" panose="020B0503020202020204" pitchFamily="34" charset="0"/>
                        </a:rPr>
                        <a:t>Description of changes</a:t>
                      </a: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800" b="0" i="0" dirty="0">
                          <a:solidFill>
                            <a:schemeClr val="tx1"/>
                          </a:solidFill>
                          <a:latin typeface="Nokia Pure Text" panose="020B0503020202020204" pitchFamily="34" charset="0"/>
                          <a:ea typeface="Nokia Pure Text" panose="020B0503020202020204" pitchFamily="34" charset="0"/>
                        </a:rPr>
                        <a:t>Date</a:t>
                      </a: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800" b="0" i="0" dirty="0">
                          <a:solidFill>
                            <a:schemeClr val="tx1"/>
                          </a:solidFill>
                          <a:latin typeface="Nokia Pure Text" panose="020B0503020202020204" pitchFamily="34" charset="0"/>
                          <a:ea typeface="Nokia Pure Text" panose="020B0503020202020204" pitchFamily="34" charset="0"/>
                        </a:rPr>
                        <a:t>Author</a:t>
                      </a: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800" b="0" i="0" dirty="0">
                          <a:solidFill>
                            <a:schemeClr val="tx1"/>
                          </a:solidFill>
                          <a:latin typeface="Nokia Pure Text" panose="020B0503020202020204" pitchFamily="34" charset="0"/>
                          <a:ea typeface="Nokia Pure Text" panose="020B0503020202020204" pitchFamily="34" charset="0"/>
                        </a:rPr>
                        <a:t>Owner</a:t>
                      </a: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800" b="0" i="0" dirty="0">
                          <a:solidFill>
                            <a:schemeClr val="tx1"/>
                          </a:solidFill>
                          <a:latin typeface="Nokia Pure Text" panose="020B0503020202020204" pitchFamily="34" charset="0"/>
                          <a:ea typeface="Nokia Pure Text" panose="020B0503020202020204" pitchFamily="34" charset="0"/>
                        </a:rPr>
                        <a:t>Status</a:t>
                      </a: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800" b="0" i="0" dirty="0">
                          <a:solidFill>
                            <a:schemeClr val="tx1"/>
                          </a:solidFill>
                          <a:latin typeface="Nokia Pure Text" panose="020B0503020202020204" pitchFamily="34" charset="0"/>
                          <a:ea typeface="Nokia Pure Text" panose="020B0503020202020204" pitchFamily="34" charset="0"/>
                        </a:rPr>
                        <a:t>Reviewed by</a:t>
                      </a: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800" b="0" i="0" dirty="0">
                          <a:solidFill>
                            <a:schemeClr val="tx1"/>
                          </a:solidFill>
                          <a:latin typeface="Nokia Pure Text" panose="020B0503020202020204" pitchFamily="34" charset="0"/>
                          <a:ea typeface="Nokia Pure Text" panose="020B0503020202020204" pitchFamily="34" charset="0"/>
                        </a:rPr>
                        <a:t>Reviewed</a:t>
                      </a:r>
                      <a:r>
                        <a:rPr lang="en-US" sz="800" b="0" i="0" baseline="0" dirty="0">
                          <a:solidFill>
                            <a:schemeClr val="tx1"/>
                          </a:solidFill>
                          <a:latin typeface="Nokia Pure Text" panose="020B0503020202020204" pitchFamily="34" charset="0"/>
                          <a:ea typeface="Nokia Pure Text" panose="020B0503020202020204" pitchFamily="34" charset="0"/>
                        </a:rPr>
                        <a:t> date</a:t>
                      </a:r>
                      <a:endParaRPr lang="en-US" sz="800" b="0" i="0" dirty="0">
                        <a:solidFill>
                          <a:schemeClr val="tx1"/>
                        </a:solidFill>
                        <a:latin typeface="Nokia Pure Text" panose="020B0503020202020204" pitchFamily="34" charset="0"/>
                        <a:ea typeface="Nokia Pure Text" panose="020B05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800" b="0" i="0" dirty="0">
                          <a:solidFill>
                            <a:schemeClr val="tx1"/>
                          </a:solidFill>
                          <a:latin typeface="Nokia Pure Text" panose="020B0503020202020204" pitchFamily="34" charset="0"/>
                          <a:ea typeface="Nokia Pure Text" panose="020B0503020202020204" pitchFamily="34" charset="0"/>
                        </a:rPr>
                        <a:t>Approver</a:t>
                      </a: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800" b="0" i="0" dirty="0">
                          <a:solidFill>
                            <a:schemeClr val="tx1"/>
                          </a:solidFill>
                          <a:latin typeface="Nokia Pure Text" panose="020B0503020202020204" pitchFamily="34" charset="0"/>
                          <a:ea typeface="Nokia Pure Text" panose="020B0503020202020204" pitchFamily="34" charset="0"/>
                        </a:rPr>
                        <a:t>Approval date</a:t>
                      </a: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0">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noProof="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0">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0">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highlight>
                          <a:srgbClr val="FFFF00"/>
                        </a:highlight>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0">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mn-cs"/>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highlight>
                          <a:srgbClr val="FFFF00"/>
                        </a:highlight>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0">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mn-cs"/>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highlight>
                          <a:srgbClr val="FFFF00"/>
                        </a:highlight>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5516509"/>
                  </a:ext>
                </a:extLst>
              </a:tr>
              <a:tr h="0">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schemeClr val="tx1"/>
                        </a:solidFill>
                        <a:effectLst/>
                        <a:uLnTx/>
                        <a:uFillTx/>
                        <a:latin typeface="Nokia Pure Text Light" panose="020B0403020202020204" pitchFamily="34" charset="0"/>
                        <a:ea typeface="Nokia Pure Text Light" panose="020B0403020202020204" pitchFamily="34" charset="0"/>
                        <a:cs typeface="+mn-cs"/>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highlight>
                          <a:srgbClr val="FFFF00"/>
                        </a:highlight>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2298900"/>
                  </a:ext>
                </a:extLst>
              </a:tr>
              <a:tr h="0">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2278821"/>
                  </a:ext>
                </a:extLst>
              </a:tr>
              <a:tr h="0">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700" dirty="0">
                        <a:solidFill>
                          <a:schemeClr val="tx1"/>
                        </a:solidFill>
                        <a:latin typeface="Nokia Pure Text Light" panose="020B0403020202020204" pitchFamily="34" charset="0"/>
                        <a:ea typeface="Nokia Pure Text Light" panose="020B0403020202020204" pitchFamily="34" charset="0"/>
                      </a:endParaRPr>
                    </a:p>
                  </a:txBody>
                  <a:tcPr marL="36000" marR="36000" marT="36000" marB="3600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5571439"/>
                  </a:ext>
                </a:extLst>
              </a:tr>
            </a:tbl>
          </a:graphicData>
        </a:graphic>
      </p:graphicFrame>
    </p:spTree>
    <p:extLst>
      <p:ext uri="{BB962C8B-B14F-4D97-AF65-F5344CB8AC3E}">
        <p14:creationId xmlns:p14="http://schemas.microsoft.com/office/powerpoint/2010/main" val="157794663"/>
      </p:ext>
    </p:extLst>
  </p:cSld>
  <p:clrMapOvr>
    <a:masterClrMapping/>
  </p:clrMapOvr>
</p:sld>
</file>

<file path=ppt/theme/theme1.xml><?xml version="1.0" encoding="utf-8"?>
<a:theme xmlns:a="http://schemas.openxmlformats.org/drawingml/2006/main" name="1. White">
  <a:themeElements>
    <a:clrScheme name="Nokia 2.0">
      <a:dk1>
        <a:srgbClr val="001135"/>
      </a:dk1>
      <a:lt1>
        <a:srgbClr val="FFFFFF"/>
      </a:lt1>
      <a:dk2>
        <a:srgbClr val="666666"/>
      </a:dk2>
      <a:lt2>
        <a:srgbClr val="EBEBEB"/>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fonts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0"/>
          </a:spcAft>
          <a:buSzPct val="100000"/>
          <a:defRPr sz="12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0"/>
          </a:spcAft>
          <a:buClrTx/>
          <a:buSzTx/>
          <a:buFont typeface="+mj-lt"/>
          <a:buNone/>
          <a:tabLst>
            <a:tab pos="180000" algn="l"/>
          </a:tabLst>
          <a:defRPr kumimoji="0" sz="1200" b="0" i="0" u="none" strike="noStrike" kern="1200" cap="none" spc="0" normalizeH="0" baseline="0" noProof="0" dirty="0" smtClean="0">
            <a:ln>
              <a:noFill/>
            </a:ln>
            <a:solidFill>
              <a:schemeClr val="tx1"/>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Nokia 2025 - Basic PPT template_2.9" id="{EC8BBEAF-309D-3449-B937-5B62ED48A985}" vid="{295E3251-2B17-8F4A-A382-F0ECAE95F39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kia 2023">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kia 2023">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haredContentType xmlns="Microsoft.SharePoint.Taxonomy.ContentTypeSync" SourceId="34c87397-5fc1-491e-85e7-d6110dbe9cbd" ContentTypeId="0x0101" PreviousValue="false" LastSyncTimeStamp="2018-03-09T14:36:50.893Z"/>
</file>

<file path=customXml/item2.xml><?xml version="1.0" encoding="utf-8"?>
<ct:contentTypeSchema xmlns:ct="http://schemas.microsoft.com/office/2006/metadata/contentType" xmlns:ma="http://schemas.microsoft.com/office/2006/metadata/properties/metaAttributes" ct:_="" ma:_="" ma:contentTypeName="Document" ma:contentTypeID="0x01010081C3A49C1214104B8FF86FEE3646EFD8" ma:contentTypeVersion="4" ma:contentTypeDescription="Create a new document." ma:contentTypeScope="" ma:versionID="00fb1f187b32a6b70c49f1e856babc94">
  <xsd:schema xmlns:xsd="http://www.w3.org/2001/XMLSchema" xmlns:xs="http://www.w3.org/2001/XMLSchema" xmlns:p="http://schemas.microsoft.com/office/2006/metadata/properties" xmlns:ns2="71c5aaf6-e6ce-465b-b873-5148d2a4c105" xmlns:ns3="a5811f74-e13b-4d7f-bad9-31d4ee0abe69" targetNamespace="http://schemas.microsoft.com/office/2006/metadata/properties" ma:root="true" ma:fieldsID="4fa35c5a287c968eb57dc74284232f14" ns2:_="" ns3:_="">
    <xsd:import namespace="71c5aaf6-e6ce-465b-b873-5148d2a4c105"/>
    <xsd:import namespace="a5811f74-e13b-4d7f-bad9-31d4ee0abe69"/>
    <xsd:element name="properties">
      <xsd:complexType>
        <xsd:sequence>
          <xsd:element name="documentManagement">
            <xsd:complexType>
              <xsd:all>
                <xsd:element ref="ns2:_dlc_DocId" minOccurs="0"/>
                <xsd:element ref="ns2:_dlc_DocIdUrl" minOccurs="0"/>
                <xsd:element ref="ns2:_dlc_DocIdPersistId" minOccurs="0"/>
                <xsd:element ref="ns2:HideFromDelve"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c5aaf6-e6ce-465b-b873-5148d2a4c10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HideFromDelve" ma:index="11" nillable="true" ma:displayName="HideFromDelve" ma:default="0" ma:internalName="HideFromDelv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a5811f74-e13b-4d7f-bad9-31d4ee0abe69"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HideFromDelve xmlns="71c5aaf6-e6ce-465b-b873-5148d2a4c105">false</HideFromDelv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spe:Receivers xmlns:spe="http://schemas.microsoft.com/sharepoint/events"/>
</file>

<file path=customXml/itemProps1.xml><?xml version="1.0" encoding="utf-8"?>
<ds:datastoreItem xmlns:ds="http://schemas.openxmlformats.org/officeDocument/2006/customXml" ds:itemID="{922A81A8-F611-43F1-B6C0-BCEC43C8F000}">
  <ds:schemaRefs>
    <ds:schemaRef ds:uri="Microsoft.SharePoint.Taxonomy.ContentTypeSync"/>
  </ds:schemaRefs>
</ds:datastoreItem>
</file>

<file path=customXml/itemProps2.xml><?xml version="1.0" encoding="utf-8"?>
<ds:datastoreItem xmlns:ds="http://schemas.openxmlformats.org/officeDocument/2006/customXml" ds:itemID="{E55A660D-78BD-436E-AB34-11C40DDC29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c5aaf6-e6ce-465b-b873-5148d2a4c105"/>
    <ds:schemaRef ds:uri="a5811f74-e13b-4d7f-bad9-31d4ee0abe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D830657-9A80-4B43-8304-F62A0F479C0B}">
  <ds:schemaRefs>
    <ds:schemaRef ds:uri="http://schemas.microsoft.com/office/2006/metadata/properties"/>
    <ds:schemaRef ds:uri="http://schemas.microsoft.com/office/infopath/2007/PartnerControls"/>
    <ds:schemaRef ds:uri="71c5aaf6-e6ce-465b-b873-5148d2a4c105"/>
  </ds:schemaRefs>
</ds:datastoreItem>
</file>

<file path=customXml/itemProps4.xml><?xml version="1.0" encoding="utf-8"?>
<ds:datastoreItem xmlns:ds="http://schemas.openxmlformats.org/officeDocument/2006/customXml" ds:itemID="{1D6BC10A-B4E1-4A55-B896-C4DB193A8961}">
  <ds:schemaRefs>
    <ds:schemaRef ds:uri="http://schemas.microsoft.com/sharepoint/v3/contenttype/forms"/>
  </ds:schemaRefs>
</ds:datastoreItem>
</file>

<file path=customXml/itemProps5.xml><?xml version="1.0" encoding="utf-8"?>
<ds:datastoreItem xmlns:ds="http://schemas.openxmlformats.org/officeDocument/2006/customXml" ds:itemID="{DF695784-E5B2-4197-BA57-2A995E3A8E40}">
  <ds:schemaRefs>
    <ds:schemaRef ds:uri="http://schemas.microsoft.com/sharepoint/events"/>
  </ds:schemaRefs>
</ds:datastoreItem>
</file>

<file path=docMetadata/LabelInfo.xml><?xml version="1.0" encoding="utf-8"?>
<clbl:labelList xmlns:clbl="http://schemas.microsoft.com/office/2020/mipLabelMetadata">
  <clbl:label id="{5d471751-9675-428d-917b-70f44f9630b0}" enabled="0" method="" siteId="{5d471751-9675-428d-917b-70f44f9630b0}" removed="1"/>
</clbl:labelList>
</file>

<file path=docProps/app.xml><?xml version="1.0" encoding="utf-8"?>
<Properties xmlns="http://schemas.openxmlformats.org/officeDocument/2006/extended-properties" xmlns:vt="http://schemas.openxmlformats.org/officeDocument/2006/docPropsVTypes">
  <Template>Swetha_Adv_Qunatum_Algo</Template>
  <TotalTime>20660</TotalTime>
  <Words>3296</Words>
  <Application>Microsoft Office PowerPoint</Application>
  <PresentationFormat>On-screen Show (16:9)</PresentationFormat>
  <Paragraphs>672</Paragraphs>
  <Slides>47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Aptos</vt:lpstr>
      <vt:lpstr>Arial</vt:lpstr>
      <vt:lpstr>Nokia Pure Headline Light</vt:lpstr>
      <vt:lpstr>Nokia Pure Text</vt:lpstr>
      <vt:lpstr>Nokia Pure Text Light</vt:lpstr>
      <vt:lpstr>1. White</vt:lpstr>
      <vt:lpstr>Multi Agentic AI-Native Autonomous RAN and Air Interface for 6G Networks</vt:lpstr>
      <vt:lpstr>Agenda</vt:lpstr>
      <vt:lpstr>Problem Statement</vt:lpstr>
      <vt:lpstr>Proposed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Final Deliverables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frame</vt:lpstr>
      <vt:lpstr>Copyright and confidentiality</vt:lpstr>
      <vt:lpstr>Please delete this slide if document is uncontrolled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Swetha Kerahalli (Nokia)</dc:creator>
  <cp:lastModifiedBy>Swetha Kerahalli (Nokia)</cp:lastModifiedBy>
  <cp:revision>32</cp:revision>
  <dcterms:created xsi:type="dcterms:W3CDTF">2026-01-30T09:28:06Z</dcterms:created>
  <dcterms:modified xsi:type="dcterms:W3CDTF">2026-06-18T13:06:04Z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0x01010081C3A49C1214104B8FF86FEE3646EFD8</vt:lpwstr>
  </property>
</Properties>
</file>